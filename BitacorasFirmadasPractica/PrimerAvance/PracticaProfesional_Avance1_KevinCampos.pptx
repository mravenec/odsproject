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1828800" y="-1828800"/>
            <a:ext cx="5486400" cy="5486400"/>
          </a:xfrm>
          <a:prstGeom prst="ellipse">
            <a:avLst/>
          </a:prstGeom>
          <a:solidFill>
            <a:srgbClr val="065A82">
              <a:alpha val="30000"/>
            </a:srgbClr>
          </a:solidFill>
          <a:ln/>
        </p:spPr>
      </p:sp>
      <p:sp>
        <p:nvSpPr>
          <p:cNvPr id="3" name="Shape 1"/>
          <p:cNvSpPr/>
          <p:nvPr/>
        </p:nvSpPr>
        <p:spPr>
          <a:xfrm>
            <a:off x="8229600" y="3657600"/>
            <a:ext cx="6400800" cy="6400800"/>
          </a:xfrm>
          <a:prstGeom prst="ellipse">
            <a:avLst/>
          </a:prstGeom>
          <a:solidFill>
            <a:srgbClr val="1C7293">
              <a:alpha val="25000"/>
            </a:srgbClr>
          </a:solidFill>
          <a:ln/>
        </p:spPr>
      </p:sp>
      <p:sp>
        <p:nvSpPr>
          <p:cNvPr id="4" name="Shape 2"/>
          <p:cNvSpPr/>
          <p:nvPr/>
        </p:nvSpPr>
        <p:spPr>
          <a:xfrm>
            <a:off x="10058400" y="-914400"/>
            <a:ext cx="3200400" cy="3200400"/>
          </a:xfrm>
          <a:prstGeom prst="ellipse">
            <a:avLst/>
          </a:prstGeom>
          <a:solidFill>
            <a:srgbClr val="F59E0B">
              <a:alpha val="20000"/>
            </a:srgbClr>
          </a:solidFill>
          <a:ln/>
        </p:spPr>
      </p:sp>
      <p:sp>
        <p:nvSpPr>
          <p:cNvPr id="5" name="Text 3"/>
          <p:cNvSpPr/>
          <p:nvPr/>
        </p:nvSpPr>
        <p:spPr>
          <a:xfrm>
            <a:off x="640080" y="502920"/>
            <a:ext cx="7315200" cy="274320"/>
          </a:xfrm>
          <a:prstGeom prst="rect">
            <a:avLst/>
          </a:prstGeom>
          <a:noFill/>
          <a:ln/>
        </p:spPr>
        <p:txBody>
          <a:bodyPr wrap="square" lIns="0" tIns="0" rIns="0" bIns="0" rtlCol="0" anchor="ctr"/>
          <a:lstStyle/>
          <a:p>
            <a:pPr indent="0" marL="0">
              <a:buNone/>
            </a:pPr>
            <a:r>
              <a:rPr lang="en-US" sz="1200" b="1" spc="400" kern="0" dirty="0">
                <a:solidFill>
                  <a:srgbClr val="FFFFFF"/>
                </a:solidFill>
                <a:latin typeface="Calibri" pitchFamily="34" charset="0"/>
                <a:ea typeface="Calibri" pitchFamily="34" charset="-122"/>
                <a:cs typeface="Calibri" pitchFamily="34" charset="-120"/>
              </a:rPr>
              <a:t>UNIVERSIDAD TÉCNICA NACIONAL</a:t>
            </a:r>
            <a:endParaRPr lang="en-US" sz="1200" dirty="0"/>
          </a:p>
        </p:txBody>
      </p:sp>
      <p:sp>
        <p:nvSpPr>
          <p:cNvPr id="6" name="Text 4"/>
          <p:cNvSpPr/>
          <p:nvPr/>
        </p:nvSpPr>
        <p:spPr>
          <a:xfrm>
            <a:off x="640080" y="777240"/>
            <a:ext cx="7315200" cy="274320"/>
          </a:xfrm>
          <a:prstGeom prst="rect">
            <a:avLst/>
          </a:prstGeom>
          <a:noFill/>
          <a:ln/>
        </p:spPr>
        <p:txBody>
          <a:bodyPr wrap="square" lIns="0" tIns="0" rIns="0" bIns="0" rtlCol="0" anchor="ctr"/>
          <a:lstStyle/>
          <a:p>
            <a:pPr indent="0" marL="0">
              <a:buNone/>
            </a:pPr>
            <a:r>
              <a:rPr lang="en-US" sz="1100" dirty="0">
                <a:solidFill>
                  <a:srgbClr val="CADCFC"/>
                </a:solidFill>
                <a:latin typeface="Calibri" pitchFamily="34" charset="0"/>
                <a:ea typeface="Calibri" pitchFamily="34" charset="-122"/>
                <a:cs typeface="Calibri" pitchFamily="34" charset="-120"/>
              </a:rPr>
              <a:t>Bachillerato en Ingeniería del Software  ·  Sede Central</a:t>
            </a:r>
            <a:endParaRPr lang="en-US" sz="1100" dirty="0"/>
          </a:p>
        </p:txBody>
      </p:sp>
      <p:sp>
        <p:nvSpPr>
          <p:cNvPr id="7" name="Text 5"/>
          <p:cNvSpPr/>
          <p:nvPr/>
        </p:nvSpPr>
        <p:spPr>
          <a:xfrm>
            <a:off x="640080" y="2377440"/>
            <a:ext cx="10972800" cy="365760"/>
          </a:xfrm>
          <a:prstGeom prst="rect">
            <a:avLst/>
          </a:prstGeom>
          <a:noFill/>
          <a:ln/>
        </p:spPr>
        <p:txBody>
          <a:bodyPr wrap="square" lIns="0" tIns="0" rIns="0" bIns="0" rtlCol="0" anchor="ctr"/>
          <a:lstStyle/>
          <a:p>
            <a:pPr indent="0" marL="0">
              <a:buNone/>
            </a:pPr>
            <a:r>
              <a:rPr lang="en-US" sz="1400" b="1" spc="500" kern="0" dirty="0">
                <a:solidFill>
                  <a:srgbClr val="F59E0B"/>
                </a:solidFill>
                <a:latin typeface="Calibri" pitchFamily="34" charset="0"/>
                <a:ea typeface="Calibri" pitchFamily="34" charset="-122"/>
                <a:cs typeface="Calibri" pitchFamily="34" charset="-120"/>
              </a:rPr>
              <a:t>PRÁCTICA PROFESIONAL</a:t>
            </a:r>
            <a:endParaRPr lang="en-US" sz="1400" dirty="0"/>
          </a:p>
        </p:txBody>
      </p:sp>
      <p:sp>
        <p:nvSpPr>
          <p:cNvPr id="8" name="Text 6"/>
          <p:cNvSpPr/>
          <p:nvPr/>
        </p:nvSpPr>
        <p:spPr>
          <a:xfrm>
            <a:off x="640080" y="2788920"/>
            <a:ext cx="10972800" cy="2194560"/>
          </a:xfrm>
          <a:prstGeom prst="rect">
            <a:avLst/>
          </a:prstGeom>
          <a:noFill/>
          <a:ln/>
        </p:spPr>
        <p:txBody>
          <a:bodyPr wrap="square" lIns="0" tIns="0" rIns="0" bIns="0" rtlCol="0" anchor="ctr"/>
          <a:lstStyle/>
          <a:p>
            <a:pPr indent="0" marL="0">
              <a:buNone/>
            </a:pPr>
            <a:r>
              <a:rPr lang="en-US" sz="6800" b="1" dirty="0">
                <a:solidFill>
                  <a:srgbClr val="FFFFFF"/>
                </a:solidFill>
                <a:latin typeface="Cambria" pitchFamily="34" charset="0"/>
                <a:ea typeface="Cambria" pitchFamily="34" charset="-122"/>
                <a:cs typeface="Cambria" pitchFamily="34" charset="-120"/>
              </a:rPr>
              <a:t>Sistema ODS</a:t>
            </a:r>
            <a:endParaRPr lang="en-US" sz="6800" dirty="0"/>
          </a:p>
          <a:p>
            <a:pPr indent="0" marL="0">
              <a:buNone/>
            </a:pPr>
            <a:r>
              <a:rPr lang="en-US" sz="6800" b="1" dirty="0">
                <a:solidFill>
                  <a:srgbClr val="FFFFFF"/>
                </a:solidFill>
                <a:latin typeface="Cambria" pitchFamily="34" charset="0"/>
                <a:ea typeface="Cambria" pitchFamily="34" charset="-122"/>
                <a:cs typeface="Cambria" pitchFamily="34" charset="-120"/>
              </a:rPr>
              <a:t>Agenda 2030</a:t>
            </a:r>
            <a:endParaRPr lang="en-US" sz="6800" dirty="0"/>
          </a:p>
        </p:txBody>
      </p:sp>
      <p:sp>
        <p:nvSpPr>
          <p:cNvPr id="9" name="Text 7"/>
          <p:cNvSpPr/>
          <p:nvPr/>
        </p:nvSpPr>
        <p:spPr>
          <a:xfrm>
            <a:off x="640080" y="4937760"/>
            <a:ext cx="10058400" cy="640080"/>
          </a:xfrm>
          <a:prstGeom prst="rect">
            <a:avLst/>
          </a:prstGeom>
          <a:noFill/>
          <a:ln/>
        </p:spPr>
        <p:txBody>
          <a:bodyPr wrap="square" lIns="0" tIns="0" rIns="0" bIns="0" rtlCol="0" anchor="ctr"/>
          <a:lstStyle/>
          <a:p>
            <a:pPr indent="0" marL="0">
              <a:buNone/>
            </a:pPr>
            <a:r>
              <a:rPr lang="en-US" sz="1600" i="1" dirty="0">
                <a:solidFill>
                  <a:srgbClr val="CADCFC"/>
                </a:solidFill>
                <a:latin typeface="Calibri" pitchFamily="34" charset="0"/>
                <a:ea typeface="Calibri" pitchFamily="34" charset="-122"/>
                <a:cs typeface="Calibri" pitchFamily="34" charset="-120"/>
              </a:rPr>
              <a:t>Plataforma de seguimiento de proyectos institucionales alineados a los 17 Objetivos de Desarrollo Sostenible</a:t>
            </a:r>
            <a:endParaRPr lang="en-US" sz="1600" dirty="0"/>
          </a:p>
        </p:txBody>
      </p:sp>
      <p:sp>
        <p:nvSpPr>
          <p:cNvPr id="10" name="Shape 8"/>
          <p:cNvSpPr/>
          <p:nvPr/>
        </p:nvSpPr>
        <p:spPr>
          <a:xfrm>
            <a:off x="640080" y="5715000"/>
            <a:ext cx="457200" cy="45720"/>
          </a:xfrm>
          <a:prstGeom prst="rect">
            <a:avLst/>
          </a:prstGeom>
          <a:solidFill>
            <a:srgbClr val="F59E0B"/>
          </a:solidFill>
          <a:ln/>
        </p:spPr>
      </p:sp>
      <p:sp>
        <p:nvSpPr>
          <p:cNvPr id="11" name="Text 9"/>
          <p:cNvSpPr/>
          <p:nvPr/>
        </p:nvSpPr>
        <p:spPr>
          <a:xfrm>
            <a:off x="640080" y="5852160"/>
            <a:ext cx="3657600" cy="36576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AVANCE I</a:t>
            </a:r>
            <a:endParaRPr lang="en-US" sz="1600" dirty="0"/>
          </a:p>
        </p:txBody>
      </p:sp>
      <p:sp>
        <p:nvSpPr>
          <p:cNvPr id="12" name="Text 10"/>
          <p:cNvSpPr/>
          <p:nvPr/>
        </p:nvSpPr>
        <p:spPr>
          <a:xfrm>
            <a:off x="640080" y="6199632"/>
            <a:ext cx="4572000" cy="5029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Kevin Campos González</a:t>
            </a:r>
            <a:endParaRPr lang="en-US" sz="1200" dirty="0"/>
          </a:p>
          <a:p>
            <a:pPr indent="0" marL="0">
              <a:buNone/>
            </a:pPr>
            <a:r>
              <a:rPr lang="en-US" sz="1200" dirty="0">
                <a:solidFill>
                  <a:srgbClr val="CADCFC"/>
                </a:solidFill>
                <a:latin typeface="Calibri" pitchFamily="34" charset="0"/>
                <a:ea typeface="Calibri" pitchFamily="34" charset="-122"/>
                <a:cs typeface="Calibri" pitchFamily="34" charset="-120"/>
              </a:rPr>
              <a:t>Cédula 2-0675-0567</a:t>
            </a:r>
            <a:endParaRPr lang="en-US" sz="1200" dirty="0"/>
          </a:p>
        </p:txBody>
      </p:sp>
      <p:sp>
        <p:nvSpPr>
          <p:cNvPr id="13" name="Text 11"/>
          <p:cNvSpPr/>
          <p:nvPr/>
        </p:nvSpPr>
        <p:spPr>
          <a:xfrm>
            <a:off x="5486400" y="5852160"/>
            <a:ext cx="4572000" cy="86868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UTN — Dirección de Planificación</a:t>
            </a:r>
            <a:endParaRPr lang="en-US" sz="1100" dirty="0"/>
          </a:p>
          <a:p>
            <a:pPr indent="0" marL="0">
              <a:buNone/>
            </a:pPr>
            <a:r>
              <a:rPr lang="en-US" sz="1100" dirty="0">
                <a:solidFill>
                  <a:srgbClr val="CADCFC"/>
                </a:solidFill>
                <a:latin typeface="Calibri" pitchFamily="34" charset="0"/>
                <a:ea typeface="Calibri" pitchFamily="34" charset="-122"/>
                <a:cs typeface="Calibri" pitchFamily="34" charset="-120"/>
              </a:rPr>
              <a:t>Unidad de Gestión de Proyectos</a:t>
            </a:r>
            <a:endParaRPr lang="en-US" sz="1100" dirty="0"/>
          </a:p>
          <a:p>
            <a:pPr indent="0" marL="0">
              <a:buNone/>
            </a:pPr>
            <a:r>
              <a:rPr lang="en-US" sz="1100" dirty="0">
                <a:solidFill>
                  <a:srgbClr val="CADCFC"/>
                </a:solidFill>
                <a:latin typeface="Calibri" pitchFamily="34" charset="0"/>
                <a:ea typeface="Calibri" pitchFamily="34" charset="-122"/>
                <a:cs typeface="Calibri" pitchFamily="34" charset="-120"/>
              </a:rPr>
              <a:t>Coordinador: MGT Joaquín Artavia Chaves</a:t>
            </a:r>
            <a:endParaRPr lang="en-US" sz="1100" dirty="0"/>
          </a:p>
        </p:txBody>
      </p:sp>
      <p:sp>
        <p:nvSpPr>
          <p:cNvPr id="14" name="Text 12"/>
          <p:cNvSpPr/>
          <p:nvPr/>
        </p:nvSpPr>
        <p:spPr>
          <a:xfrm>
            <a:off x="10332720" y="5852160"/>
            <a:ext cx="1371600" cy="868680"/>
          </a:xfrm>
          <a:prstGeom prst="rect">
            <a:avLst/>
          </a:prstGeom>
          <a:noFill/>
          <a:ln/>
        </p:spPr>
        <p:txBody>
          <a:bodyPr wrap="square" lIns="0" tIns="0" rIns="0" bIns="0" rtlCol="0" anchor="ctr"/>
          <a:lstStyle/>
          <a:p>
            <a:pPr algn="r" indent="0" marL="0">
              <a:buNone/>
            </a:pPr>
            <a:r>
              <a:rPr lang="en-US" sz="1100" b="1" dirty="0">
                <a:solidFill>
                  <a:srgbClr val="F59E0B"/>
                </a:solidFill>
                <a:latin typeface="Calibri" pitchFamily="34" charset="0"/>
                <a:ea typeface="Calibri" pitchFamily="34" charset="-122"/>
                <a:cs typeface="Calibri" pitchFamily="34" charset="-120"/>
              </a:rPr>
              <a:t>FECHA</a:t>
            </a:r>
            <a:endParaRPr lang="en-US" sz="1100" dirty="0"/>
          </a:p>
          <a:p>
            <a:pPr algn="r" indent="0" marL="0">
              <a:buNone/>
            </a:pPr>
            <a:r>
              <a:rPr lang="en-US" sz="1100" dirty="0">
                <a:solidFill>
                  <a:srgbClr val="FFFFFF"/>
                </a:solidFill>
                <a:latin typeface="Calibri" pitchFamily="34" charset="0"/>
                <a:ea typeface="Calibri" pitchFamily="34" charset="-122"/>
                <a:cs typeface="Calibri" pitchFamily="34" charset="-120"/>
              </a:rPr>
              <a:t>12 / 06 /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48640" y="411480"/>
            <a:ext cx="11064240" cy="274320"/>
          </a:xfrm>
          <a:prstGeom prst="rect">
            <a:avLst/>
          </a:prstGeom>
          <a:noFill/>
          <a:ln/>
        </p:spPr>
        <p:txBody>
          <a:bodyPr wrap="square" lIns="0" tIns="0" rIns="0" bIns="0" rtlCol="0" anchor="ctr"/>
          <a:lstStyle/>
          <a:p>
            <a:pPr indent="0" marL="0">
              <a:buNone/>
            </a:pPr>
            <a:r>
              <a:rPr lang="en-US" sz="1100" b="1" spc="300" kern="0" dirty="0">
                <a:solidFill>
                  <a:srgbClr val="F59E0B"/>
                </a:solidFill>
                <a:latin typeface="Calibri" pitchFamily="34" charset="0"/>
                <a:ea typeface="Calibri" pitchFamily="34" charset="-122"/>
                <a:cs typeface="Calibri" pitchFamily="34" charset="-120"/>
              </a:rPr>
              <a:t>DIAPOSITIVA 2  ·  PRESENTACIÓN GENERAL</a:t>
            </a:r>
            <a:endParaRPr lang="en-US" sz="1100" dirty="0"/>
          </a:p>
        </p:txBody>
      </p:sp>
      <p:sp>
        <p:nvSpPr>
          <p:cNvPr id="3" name="Text 1"/>
          <p:cNvSpPr/>
          <p:nvPr/>
        </p:nvSpPr>
        <p:spPr>
          <a:xfrm>
            <a:off x="548640" y="713232"/>
            <a:ext cx="11064240" cy="731520"/>
          </a:xfrm>
          <a:prstGeom prst="rect">
            <a:avLst/>
          </a:prstGeom>
          <a:noFill/>
          <a:ln/>
        </p:spPr>
        <p:txBody>
          <a:bodyPr wrap="square" lIns="0" tIns="0" rIns="0" bIns="0" rtlCol="0" anchor="ctr"/>
          <a:lstStyle/>
          <a:p>
            <a:pPr indent="0" marL="0">
              <a:buNone/>
            </a:pPr>
            <a:r>
              <a:rPr lang="en-US" sz="3200" b="1" dirty="0">
                <a:solidFill>
                  <a:srgbClr val="21295C"/>
                </a:solidFill>
                <a:latin typeface="Cambria" pitchFamily="34" charset="0"/>
                <a:ea typeface="Cambria" pitchFamily="34" charset="-122"/>
                <a:cs typeface="Cambria" pitchFamily="34" charset="-120"/>
              </a:rPr>
              <a:t>La institución y el área de práctica</a:t>
            </a:r>
            <a:endParaRPr lang="en-US" sz="3200" dirty="0"/>
          </a:p>
        </p:txBody>
      </p:sp>
      <p:sp>
        <p:nvSpPr>
          <p:cNvPr id="4" name="Text 2"/>
          <p:cNvSpPr/>
          <p:nvPr/>
        </p:nvSpPr>
        <p:spPr>
          <a:xfrm>
            <a:off x="548640" y="6537960"/>
            <a:ext cx="11064240" cy="22860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Práctica Profesional  ·  Avance I  ·  Kevin Campos González  ·  UTN</a:t>
            </a:r>
            <a:endParaRPr lang="en-US" sz="900" dirty="0"/>
          </a:p>
        </p:txBody>
      </p:sp>
      <p:sp>
        <p:nvSpPr>
          <p:cNvPr id="5" name="Shape 3"/>
          <p:cNvSpPr/>
          <p:nvPr/>
        </p:nvSpPr>
        <p:spPr>
          <a:xfrm>
            <a:off x="548640" y="1691640"/>
            <a:ext cx="4754880" cy="4572000"/>
          </a:xfrm>
          <a:prstGeom prst="roundRect">
            <a:avLst>
              <a:gd name="adj" fmla="val 2000"/>
            </a:avLst>
          </a:prstGeom>
          <a:solidFill>
            <a:srgbClr val="065A82"/>
          </a:solidFill>
          <a:ln/>
          <a:effectLst>
            <a:outerShdw sx="100000" sy="100000" kx="0" ky="0" algn="bl" rotWithShape="0" blurRad="152400" dist="38100" dir="5400000">
              <a:srgbClr val="0F172A">
                <a:alpha val="10000"/>
              </a:srgbClr>
            </a:outerShdw>
          </a:effectLst>
        </p:spPr>
      </p:sp>
      <p:sp>
        <p:nvSpPr>
          <p:cNvPr id="6" name="Text 4"/>
          <p:cNvSpPr/>
          <p:nvPr/>
        </p:nvSpPr>
        <p:spPr>
          <a:xfrm>
            <a:off x="822960" y="1920240"/>
            <a:ext cx="4206240" cy="1280160"/>
          </a:xfrm>
          <a:prstGeom prst="rect">
            <a:avLst/>
          </a:prstGeom>
          <a:noFill/>
          <a:ln/>
        </p:spPr>
        <p:txBody>
          <a:bodyPr wrap="square" lIns="0" tIns="0" rIns="0" bIns="0" rtlCol="0" anchor="ctr"/>
          <a:lstStyle/>
          <a:p>
            <a:pPr indent="0" marL="0">
              <a:buNone/>
            </a:pPr>
            <a:r>
              <a:rPr lang="en-US" sz="9000" b="1" dirty="0">
                <a:solidFill>
                  <a:srgbClr val="FFFFFF"/>
                </a:solidFill>
                <a:latin typeface="Cambria" pitchFamily="34" charset="0"/>
                <a:ea typeface="Cambria" pitchFamily="34" charset="-122"/>
                <a:cs typeface="Cambria" pitchFamily="34" charset="-120"/>
              </a:rPr>
              <a:t>UTN</a:t>
            </a:r>
            <a:endParaRPr lang="en-US" sz="9000" dirty="0"/>
          </a:p>
        </p:txBody>
      </p:sp>
      <p:sp>
        <p:nvSpPr>
          <p:cNvPr id="7" name="Text 5"/>
          <p:cNvSpPr/>
          <p:nvPr/>
        </p:nvSpPr>
        <p:spPr>
          <a:xfrm>
            <a:off x="822960" y="3200400"/>
            <a:ext cx="4206240" cy="45720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Universidad Técnica Nacional</a:t>
            </a:r>
            <a:endParaRPr lang="en-US" sz="1700" dirty="0"/>
          </a:p>
        </p:txBody>
      </p:sp>
      <p:sp>
        <p:nvSpPr>
          <p:cNvPr id="8" name="Text 6"/>
          <p:cNvSpPr/>
          <p:nvPr/>
        </p:nvSpPr>
        <p:spPr>
          <a:xfrm>
            <a:off x="822960" y="3703320"/>
            <a:ext cx="4206240" cy="1828800"/>
          </a:xfrm>
          <a:prstGeom prst="rect">
            <a:avLst/>
          </a:prstGeom>
          <a:noFill/>
          <a:ln/>
        </p:spPr>
        <p:txBody>
          <a:bodyPr wrap="square" lIns="0" tIns="0" rIns="0" bIns="0" rtlCol="0" anchor="ctr"/>
          <a:lstStyle/>
          <a:p>
            <a:pPr indent="0" marL="0">
              <a:spcAft>
                <a:spcPts val="400"/>
              </a:spcAft>
              <a:buNone/>
            </a:pPr>
            <a:r>
              <a:rPr lang="en-US" sz="1200" dirty="0">
                <a:solidFill>
                  <a:srgbClr val="CADCFC"/>
                </a:solidFill>
                <a:latin typeface="Calibri" pitchFamily="34" charset="0"/>
                <a:ea typeface="Calibri" pitchFamily="34" charset="-122"/>
                <a:cs typeface="Calibri" pitchFamily="34" charset="-120"/>
              </a:rPr>
              <a:t>Institución pública de educación superior costarricense con sede central en Alajuela. Forma profesionales en ingenierías, ciencias administrativas, agropecuarias y de la salud, con enfoque en innovación y vinculación con la sociedad.</a:t>
            </a:r>
            <a:endParaRPr lang="en-US" sz="1200" dirty="0"/>
          </a:p>
        </p:txBody>
      </p:sp>
      <p:sp>
        <p:nvSpPr>
          <p:cNvPr id="9" name="Shape 7"/>
          <p:cNvSpPr/>
          <p:nvPr/>
        </p:nvSpPr>
        <p:spPr>
          <a:xfrm>
            <a:off x="5577840" y="1691640"/>
            <a:ext cx="6035040" cy="1463040"/>
          </a:xfrm>
          <a:prstGeom prst="roundRect">
            <a:avLst>
              <a:gd name="adj" fmla="val 5000"/>
            </a:avLst>
          </a:prstGeom>
          <a:solidFill>
            <a:srgbClr val="FFFFFF"/>
          </a:solidFill>
          <a:ln w="12700">
            <a:solidFill>
              <a:srgbClr val="E2E8F0"/>
            </a:solidFill>
            <a:prstDash val="solid"/>
          </a:ln>
          <a:effectLst>
            <a:outerShdw sx="100000" sy="100000" kx="0" ky="0" algn="bl" rotWithShape="0" blurRad="76200" dist="25400" dir="2700000">
              <a:srgbClr val="0F172A">
                <a:alpha val="8000"/>
              </a:srgbClr>
            </a:outerShdw>
          </a:effectLst>
        </p:spPr>
      </p:sp>
      <p:sp>
        <p:nvSpPr>
          <p:cNvPr id="10" name="Text 8"/>
          <p:cNvSpPr/>
          <p:nvPr/>
        </p:nvSpPr>
        <p:spPr>
          <a:xfrm>
            <a:off x="5806440" y="1828800"/>
            <a:ext cx="5486400" cy="274320"/>
          </a:xfrm>
          <a:prstGeom prst="rect">
            <a:avLst/>
          </a:prstGeom>
          <a:noFill/>
          <a:ln/>
        </p:spPr>
        <p:txBody>
          <a:bodyPr wrap="square" lIns="0" tIns="0" rIns="0" bIns="0" rtlCol="0" anchor="ctr"/>
          <a:lstStyle/>
          <a:p>
            <a:pPr indent="0" marL="0">
              <a:buNone/>
            </a:pPr>
            <a:r>
              <a:rPr lang="en-US" sz="1000" b="1" spc="300" kern="0" dirty="0">
                <a:solidFill>
                  <a:srgbClr val="F59E0B"/>
                </a:solidFill>
                <a:latin typeface="Calibri" pitchFamily="34" charset="0"/>
                <a:ea typeface="Calibri" pitchFamily="34" charset="-122"/>
                <a:cs typeface="Calibri" pitchFamily="34" charset="-120"/>
              </a:rPr>
              <a:t>ÁREA</a:t>
            </a:r>
            <a:endParaRPr lang="en-US" sz="1000" dirty="0"/>
          </a:p>
        </p:txBody>
      </p:sp>
      <p:sp>
        <p:nvSpPr>
          <p:cNvPr id="11" name="Text 9"/>
          <p:cNvSpPr/>
          <p:nvPr/>
        </p:nvSpPr>
        <p:spPr>
          <a:xfrm>
            <a:off x="5806440" y="2121408"/>
            <a:ext cx="5486400" cy="411480"/>
          </a:xfrm>
          <a:prstGeom prst="rect">
            <a:avLst/>
          </a:prstGeom>
          <a:noFill/>
          <a:ln/>
        </p:spPr>
        <p:txBody>
          <a:bodyPr wrap="square" lIns="0" tIns="0" rIns="0" bIns="0" rtlCol="0" anchor="ctr"/>
          <a:lstStyle/>
          <a:p>
            <a:pPr indent="0" marL="0">
              <a:buNone/>
            </a:pPr>
            <a:r>
              <a:rPr lang="en-US" sz="2000" b="1" dirty="0">
                <a:solidFill>
                  <a:srgbClr val="21295C"/>
                </a:solidFill>
                <a:latin typeface="Cambria" pitchFamily="34" charset="0"/>
                <a:ea typeface="Cambria" pitchFamily="34" charset="-122"/>
                <a:cs typeface="Cambria" pitchFamily="34" charset="-120"/>
              </a:rPr>
              <a:t>Dirección de Planificación</a:t>
            </a:r>
            <a:endParaRPr lang="en-US" sz="2000" dirty="0"/>
          </a:p>
        </p:txBody>
      </p:sp>
      <p:sp>
        <p:nvSpPr>
          <p:cNvPr id="12" name="Text 10"/>
          <p:cNvSpPr/>
          <p:nvPr/>
        </p:nvSpPr>
        <p:spPr>
          <a:xfrm>
            <a:off x="5806440" y="2532888"/>
            <a:ext cx="5486400" cy="320040"/>
          </a:xfrm>
          <a:prstGeom prst="rect">
            <a:avLst/>
          </a:prstGeom>
          <a:noFill/>
          <a:ln/>
        </p:spPr>
        <p:txBody>
          <a:bodyPr wrap="square" lIns="0" tIns="0" rIns="0" bIns="0" rtlCol="0" anchor="ctr"/>
          <a:lstStyle/>
          <a:p>
            <a:pPr indent="0" marL="0">
              <a:buNone/>
            </a:pPr>
            <a:r>
              <a:rPr lang="en-US" sz="1400" dirty="0">
                <a:solidFill>
                  <a:srgbClr val="1C7293"/>
                </a:solidFill>
                <a:latin typeface="Calibri" pitchFamily="34" charset="0"/>
                <a:ea typeface="Calibri" pitchFamily="34" charset="-122"/>
                <a:cs typeface="Calibri" pitchFamily="34" charset="-120"/>
              </a:rPr>
              <a:t>Unidad de Gestión de Proyectos</a:t>
            </a:r>
            <a:endParaRPr lang="en-US" sz="1400" dirty="0"/>
          </a:p>
        </p:txBody>
      </p:sp>
      <p:sp>
        <p:nvSpPr>
          <p:cNvPr id="13" name="Text 11"/>
          <p:cNvSpPr/>
          <p:nvPr/>
        </p:nvSpPr>
        <p:spPr>
          <a:xfrm>
            <a:off x="5806440" y="2834640"/>
            <a:ext cx="5486400" cy="320040"/>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Responsable institucional del seguimiento y evaluación de proyectos estratégicos de la UTN.</a:t>
            </a:r>
            <a:endParaRPr lang="en-US" sz="1100" dirty="0"/>
          </a:p>
        </p:txBody>
      </p:sp>
      <p:sp>
        <p:nvSpPr>
          <p:cNvPr id="14" name="Shape 12"/>
          <p:cNvSpPr/>
          <p:nvPr/>
        </p:nvSpPr>
        <p:spPr>
          <a:xfrm>
            <a:off x="5577840" y="3291840"/>
            <a:ext cx="2926080" cy="2971800"/>
          </a:xfrm>
          <a:prstGeom prst="roundRect">
            <a:avLst>
              <a:gd name="adj" fmla="val 2500"/>
            </a:avLst>
          </a:prstGeom>
          <a:solidFill>
            <a:srgbClr val="FFFFFF"/>
          </a:solidFill>
          <a:ln w="12700">
            <a:solidFill>
              <a:srgbClr val="E2E8F0"/>
            </a:solidFill>
            <a:prstDash val="solid"/>
          </a:ln>
          <a:effectLst>
            <a:outerShdw sx="100000" sy="100000" kx="0" ky="0" algn="bl" rotWithShape="0" blurRad="76200" dist="25400" dir="2700000">
              <a:srgbClr val="0F172A">
                <a:alpha val="8000"/>
              </a:srgbClr>
            </a:outerShdw>
          </a:effectLst>
        </p:spPr>
      </p:sp>
      <p:sp>
        <p:nvSpPr>
          <p:cNvPr id="15" name="Text 13"/>
          <p:cNvSpPr/>
          <p:nvPr/>
        </p:nvSpPr>
        <p:spPr>
          <a:xfrm>
            <a:off x="5760720" y="3429000"/>
            <a:ext cx="2651760" cy="274320"/>
          </a:xfrm>
          <a:prstGeom prst="rect">
            <a:avLst/>
          </a:prstGeom>
          <a:noFill/>
          <a:ln/>
        </p:spPr>
        <p:txBody>
          <a:bodyPr wrap="square" lIns="0" tIns="0" rIns="0" bIns="0" rtlCol="0" anchor="ctr"/>
          <a:lstStyle/>
          <a:p>
            <a:pPr indent="0" marL="0">
              <a:buNone/>
            </a:pPr>
            <a:r>
              <a:rPr lang="en-US" sz="1000" b="1" spc="300" kern="0" dirty="0">
                <a:solidFill>
                  <a:srgbClr val="F59E0B"/>
                </a:solidFill>
                <a:latin typeface="Calibri" pitchFamily="34" charset="0"/>
                <a:ea typeface="Calibri" pitchFamily="34" charset="-122"/>
                <a:cs typeface="Calibri" pitchFamily="34" charset="-120"/>
              </a:rPr>
              <a:t>MISIÓN</a:t>
            </a:r>
            <a:endParaRPr lang="en-US" sz="1000" dirty="0"/>
          </a:p>
        </p:txBody>
      </p:sp>
      <p:sp>
        <p:nvSpPr>
          <p:cNvPr id="16" name="Text 14"/>
          <p:cNvSpPr/>
          <p:nvPr/>
        </p:nvSpPr>
        <p:spPr>
          <a:xfrm>
            <a:off x="5760720" y="3749040"/>
            <a:ext cx="2651760" cy="2377440"/>
          </a:xfrm>
          <a:prstGeom prst="rect">
            <a:avLst/>
          </a:prstGeom>
          <a:noFill/>
          <a:ln/>
        </p:spPr>
        <p:txBody>
          <a:bodyPr wrap="square" lIns="0" tIns="0" rIns="0" bIns="0" rtlCol="0" anchor="ctr"/>
          <a:lstStyle/>
          <a:p>
            <a:pPr indent="0" marL="0">
              <a:spcAft>
                <a:spcPts val="400"/>
              </a:spcAft>
              <a:buNone/>
            </a:pPr>
            <a:r>
              <a:rPr lang="en-US" sz="1100" dirty="0">
                <a:solidFill>
                  <a:srgbClr val="1E293B"/>
                </a:solidFill>
                <a:latin typeface="Calibri" pitchFamily="34" charset="0"/>
                <a:ea typeface="Calibri" pitchFamily="34" charset="-122"/>
                <a:cs typeface="Calibri" pitchFamily="34" charset="-120"/>
              </a:rPr>
              <a:t>Brindar soporte técnico y de planificación a las direcciones de la UTN mediante el desarrollo de sistemas que faciliten el registro, seguimiento y evaluación de proyectos institucionales.</a:t>
            </a:r>
            <a:endParaRPr lang="en-US" sz="1100" dirty="0"/>
          </a:p>
        </p:txBody>
      </p:sp>
      <p:sp>
        <p:nvSpPr>
          <p:cNvPr id="17" name="Shape 15"/>
          <p:cNvSpPr/>
          <p:nvPr/>
        </p:nvSpPr>
        <p:spPr>
          <a:xfrm>
            <a:off x="8686800" y="3291840"/>
            <a:ext cx="2926080" cy="2971800"/>
          </a:xfrm>
          <a:prstGeom prst="roundRect">
            <a:avLst>
              <a:gd name="adj" fmla="val 2500"/>
            </a:avLst>
          </a:prstGeom>
          <a:solidFill>
            <a:srgbClr val="FFFFFF"/>
          </a:solidFill>
          <a:ln w="12700">
            <a:solidFill>
              <a:srgbClr val="E2E8F0"/>
            </a:solidFill>
            <a:prstDash val="solid"/>
          </a:ln>
          <a:effectLst>
            <a:outerShdw sx="100000" sy="100000" kx="0" ky="0" algn="bl" rotWithShape="0" blurRad="76200" dist="25400" dir="2700000">
              <a:srgbClr val="0F172A">
                <a:alpha val="8000"/>
              </a:srgbClr>
            </a:outerShdw>
          </a:effectLst>
        </p:spPr>
      </p:sp>
      <p:sp>
        <p:nvSpPr>
          <p:cNvPr id="18" name="Text 16"/>
          <p:cNvSpPr/>
          <p:nvPr/>
        </p:nvSpPr>
        <p:spPr>
          <a:xfrm>
            <a:off x="8869680" y="3429000"/>
            <a:ext cx="2651760" cy="274320"/>
          </a:xfrm>
          <a:prstGeom prst="rect">
            <a:avLst/>
          </a:prstGeom>
          <a:noFill/>
          <a:ln/>
        </p:spPr>
        <p:txBody>
          <a:bodyPr wrap="square" lIns="0" tIns="0" rIns="0" bIns="0" rtlCol="0" anchor="ctr"/>
          <a:lstStyle/>
          <a:p>
            <a:pPr indent="0" marL="0">
              <a:buNone/>
            </a:pPr>
            <a:r>
              <a:rPr lang="en-US" sz="1000" b="1" spc="300" kern="0" dirty="0">
                <a:solidFill>
                  <a:srgbClr val="F59E0B"/>
                </a:solidFill>
                <a:latin typeface="Calibri" pitchFamily="34" charset="0"/>
                <a:ea typeface="Calibri" pitchFamily="34" charset="-122"/>
                <a:cs typeface="Calibri" pitchFamily="34" charset="-120"/>
              </a:rPr>
              <a:t>VISIÓN</a:t>
            </a:r>
            <a:endParaRPr lang="en-US" sz="1000" dirty="0"/>
          </a:p>
        </p:txBody>
      </p:sp>
      <p:sp>
        <p:nvSpPr>
          <p:cNvPr id="19" name="Text 17"/>
          <p:cNvSpPr/>
          <p:nvPr/>
        </p:nvSpPr>
        <p:spPr>
          <a:xfrm>
            <a:off x="8869680" y="3749040"/>
            <a:ext cx="2651760" cy="2377440"/>
          </a:xfrm>
          <a:prstGeom prst="rect">
            <a:avLst/>
          </a:prstGeom>
          <a:noFill/>
          <a:ln/>
        </p:spPr>
        <p:txBody>
          <a:bodyPr wrap="square" lIns="0" tIns="0" rIns="0" bIns="0" rtlCol="0" anchor="ctr"/>
          <a:lstStyle/>
          <a:p>
            <a:pPr indent="0" marL="0">
              <a:spcAft>
                <a:spcPts val="400"/>
              </a:spcAft>
              <a:buNone/>
            </a:pPr>
            <a:r>
              <a:rPr lang="en-US" sz="1100" dirty="0">
                <a:solidFill>
                  <a:srgbClr val="1E293B"/>
                </a:solidFill>
                <a:latin typeface="Calibri" pitchFamily="34" charset="0"/>
                <a:ea typeface="Calibri" pitchFamily="34" charset="-122"/>
                <a:cs typeface="Calibri" pitchFamily="34" charset="-120"/>
              </a:rPr>
              <a:t>Consolidarse como una unidad de referencia en la planificación institucional, contribuyendo al cumplimiento de los compromisos de la UTN con la Agenda 2030 y los Objetivos de Desarrollo Sostenible.</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48640" y="411480"/>
            <a:ext cx="11064240" cy="274320"/>
          </a:xfrm>
          <a:prstGeom prst="rect">
            <a:avLst/>
          </a:prstGeom>
          <a:noFill/>
          <a:ln/>
        </p:spPr>
        <p:txBody>
          <a:bodyPr wrap="square" lIns="0" tIns="0" rIns="0" bIns="0" rtlCol="0" anchor="ctr"/>
          <a:lstStyle/>
          <a:p>
            <a:pPr indent="0" marL="0">
              <a:buNone/>
            </a:pPr>
            <a:r>
              <a:rPr lang="en-US" sz="1100" b="1" spc="300" kern="0" dirty="0">
                <a:solidFill>
                  <a:srgbClr val="F59E0B"/>
                </a:solidFill>
                <a:latin typeface="Calibri" pitchFamily="34" charset="0"/>
                <a:ea typeface="Calibri" pitchFamily="34" charset="-122"/>
                <a:cs typeface="Calibri" pitchFamily="34" charset="-120"/>
              </a:rPr>
              <a:t>DIAPOSITIVA 3  ·  CONTEXTO TÉCNICO</a:t>
            </a:r>
            <a:endParaRPr lang="en-US" sz="1100" dirty="0"/>
          </a:p>
        </p:txBody>
      </p:sp>
      <p:sp>
        <p:nvSpPr>
          <p:cNvPr id="3" name="Text 1"/>
          <p:cNvSpPr/>
          <p:nvPr/>
        </p:nvSpPr>
        <p:spPr>
          <a:xfrm>
            <a:off x="548640" y="713232"/>
            <a:ext cx="11064240" cy="731520"/>
          </a:xfrm>
          <a:prstGeom prst="rect">
            <a:avLst/>
          </a:prstGeom>
          <a:noFill/>
          <a:ln/>
        </p:spPr>
        <p:txBody>
          <a:bodyPr wrap="square" lIns="0" tIns="0" rIns="0" bIns="0" rtlCol="0" anchor="ctr"/>
          <a:lstStyle/>
          <a:p>
            <a:pPr indent="0" marL="0">
              <a:buNone/>
            </a:pPr>
            <a:r>
              <a:rPr lang="en-US" sz="3200" b="1" dirty="0">
                <a:solidFill>
                  <a:srgbClr val="21295C"/>
                </a:solidFill>
                <a:latin typeface="Cambria" pitchFamily="34" charset="0"/>
                <a:ea typeface="Cambria" pitchFamily="34" charset="-122"/>
                <a:cs typeface="Cambria" pitchFamily="34" charset="-120"/>
              </a:rPr>
              <a:t>El proyecto: Sistema ODS Agenda 2030</a:t>
            </a:r>
            <a:endParaRPr lang="en-US" sz="3200" dirty="0"/>
          </a:p>
        </p:txBody>
      </p:sp>
      <p:sp>
        <p:nvSpPr>
          <p:cNvPr id="4" name="Text 2"/>
          <p:cNvSpPr/>
          <p:nvPr/>
        </p:nvSpPr>
        <p:spPr>
          <a:xfrm>
            <a:off x="548640" y="6537960"/>
            <a:ext cx="11064240" cy="22860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Práctica Profesional  ·  Avance I  ·  Kevin Campos González  ·  UTN</a:t>
            </a:r>
            <a:endParaRPr lang="en-US" sz="900" dirty="0"/>
          </a:p>
        </p:txBody>
      </p:sp>
      <p:sp>
        <p:nvSpPr>
          <p:cNvPr id="5" name="Text 3"/>
          <p:cNvSpPr/>
          <p:nvPr/>
        </p:nvSpPr>
        <p:spPr>
          <a:xfrm>
            <a:off x="548640" y="1691640"/>
            <a:ext cx="5577840" cy="1828800"/>
          </a:xfrm>
          <a:prstGeom prst="rect">
            <a:avLst/>
          </a:prstGeom>
          <a:noFill/>
          <a:ln/>
        </p:spPr>
        <p:txBody>
          <a:bodyPr wrap="square" lIns="0" tIns="0" rIns="0" bIns="0" rtlCol="0" anchor="ctr"/>
          <a:lstStyle/>
          <a:p>
            <a:pPr indent="0" marL="0">
              <a:spcAft>
                <a:spcPts val="400"/>
              </a:spcAft>
              <a:buNone/>
            </a:pPr>
            <a:r>
              <a:rPr lang="en-US" sz="1300" dirty="0">
                <a:solidFill>
                  <a:srgbClr val="1E293B"/>
                </a:solidFill>
                <a:latin typeface="Calibri" pitchFamily="34" charset="0"/>
                <a:ea typeface="Calibri" pitchFamily="34" charset="-122"/>
                <a:cs typeface="Calibri" pitchFamily="34" charset="-120"/>
              </a:rPr>
              <a:t>Plataforma web institucional para que la UTN registre, configure y evalúe proyectos vinculados a los 17 Objetivos de Desarrollo Sostenible de Naciones Unidas. Cada proyecto se asocia a uno o varios ODS, con indicadores configurables, fórmulas personalizables y metas medibles.</a:t>
            </a:r>
            <a:endParaRPr lang="en-US" sz="1300" dirty="0"/>
          </a:p>
        </p:txBody>
      </p:sp>
      <p:sp>
        <p:nvSpPr>
          <p:cNvPr id="6" name="Shape 4"/>
          <p:cNvSpPr/>
          <p:nvPr/>
        </p:nvSpPr>
        <p:spPr>
          <a:xfrm>
            <a:off x="548640" y="3657600"/>
            <a:ext cx="1280160" cy="1463040"/>
          </a:xfrm>
          <a:prstGeom prst="roundRect">
            <a:avLst>
              <a:gd name="adj" fmla="val 5714"/>
            </a:avLst>
          </a:prstGeom>
          <a:solidFill>
            <a:srgbClr val="FFFFFF"/>
          </a:solidFill>
          <a:ln w="12700">
            <a:solidFill>
              <a:srgbClr val="E2E8F0"/>
            </a:solidFill>
            <a:prstDash val="solid"/>
          </a:ln>
          <a:effectLst>
            <a:outerShdw sx="100000" sy="100000" kx="0" ky="0" algn="bl" rotWithShape="0" blurRad="76200" dist="25400" dir="2700000">
              <a:srgbClr val="0F172A">
                <a:alpha val="8000"/>
              </a:srgbClr>
            </a:outerShdw>
          </a:effectLst>
        </p:spPr>
      </p:sp>
      <p:sp>
        <p:nvSpPr>
          <p:cNvPr id="7" name="Text 5"/>
          <p:cNvSpPr/>
          <p:nvPr/>
        </p:nvSpPr>
        <p:spPr>
          <a:xfrm>
            <a:off x="548640" y="3749040"/>
            <a:ext cx="1280160" cy="777240"/>
          </a:xfrm>
          <a:prstGeom prst="rect">
            <a:avLst/>
          </a:prstGeom>
          <a:noFill/>
          <a:ln/>
        </p:spPr>
        <p:txBody>
          <a:bodyPr wrap="square" lIns="0" tIns="0" rIns="0" bIns="0" rtlCol="0" anchor="ctr"/>
          <a:lstStyle/>
          <a:p>
            <a:pPr algn="ctr" indent="0" marL="0">
              <a:buNone/>
            </a:pPr>
            <a:r>
              <a:rPr lang="en-US" sz="4200" b="1" dirty="0">
                <a:solidFill>
                  <a:srgbClr val="065A82"/>
                </a:solidFill>
                <a:latin typeface="Cambria" pitchFamily="34" charset="0"/>
                <a:ea typeface="Cambria" pitchFamily="34" charset="-122"/>
                <a:cs typeface="Cambria" pitchFamily="34" charset="-120"/>
              </a:rPr>
              <a:t>19</a:t>
            </a:r>
            <a:endParaRPr lang="en-US" sz="4200" dirty="0"/>
          </a:p>
        </p:txBody>
      </p:sp>
      <p:sp>
        <p:nvSpPr>
          <p:cNvPr id="8" name="Text 6"/>
          <p:cNvSpPr/>
          <p:nvPr/>
        </p:nvSpPr>
        <p:spPr>
          <a:xfrm>
            <a:off x="548640" y="4526280"/>
            <a:ext cx="1280160" cy="548640"/>
          </a:xfrm>
          <a:prstGeom prst="rect">
            <a:avLst/>
          </a:prstGeom>
          <a:noFill/>
          <a:ln/>
        </p:spPr>
        <p:txBody>
          <a:bodyPr wrap="square" lIns="0" tIns="0" rIns="0" bIns="0" rtlCol="0" anchor="ctr"/>
          <a:lstStyle/>
          <a:p>
            <a:pPr algn="ctr" indent="0" marL="0">
              <a:buNone/>
            </a:pPr>
            <a:r>
              <a:rPr lang="en-US" sz="950" dirty="0">
                <a:solidFill>
                  <a:srgbClr val="475569"/>
                </a:solidFill>
                <a:latin typeface="Calibri" pitchFamily="34" charset="0"/>
                <a:ea typeface="Calibri" pitchFamily="34" charset="-122"/>
                <a:cs typeface="Calibri" pitchFamily="34" charset="-120"/>
              </a:rPr>
              <a:t>Bases de datos</a:t>
            </a:r>
            <a:endParaRPr lang="en-US" sz="950" dirty="0"/>
          </a:p>
          <a:p>
            <a:pPr algn="ctr" indent="0" marL="0">
              <a:buNone/>
            </a:pPr>
            <a:r>
              <a:rPr lang="en-US" sz="950" dirty="0">
                <a:solidFill>
                  <a:srgbClr val="475569"/>
                </a:solidFill>
                <a:latin typeface="Calibri" pitchFamily="34" charset="0"/>
                <a:ea typeface="Calibri" pitchFamily="34" charset="-122"/>
                <a:cs typeface="Calibri" pitchFamily="34" charset="-120"/>
              </a:rPr>
              <a:t>diseñadas</a:t>
            </a:r>
            <a:endParaRPr lang="en-US" sz="950" dirty="0"/>
          </a:p>
        </p:txBody>
      </p:sp>
      <p:sp>
        <p:nvSpPr>
          <p:cNvPr id="9" name="Shape 7"/>
          <p:cNvSpPr/>
          <p:nvPr/>
        </p:nvSpPr>
        <p:spPr>
          <a:xfrm>
            <a:off x="1965960" y="3657600"/>
            <a:ext cx="1280160" cy="1463040"/>
          </a:xfrm>
          <a:prstGeom prst="roundRect">
            <a:avLst>
              <a:gd name="adj" fmla="val 5714"/>
            </a:avLst>
          </a:prstGeom>
          <a:solidFill>
            <a:srgbClr val="FFFFFF"/>
          </a:solidFill>
          <a:ln w="12700">
            <a:solidFill>
              <a:srgbClr val="E2E8F0"/>
            </a:solidFill>
            <a:prstDash val="solid"/>
          </a:ln>
          <a:effectLst>
            <a:outerShdw sx="100000" sy="100000" kx="0" ky="0" algn="bl" rotWithShape="0" blurRad="76200" dist="25400" dir="2700000">
              <a:srgbClr val="0F172A">
                <a:alpha val="8000"/>
              </a:srgbClr>
            </a:outerShdw>
          </a:effectLst>
        </p:spPr>
      </p:sp>
      <p:sp>
        <p:nvSpPr>
          <p:cNvPr id="10" name="Text 8"/>
          <p:cNvSpPr/>
          <p:nvPr/>
        </p:nvSpPr>
        <p:spPr>
          <a:xfrm>
            <a:off x="1965960" y="3749040"/>
            <a:ext cx="1280160" cy="777240"/>
          </a:xfrm>
          <a:prstGeom prst="rect">
            <a:avLst/>
          </a:prstGeom>
          <a:noFill/>
          <a:ln/>
        </p:spPr>
        <p:txBody>
          <a:bodyPr wrap="square" lIns="0" tIns="0" rIns="0" bIns="0" rtlCol="0" anchor="ctr"/>
          <a:lstStyle/>
          <a:p>
            <a:pPr algn="ctr" indent="0" marL="0">
              <a:buNone/>
            </a:pPr>
            <a:r>
              <a:rPr lang="en-US" sz="4200" b="1" dirty="0">
                <a:solidFill>
                  <a:srgbClr val="1C7293"/>
                </a:solidFill>
                <a:latin typeface="Cambria" pitchFamily="34" charset="0"/>
                <a:ea typeface="Cambria" pitchFamily="34" charset="-122"/>
                <a:cs typeface="Cambria" pitchFamily="34" charset="-120"/>
              </a:rPr>
              <a:t>17</a:t>
            </a:r>
            <a:endParaRPr lang="en-US" sz="4200" dirty="0"/>
          </a:p>
        </p:txBody>
      </p:sp>
      <p:sp>
        <p:nvSpPr>
          <p:cNvPr id="11" name="Text 9"/>
          <p:cNvSpPr/>
          <p:nvPr/>
        </p:nvSpPr>
        <p:spPr>
          <a:xfrm>
            <a:off x="1965960" y="4526280"/>
            <a:ext cx="1280160" cy="548640"/>
          </a:xfrm>
          <a:prstGeom prst="rect">
            <a:avLst/>
          </a:prstGeom>
          <a:noFill/>
          <a:ln/>
        </p:spPr>
        <p:txBody>
          <a:bodyPr wrap="square" lIns="0" tIns="0" rIns="0" bIns="0" rtlCol="0" anchor="ctr"/>
          <a:lstStyle/>
          <a:p>
            <a:pPr algn="ctr" indent="0" marL="0">
              <a:buNone/>
            </a:pPr>
            <a:r>
              <a:rPr lang="en-US" sz="950" dirty="0">
                <a:solidFill>
                  <a:srgbClr val="475569"/>
                </a:solidFill>
                <a:latin typeface="Calibri" pitchFamily="34" charset="0"/>
                <a:ea typeface="Calibri" pitchFamily="34" charset="-122"/>
                <a:cs typeface="Calibri" pitchFamily="34" charset="-120"/>
              </a:rPr>
              <a:t>ODS de la</a:t>
            </a:r>
            <a:endParaRPr lang="en-US" sz="950" dirty="0"/>
          </a:p>
          <a:p>
            <a:pPr algn="ctr" indent="0" marL="0">
              <a:buNone/>
            </a:pPr>
            <a:r>
              <a:rPr lang="en-US" sz="950" dirty="0">
                <a:solidFill>
                  <a:srgbClr val="475569"/>
                </a:solidFill>
                <a:latin typeface="Calibri" pitchFamily="34" charset="0"/>
                <a:ea typeface="Calibri" pitchFamily="34" charset="-122"/>
                <a:cs typeface="Calibri" pitchFamily="34" charset="-120"/>
              </a:rPr>
              <a:t>Agenda 2030</a:t>
            </a:r>
            <a:endParaRPr lang="en-US" sz="950" dirty="0"/>
          </a:p>
        </p:txBody>
      </p:sp>
      <p:sp>
        <p:nvSpPr>
          <p:cNvPr id="12" name="Shape 10"/>
          <p:cNvSpPr/>
          <p:nvPr/>
        </p:nvSpPr>
        <p:spPr>
          <a:xfrm>
            <a:off x="3383280" y="3657600"/>
            <a:ext cx="1280160" cy="1463040"/>
          </a:xfrm>
          <a:prstGeom prst="roundRect">
            <a:avLst>
              <a:gd name="adj" fmla="val 5714"/>
            </a:avLst>
          </a:prstGeom>
          <a:solidFill>
            <a:srgbClr val="FFFFFF"/>
          </a:solidFill>
          <a:ln w="12700">
            <a:solidFill>
              <a:srgbClr val="E2E8F0"/>
            </a:solidFill>
            <a:prstDash val="solid"/>
          </a:ln>
          <a:effectLst>
            <a:outerShdw sx="100000" sy="100000" kx="0" ky="0" algn="bl" rotWithShape="0" blurRad="76200" dist="25400" dir="2700000">
              <a:srgbClr val="0F172A">
                <a:alpha val="8000"/>
              </a:srgbClr>
            </a:outerShdw>
          </a:effectLst>
        </p:spPr>
      </p:sp>
      <p:sp>
        <p:nvSpPr>
          <p:cNvPr id="13" name="Text 11"/>
          <p:cNvSpPr/>
          <p:nvPr/>
        </p:nvSpPr>
        <p:spPr>
          <a:xfrm>
            <a:off x="3383280" y="3749040"/>
            <a:ext cx="1280160" cy="777240"/>
          </a:xfrm>
          <a:prstGeom prst="rect">
            <a:avLst/>
          </a:prstGeom>
          <a:noFill/>
          <a:ln/>
        </p:spPr>
        <p:txBody>
          <a:bodyPr wrap="square" lIns="0" tIns="0" rIns="0" bIns="0" rtlCol="0" anchor="ctr"/>
          <a:lstStyle/>
          <a:p>
            <a:pPr algn="ctr" indent="0" marL="0">
              <a:buNone/>
            </a:pPr>
            <a:r>
              <a:rPr lang="en-US" sz="4200" b="1" dirty="0">
                <a:solidFill>
                  <a:srgbClr val="21295C"/>
                </a:solidFill>
                <a:latin typeface="Cambria" pitchFamily="34" charset="0"/>
                <a:ea typeface="Cambria" pitchFamily="34" charset="-122"/>
                <a:cs typeface="Cambria" pitchFamily="34" charset="-120"/>
              </a:rPr>
              <a:t>239</a:t>
            </a:r>
            <a:endParaRPr lang="en-US" sz="4200" dirty="0"/>
          </a:p>
        </p:txBody>
      </p:sp>
      <p:sp>
        <p:nvSpPr>
          <p:cNvPr id="14" name="Text 12"/>
          <p:cNvSpPr/>
          <p:nvPr/>
        </p:nvSpPr>
        <p:spPr>
          <a:xfrm>
            <a:off x="3383280" y="4526280"/>
            <a:ext cx="1280160" cy="548640"/>
          </a:xfrm>
          <a:prstGeom prst="rect">
            <a:avLst/>
          </a:prstGeom>
          <a:noFill/>
          <a:ln/>
        </p:spPr>
        <p:txBody>
          <a:bodyPr wrap="square" lIns="0" tIns="0" rIns="0" bIns="0" rtlCol="0" anchor="ctr"/>
          <a:lstStyle/>
          <a:p>
            <a:pPr algn="ctr" indent="0" marL="0">
              <a:buNone/>
            </a:pPr>
            <a:r>
              <a:rPr lang="en-US" sz="950" dirty="0">
                <a:solidFill>
                  <a:srgbClr val="475569"/>
                </a:solidFill>
                <a:latin typeface="Calibri" pitchFamily="34" charset="0"/>
                <a:ea typeface="Calibri" pitchFamily="34" charset="-122"/>
                <a:cs typeface="Calibri" pitchFamily="34" charset="-120"/>
              </a:rPr>
              <a:t>Indicadores</a:t>
            </a:r>
            <a:endParaRPr lang="en-US" sz="950" dirty="0"/>
          </a:p>
          <a:p>
            <a:pPr algn="ctr" indent="0" marL="0">
              <a:buNone/>
            </a:pPr>
            <a:r>
              <a:rPr lang="en-US" sz="950" dirty="0">
                <a:solidFill>
                  <a:srgbClr val="475569"/>
                </a:solidFill>
                <a:latin typeface="Calibri" pitchFamily="34" charset="0"/>
                <a:ea typeface="Calibri" pitchFamily="34" charset="-122"/>
                <a:cs typeface="Calibri" pitchFamily="34" charset="-120"/>
              </a:rPr>
              <a:t>maestros</a:t>
            </a:r>
            <a:endParaRPr lang="en-US" sz="950" dirty="0"/>
          </a:p>
        </p:txBody>
      </p:sp>
      <p:sp>
        <p:nvSpPr>
          <p:cNvPr id="15" name="Shape 13"/>
          <p:cNvSpPr/>
          <p:nvPr/>
        </p:nvSpPr>
        <p:spPr>
          <a:xfrm>
            <a:off x="4800600" y="3657600"/>
            <a:ext cx="1280160" cy="1463040"/>
          </a:xfrm>
          <a:prstGeom prst="roundRect">
            <a:avLst>
              <a:gd name="adj" fmla="val 5714"/>
            </a:avLst>
          </a:prstGeom>
          <a:solidFill>
            <a:srgbClr val="FFFFFF"/>
          </a:solidFill>
          <a:ln w="12700">
            <a:solidFill>
              <a:srgbClr val="E2E8F0"/>
            </a:solidFill>
            <a:prstDash val="solid"/>
          </a:ln>
          <a:effectLst>
            <a:outerShdw sx="100000" sy="100000" kx="0" ky="0" algn="bl" rotWithShape="0" blurRad="76200" dist="25400" dir="2700000">
              <a:srgbClr val="0F172A">
                <a:alpha val="8000"/>
              </a:srgbClr>
            </a:outerShdw>
          </a:effectLst>
        </p:spPr>
      </p:sp>
      <p:sp>
        <p:nvSpPr>
          <p:cNvPr id="16" name="Text 14"/>
          <p:cNvSpPr/>
          <p:nvPr/>
        </p:nvSpPr>
        <p:spPr>
          <a:xfrm>
            <a:off x="4800600" y="3749040"/>
            <a:ext cx="1280160" cy="777240"/>
          </a:xfrm>
          <a:prstGeom prst="rect">
            <a:avLst/>
          </a:prstGeom>
          <a:noFill/>
          <a:ln/>
        </p:spPr>
        <p:txBody>
          <a:bodyPr wrap="square" lIns="0" tIns="0" rIns="0" bIns="0" rtlCol="0" anchor="ctr"/>
          <a:lstStyle/>
          <a:p>
            <a:pPr algn="ctr" indent="0" marL="0">
              <a:buNone/>
            </a:pPr>
            <a:r>
              <a:rPr lang="en-US" sz="4200" b="1" dirty="0">
                <a:solidFill>
                  <a:srgbClr val="F59E0B"/>
                </a:solidFill>
                <a:latin typeface="Cambria" pitchFamily="34" charset="0"/>
                <a:ea typeface="Cambria" pitchFamily="34" charset="-122"/>
                <a:cs typeface="Cambria" pitchFamily="34" charset="-120"/>
              </a:rPr>
              <a:t>4</a:t>
            </a:r>
            <a:endParaRPr lang="en-US" sz="4200" dirty="0"/>
          </a:p>
        </p:txBody>
      </p:sp>
      <p:sp>
        <p:nvSpPr>
          <p:cNvPr id="17" name="Text 15"/>
          <p:cNvSpPr/>
          <p:nvPr/>
        </p:nvSpPr>
        <p:spPr>
          <a:xfrm>
            <a:off x="4800600" y="4526280"/>
            <a:ext cx="1280160" cy="548640"/>
          </a:xfrm>
          <a:prstGeom prst="rect">
            <a:avLst/>
          </a:prstGeom>
          <a:noFill/>
          <a:ln/>
        </p:spPr>
        <p:txBody>
          <a:bodyPr wrap="square" lIns="0" tIns="0" rIns="0" bIns="0" rtlCol="0" anchor="ctr"/>
          <a:lstStyle/>
          <a:p>
            <a:pPr algn="ctr" indent="0" marL="0">
              <a:buNone/>
            </a:pPr>
            <a:r>
              <a:rPr lang="en-US" sz="950" dirty="0">
                <a:solidFill>
                  <a:srgbClr val="475569"/>
                </a:solidFill>
                <a:latin typeface="Calibri" pitchFamily="34" charset="0"/>
                <a:ea typeface="Calibri" pitchFamily="34" charset="-122"/>
                <a:cs typeface="Calibri" pitchFamily="34" charset="-120"/>
              </a:rPr>
              <a:t>Roles del</a:t>
            </a:r>
            <a:endParaRPr lang="en-US" sz="950" dirty="0"/>
          </a:p>
          <a:p>
            <a:pPr algn="ctr" indent="0" marL="0">
              <a:buNone/>
            </a:pPr>
            <a:r>
              <a:rPr lang="en-US" sz="950" dirty="0">
                <a:solidFill>
                  <a:srgbClr val="475569"/>
                </a:solidFill>
                <a:latin typeface="Calibri" pitchFamily="34" charset="0"/>
                <a:ea typeface="Calibri" pitchFamily="34" charset="-122"/>
                <a:cs typeface="Calibri" pitchFamily="34" charset="-120"/>
              </a:rPr>
              <a:t>sistema</a:t>
            </a:r>
            <a:endParaRPr lang="en-US" sz="950" dirty="0"/>
          </a:p>
        </p:txBody>
      </p:sp>
      <p:sp>
        <p:nvSpPr>
          <p:cNvPr id="18" name="Text 16"/>
          <p:cNvSpPr/>
          <p:nvPr/>
        </p:nvSpPr>
        <p:spPr>
          <a:xfrm>
            <a:off x="548640" y="5349240"/>
            <a:ext cx="5577840" cy="274320"/>
          </a:xfrm>
          <a:prstGeom prst="rect">
            <a:avLst/>
          </a:prstGeom>
          <a:noFill/>
          <a:ln/>
        </p:spPr>
        <p:txBody>
          <a:bodyPr wrap="square" lIns="0" tIns="0" rIns="0" bIns="0" rtlCol="0" anchor="ctr"/>
          <a:lstStyle/>
          <a:p>
            <a:pPr indent="0" marL="0">
              <a:buNone/>
            </a:pPr>
            <a:r>
              <a:rPr lang="en-US" sz="1000" b="1" spc="300" kern="0" dirty="0">
                <a:solidFill>
                  <a:srgbClr val="F59E0B"/>
                </a:solidFill>
                <a:latin typeface="Calibri" pitchFamily="34" charset="0"/>
                <a:ea typeface="Calibri" pitchFamily="34" charset="-122"/>
                <a:cs typeface="Calibri" pitchFamily="34" charset="-120"/>
              </a:rPr>
              <a:t>ROLES DEFINIDOS</a:t>
            </a:r>
            <a:endParaRPr lang="en-US" sz="1000" dirty="0"/>
          </a:p>
        </p:txBody>
      </p:sp>
      <p:sp>
        <p:nvSpPr>
          <p:cNvPr id="19" name="Text 17"/>
          <p:cNvSpPr/>
          <p:nvPr/>
        </p:nvSpPr>
        <p:spPr>
          <a:xfrm>
            <a:off x="548640" y="5623560"/>
            <a:ext cx="5577840" cy="914400"/>
          </a:xfrm>
          <a:prstGeom prst="rect">
            <a:avLst/>
          </a:prstGeom>
          <a:noFill/>
          <a:ln/>
        </p:spPr>
        <p:txBody>
          <a:bodyPr wrap="square" lIns="0" tIns="0" rIns="0" bIns="0" rtlCol="0" anchor="ctr"/>
          <a:lstStyle/>
          <a:p>
            <a:pPr indent="0" marL="0">
              <a:spcAft>
                <a:spcPts val="100"/>
              </a:spcAft>
              <a:buNone/>
            </a:pPr>
            <a:r>
              <a:rPr lang="en-US" sz="1100" b="1" dirty="0">
                <a:solidFill>
                  <a:srgbClr val="1E293B"/>
                </a:solidFill>
                <a:latin typeface="Calibri" pitchFamily="34" charset="0"/>
                <a:ea typeface="Calibri" pitchFamily="34" charset="-122"/>
                <a:cs typeface="Calibri" pitchFamily="34" charset="-120"/>
              </a:rPr>
              <a:t>Administrador  </a:t>
            </a:r>
            <a:pPr indent="0" marL="0">
              <a:spcAft>
                <a:spcPts val="100"/>
              </a:spcAft>
              <a:buNone/>
            </a:pPr>
            <a:r>
              <a:rPr lang="en-US" sz="1100" dirty="0">
                <a:solidFill>
                  <a:srgbClr val="64748B"/>
                </a:solidFill>
                <a:latin typeface="Calibri" pitchFamily="34" charset="0"/>
                <a:ea typeface="Calibri" pitchFamily="34" charset="-122"/>
                <a:cs typeface="Calibri" pitchFamily="34" charset="-120"/>
              </a:rPr>
              <a:t>·  acceso total al sistema</a:t>
            </a:r>
            <a:endParaRPr lang="en-US" sz="1100" dirty="0"/>
          </a:p>
          <a:p>
            <a:pPr indent="0" marL="0">
              <a:spcAft>
                <a:spcPts val="100"/>
              </a:spcAft>
              <a:buNone/>
            </a:pPr>
            <a:r>
              <a:rPr lang="en-US" sz="1100" b="1" dirty="0">
                <a:solidFill>
                  <a:srgbClr val="1E293B"/>
                </a:solidFill>
                <a:latin typeface="Calibri" pitchFamily="34" charset="0"/>
                <a:ea typeface="Calibri" pitchFamily="34" charset="-122"/>
                <a:cs typeface="Calibri" pitchFamily="34" charset="-120"/>
              </a:rPr>
              <a:t>Gestor  </a:t>
            </a:r>
            <a:pPr indent="0" marL="0">
              <a:spcAft>
                <a:spcPts val="100"/>
              </a:spcAft>
              <a:buNone/>
            </a:pPr>
            <a:r>
              <a:rPr lang="en-US" sz="1100" dirty="0">
                <a:solidFill>
                  <a:srgbClr val="64748B"/>
                </a:solidFill>
                <a:latin typeface="Calibri" pitchFamily="34" charset="0"/>
                <a:ea typeface="Calibri" pitchFamily="34" charset="-122"/>
                <a:cs typeface="Calibri" pitchFamily="34" charset="-120"/>
              </a:rPr>
              <a:t>·  crea y edita sus proyectos ODS</a:t>
            </a:r>
            <a:endParaRPr lang="en-US" sz="1100" dirty="0"/>
          </a:p>
          <a:p>
            <a:pPr indent="0" marL="0">
              <a:spcAft>
                <a:spcPts val="100"/>
              </a:spcAft>
              <a:buNone/>
            </a:pPr>
            <a:r>
              <a:rPr lang="en-US" sz="1100" b="1" dirty="0">
                <a:solidFill>
                  <a:srgbClr val="1E293B"/>
                </a:solidFill>
                <a:latin typeface="Calibri" pitchFamily="34" charset="0"/>
                <a:ea typeface="Calibri" pitchFamily="34" charset="-122"/>
                <a:cs typeface="Calibri" pitchFamily="34" charset="-120"/>
              </a:rPr>
              <a:t>Consultor  </a:t>
            </a:r>
            <a:pPr indent="0" marL="0">
              <a:spcAft>
                <a:spcPts val="100"/>
              </a:spcAft>
              <a:buNone/>
            </a:pPr>
            <a:r>
              <a:rPr lang="en-US" sz="1100" dirty="0">
                <a:solidFill>
                  <a:srgbClr val="64748B"/>
                </a:solidFill>
                <a:latin typeface="Calibri" pitchFamily="34" charset="0"/>
                <a:ea typeface="Calibri" pitchFamily="34" charset="-122"/>
                <a:cs typeface="Calibri" pitchFamily="34" charset="-120"/>
              </a:rPr>
              <a:t>·  solo lectura de reportes y dashboards</a:t>
            </a:r>
            <a:endParaRPr lang="en-US" sz="1100" dirty="0"/>
          </a:p>
          <a:p>
            <a:pPr indent="0" marL="0">
              <a:spcAft>
                <a:spcPts val="100"/>
              </a:spcAft>
              <a:buNone/>
            </a:pPr>
            <a:r>
              <a:rPr lang="en-US" sz="1100" b="1" dirty="0">
                <a:solidFill>
                  <a:srgbClr val="1E293B"/>
                </a:solidFill>
                <a:latin typeface="Calibri" pitchFamily="34" charset="0"/>
                <a:ea typeface="Calibri" pitchFamily="34" charset="-122"/>
                <a:cs typeface="Calibri" pitchFamily="34" charset="-120"/>
              </a:rPr>
              <a:t>Evaluador  </a:t>
            </a:r>
            <a:pPr indent="0" marL="0">
              <a:spcAft>
                <a:spcPts val="100"/>
              </a:spcAft>
              <a:buNone/>
            </a:pPr>
            <a:r>
              <a:rPr lang="en-US" sz="1100" dirty="0">
                <a:solidFill>
                  <a:srgbClr val="64748B"/>
                </a:solidFill>
                <a:latin typeface="Calibri" pitchFamily="34" charset="0"/>
                <a:ea typeface="Calibri" pitchFamily="34" charset="-122"/>
                <a:cs typeface="Calibri" pitchFamily="34" charset="-120"/>
              </a:rPr>
              <a:t>·  revisa y cierra la evaluación de proyectos</a:t>
            </a:r>
            <a:endParaRPr lang="en-US" sz="1100" dirty="0"/>
          </a:p>
        </p:txBody>
      </p:sp>
      <p:sp>
        <p:nvSpPr>
          <p:cNvPr id="20" name="Shape 18"/>
          <p:cNvSpPr/>
          <p:nvPr/>
        </p:nvSpPr>
        <p:spPr>
          <a:xfrm>
            <a:off x="6492240" y="1691640"/>
            <a:ext cx="5120640" cy="4572000"/>
          </a:xfrm>
          <a:prstGeom prst="roundRect">
            <a:avLst>
              <a:gd name="adj" fmla="val 2000"/>
            </a:avLst>
          </a:prstGeom>
          <a:solidFill>
            <a:srgbClr val="21295C"/>
          </a:solidFill>
          <a:ln/>
          <a:effectLst>
            <a:outerShdw sx="100000" sy="100000" kx="0" ky="0" algn="bl" rotWithShape="0" blurRad="152400" dist="38100" dir="5400000">
              <a:srgbClr val="0F172A">
                <a:alpha val="10000"/>
              </a:srgbClr>
            </a:outerShdw>
          </a:effectLst>
        </p:spPr>
      </p:sp>
      <p:sp>
        <p:nvSpPr>
          <p:cNvPr id="21" name="Text 19"/>
          <p:cNvSpPr/>
          <p:nvPr/>
        </p:nvSpPr>
        <p:spPr>
          <a:xfrm>
            <a:off x="6766560" y="1874520"/>
            <a:ext cx="4572000" cy="274320"/>
          </a:xfrm>
          <a:prstGeom prst="rect">
            <a:avLst/>
          </a:prstGeom>
          <a:noFill/>
          <a:ln/>
        </p:spPr>
        <p:txBody>
          <a:bodyPr wrap="square" lIns="0" tIns="0" rIns="0" bIns="0" rtlCol="0" anchor="ctr"/>
          <a:lstStyle/>
          <a:p>
            <a:pPr indent="0" marL="0">
              <a:buNone/>
            </a:pPr>
            <a:r>
              <a:rPr lang="en-US" sz="1100" b="1" spc="300" kern="0" dirty="0">
                <a:solidFill>
                  <a:srgbClr val="F59E0B"/>
                </a:solidFill>
                <a:latin typeface="Calibri" pitchFamily="34" charset="0"/>
                <a:ea typeface="Calibri" pitchFamily="34" charset="-122"/>
                <a:cs typeface="Calibri" pitchFamily="34" charset="-120"/>
              </a:rPr>
              <a:t>STACK TECNOLÓGICO</a:t>
            </a:r>
            <a:endParaRPr lang="en-US" sz="1100" dirty="0"/>
          </a:p>
        </p:txBody>
      </p:sp>
      <p:sp>
        <p:nvSpPr>
          <p:cNvPr id="22" name="Text 20"/>
          <p:cNvSpPr/>
          <p:nvPr/>
        </p:nvSpPr>
        <p:spPr>
          <a:xfrm>
            <a:off x="6766560" y="2286000"/>
            <a:ext cx="1920240" cy="365760"/>
          </a:xfrm>
          <a:prstGeom prst="rect">
            <a:avLst/>
          </a:prstGeom>
          <a:noFill/>
          <a:ln/>
        </p:spPr>
        <p:txBody>
          <a:bodyPr wrap="square" lIns="0" tIns="0" rIns="0" bIns="0" rtlCol="0" anchor="ctr"/>
          <a:lstStyle/>
          <a:p>
            <a:pPr indent="0" marL="0">
              <a:buNone/>
            </a:pPr>
            <a:r>
              <a:rPr lang="en-US" sz="1150" b="1" dirty="0">
                <a:solidFill>
                  <a:srgbClr val="CADCFC"/>
                </a:solidFill>
                <a:latin typeface="Calibri" pitchFamily="34" charset="0"/>
                <a:ea typeface="Calibri" pitchFamily="34" charset="-122"/>
                <a:cs typeface="Calibri" pitchFamily="34" charset="-120"/>
              </a:rPr>
              <a:t>Base de datos</a:t>
            </a:r>
            <a:endParaRPr lang="en-US" sz="1150" dirty="0"/>
          </a:p>
        </p:txBody>
      </p:sp>
      <p:sp>
        <p:nvSpPr>
          <p:cNvPr id="23" name="Text 21"/>
          <p:cNvSpPr/>
          <p:nvPr/>
        </p:nvSpPr>
        <p:spPr>
          <a:xfrm>
            <a:off x="8686800" y="2286000"/>
            <a:ext cx="2834640" cy="365760"/>
          </a:xfrm>
          <a:prstGeom prst="rect">
            <a:avLst/>
          </a:prstGeom>
          <a:noFill/>
          <a:ln/>
        </p:spPr>
        <p:txBody>
          <a:bodyPr wrap="square" lIns="0" tIns="0" rIns="0" bIns="0" rtlCol="0" anchor="ctr"/>
          <a:lstStyle/>
          <a:p>
            <a:pPr indent="0" marL="0">
              <a:buNone/>
            </a:pPr>
            <a:r>
              <a:rPr lang="en-US" sz="1150" dirty="0">
                <a:solidFill>
                  <a:srgbClr val="FFFFFF"/>
                </a:solidFill>
                <a:latin typeface="Consolas" pitchFamily="34" charset="0"/>
                <a:ea typeface="Consolas" pitchFamily="34" charset="-122"/>
                <a:cs typeface="Consolas" pitchFamily="34" charset="-120"/>
              </a:rPr>
              <a:t>MariaDB 10.11</a:t>
            </a:r>
            <a:endParaRPr lang="en-US" sz="1150" dirty="0"/>
          </a:p>
        </p:txBody>
      </p:sp>
      <p:sp>
        <p:nvSpPr>
          <p:cNvPr id="24" name="Shape 22"/>
          <p:cNvSpPr/>
          <p:nvPr/>
        </p:nvSpPr>
        <p:spPr>
          <a:xfrm>
            <a:off x="6766560" y="2670048"/>
            <a:ext cx="4572000" cy="0"/>
          </a:xfrm>
          <a:prstGeom prst="line">
            <a:avLst/>
          </a:prstGeom>
          <a:noFill/>
          <a:ln w="6350">
            <a:solidFill>
              <a:srgbClr val="1C7293"/>
            </a:solidFill>
            <a:prstDash val="solid"/>
          </a:ln>
        </p:spPr>
      </p:sp>
      <p:sp>
        <p:nvSpPr>
          <p:cNvPr id="25" name="Text 23"/>
          <p:cNvSpPr/>
          <p:nvPr/>
        </p:nvSpPr>
        <p:spPr>
          <a:xfrm>
            <a:off x="6766560" y="2743200"/>
            <a:ext cx="1920240" cy="365760"/>
          </a:xfrm>
          <a:prstGeom prst="rect">
            <a:avLst/>
          </a:prstGeom>
          <a:noFill/>
          <a:ln/>
        </p:spPr>
        <p:txBody>
          <a:bodyPr wrap="square" lIns="0" tIns="0" rIns="0" bIns="0" rtlCol="0" anchor="ctr"/>
          <a:lstStyle/>
          <a:p>
            <a:pPr indent="0" marL="0">
              <a:buNone/>
            </a:pPr>
            <a:r>
              <a:rPr lang="en-US" sz="1150" b="1" dirty="0">
                <a:solidFill>
                  <a:srgbClr val="CADCFC"/>
                </a:solidFill>
                <a:latin typeface="Calibri" pitchFamily="34" charset="0"/>
                <a:ea typeface="Calibri" pitchFamily="34" charset="-122"/>
                <a:cs typeface="Calibri" pitchFamily="34" charset="-120"/>
              </a:rPr>
              <a:t>Backend</a:t>
            </a:r>
            <a:endParaRPr lang="en-US" sz="1150" dirty="0"/>
          </a:p>
        </p:txBody>
      </p:sp>
      <p:sp>
        <p:nvSpPr>
          <p:cNvPr id="26" name="Text 24"/>
          <p:cNvSpPr/>
          <p:nvPr/>
        </p:nvSpPr>
        <p:spPr>
          <a:xfrm>
            <a:off x="8686800" y="2743200"/>
            <a:ext cx="2834640" cy="365760"/>
          </a:xfrm>
          <a:prstGeom prst="rect">
            <a:avLst/>
          </a:prstGeom>
          <a:noFill/>
          <a:ln/>
        </p:spPr>
        <p:txBody>
          <a:bodyPr wrap="square" lIns="0" tIns="0" rIns="0" bIns="0" rtlCol="0" anchor="ctr"/>
          <a:lstStyle/>
          <a:p>
            <a:pPr indent="0" marL="0">
              <a:buNone/>
            </a:pPr>
            <a:r>
              <a:rPr lang="en-US" sz="1150" dirty="0">
                <a:solidFill>
                  <a:srgbClr val="FFFFFF"/>
                </a:solidFill>
                <a:latin typeface="Consolas" pitchFamily="34" charset="0"/>
                <a:ea typeface="Consolas" pitchFamily="34" charset="-122"/>
                <a:cs typeface="Consolas" pitchFamily="34" charset="-120"/>
              </a:rPr>
              <a:t>Spring Boot 3.5.x  ·  Java 21</a:t>
            </a:r>
            <a:endParaRPr lang="en-US" sz="1150" dirty="0"/>
          </a:p>
        </p:txBody>
      </p:sp>
      <p:sp>
        <p:nvSpPr>
          <p:cNvPr id="27" name="Shape 25"/>
          <p:cNvSpPr/>
          <p:nvPr/>
        </p:nvSpPr>
        <p:spPr>
          <a:xfrm>
            <a:off x="6766560" y="3127248"/>
            <a:ext cx="4572000" cy="0"/>
          </a:xfrm>
          <a:prstGeom prst="line">
            <a:avLst/>
          </a:prstGeom>
          <a:noFill/>
          <a:ln w="6350">
            <a:solidFill>
              <a:srgbClr val="1C7293"/>
            </a:solidFill>
            <a:prstDash val="solid"/>
          </a:ln>
        </p:spPr>
      </p:sp>
      <p:sp>
        <p:nvSpPr>
          <p:cNvPr id="28" name="Text 26"/>
          <p:cNvSpPr/>
          <p:nvPr/>
        </p:nvSpPr>
        <p:spPr>
          <a:xfrm>
            <a:off x="6766560" y="3200400"/>
            <a:ext cx="1920240" cy="365760"/>
          </a:xfrm>
          <a:prstGeom prst="rect">
            <a:avLst/>
          </a:prstGeom>
          <a:noFill/>
          <a:ln/>
        </p:spPr>
        <p:txBody>
          <a:bodyPr wrap="square" lIns="0" tIns="0" rIns="0" bIns="0" rtlCol="0" anchor="ctr"/>
          <a:lstStyle/>
          <a:p>
            <a:pPr indent="0" marL="0">
              <a:buNone/>
            </a:pPr>
            <a:r>
              <a:rPr lang="en-US" sz="1150" b="1" dirty="0">
                <a:solidFill>
                  <a:srgbClr val="CADCFC"/>
                </a:solidFill>
                <a:latin typeface="Calibri" pitchFamily="34" charset="0"/>
                <a:ea typeface="Calibri" pitchFamily="34" charset="-122"/>
                <a:cs typeface="Calibri" pitchFamily="34" charset="-120"/>
              </a:rPr>
              <a:t>ORM / Code-gen</a:t>
            </a:r>
            <a:endParaRPr lang="en-US" sz="1150" dirty="0"/>
          </a:p>
        </p:txBody>
      </p:sp>
      <p:sp>
        <p:nvSpPr>
          <p:cNvPr id="29" name="Text 27"/>
          <p:cNvSpPr/>
          <p:nvPr/>
        </p:nvSpPr>
        <p:spPr>
          <a:xfrm>
            <a:off x="8686800" y="3200400"/>
            <a:ext cx="2834640" cy="365760"/>
          </a:xfrm>
          <a:prstGeom prst="rect">
            <a:avLst/>
          </a:prstGeom>
          <a:noFill/>
          <a:ln/>
        </p:spPr>
        <p:txBody>
          <a:bodyPr wrap="square" lIns="0" tIns="0" rIns="0" bIns="0" rtlCol="0" anchor="ctr"/>
          <a:lstStyle/>
          <a:p>
            <a:pPr indent="0" marL="0">
              <a:buNone/>
            </a:pPr>
            <a:r>
              <a:rPr lang="en-US" sz="1150" dirty="0">
                <a:solidFill>
                  <a:srgbClr val="FFFFFF"/>
                </a:solidFill>
                <a:latin typeface="Consolas" pitchFamily="34" charset="0"/>
                <a:ea typeface="Consolas" pitchFamily="34" charset="-122"/>
                <a:cs typeface="Consolas" pitchFamily="34" charset="-120"/>
              </a:rPr>
              <a:t>jOOQ 3.19.6</a:t>
            </a:r>
            <a:endParaRPr lang="en-US" sz="1150" dirty="0"/>
          </a:p>
        </p:txBody>
      </p:sp>
      <p:sp>
        <p:nvSpPr>
          <p:cNvPr id="30" name="Shape 28"/>
          <p:cNvSpPr/>
          <p:nvPr/>
        </p:nvSpPr>
        <p:spPr>
          <a:xfrm>
            <a:off x="6766560" y="3584448"/>
            <a:ext cx="4572000" cy="0"/>
          </a:xfrm>
          <a:prstGeom prst="line">
            <a:avLst/>
          </a:prstGeom>
          <a:noFill/>
          <a:ln w="6350">
            <a:solidFill>
              <a:srgbClr val="1C7293"/>
            </a:solidFill>
            <a:prstDash val="solid"/>
          </a:ln>
        </p:spPr>
      </p:sp>
      <p:sp>
        <p:nvSpPr>
          <p:cNvPr id="31" name="Text 29"/>
          <p:cNvSpPr/>
          <p:nvPr/>
        </p:nvSpPr>
        <p:spPr>
          <a:xfrm>
            <a:off x="6766560" y="3657600"/>
            <a:ext cx="1920240" cy="365760"/>
          </a:xfrm>
          <a:prstGeom prst="rect">
            <a:avLst/>
          </a:prstGeom>
          <a:noFill/>
          <a:ln/>
        </p:spPr>
        <p:txBody>
          <a:bodyPr wrap="square" lIns="0" tIns="0" rIns="0" bIns="0" rtlCol="0" anchor="ctr"/>
          <a:lstStyle/>
          <a:p>
            <a:pPr indent="0" marL="0">
              <a:buNone/>
            </a:pPr>
            <a:r>
              <a:rPr lang="en-US" sz="1150" b="1" dirty="0">
                <a:solidFill>
                  <a:srgbClr val="CADCFC"/>
                </a:solidFill>
                <a:latin typeface="Calibri" pitchFamily="34" charset="0"/>
                <a:ea typeface="Calibri" pitchFamily="34" charset="-122"/>
                <a:cs typeface="Calibri" pitchFamily="34" charset="-120"/>
              </a:rPr>
              <a:t>Build</a:t>
            </a:r>
            <a:endParaRPr lang="en-US" sz="1150" dirty="0"/>
          </a:p>
        </p:txBody>
      </p:sp>
      <p:sp>
        <p:nvSpPr>
          <p:cNvPr id="32" name="Text 30"/>
          <p:cNvSpPr/>
          <p:nvPr/>
        </p:nvSpPr>
        <p:spPr>
          <a:xfrm>
            <a:off x="8686800" y="3657600"/>
            <a:ext cx="2834640" cy="365760"/>
          </a:xfrm>
          <a:prstGeom prst="rect">
            <a:avLst/>
          </a:prstGeom>
          <a:noFill/>
          <a:ln/>
        </p:spPr>
        <p:txBody>
          <a:bodyPr wrap="square" lIns="0" tIns="0" rIns="0" bIns="0" rtlCol="0" anchor="ctr"/>
          <a:lstStyle/>
          <a:p>
            <a:pPr indent="0" marL="0">
              <a:buNone/>
            </a:pPr>
            <a:r>
              <a:rPr lang="en-US" sz="1150" dirty="0">
                <a:solidFill>
                  <a:srgbClr val="FFFFFF"/>
                </a:solidFill>
                <a:latin typeface="Consolas" pitchFamily="34" charset="0"/>
                <a:ea typeface="Consolas" pitchFamily="34" charset="-122"/>
                <a:cs typeface="Consolas" pitchFamily="34" charset="-120"/>
              </a:rPr>
              <a:t>Maven 3.8+</a:t>
            </a:r>
            <a:endParaRPr lang="en-US" sz="1150" dirty="0"/>
          </a:p>
        </p:txBody>
      </p:sp>
      <p:sp>
        <p:nvSpPr>
          <p:cNvPr id="33" name="Shape 31"/>
          <p:cNvSpPr/>
          <p:nvPr/>
        </p:nvSpPr>
        <p:spPr>
          <a:xfrm>
            <a:off x="6766560" y="4041648"/>
            <a:ext cx="4572000" cy="0"/>
          </a:xfrm>
          <a:prstGeom prst="line">
            <a:avLst/>
          </a:prstGeom>
          <a:noFill/>
          <a:ln w="6350">
            <a:solidFill>
              <a:srgbClr val="1C7293"/>
            </a:solidFill>
            <a:prstDash val="solid"/>
          </a:ln>
        </p:spPr>
      </p:sp>
      <p:sp>
        <p:nvSpPr>
          <p:cNvPr id="34" name="Text 32"/>
          <p:cNvSpPr/>
          <p:nvPr/>
        </p:nvSpPr>
        <p:spPr>
          <a:xfrm>
            <a:off x="6766560" y="4114800"/>
            <a:ext cx="1920240" cy="365760"/>
          </a:xfrm>
          <a:prstGeom prst="rect">
            <a:avLst/>
          </a:prstGeom>
          <a:noFill/>
          <a:ln/>
        </p:spPr>
        <p:txBody>
          <a:bodyPr wrap="square" lIns="0" tIns="0" rIns="0" bIns="0" rtlCol="0" anchor="ctr"/>
          <a:lstStyle/>
          <a:p>
            <a:pPr indent="0" marL="0">
              <a:buNone/>
            </a:pPr>
            <a:r>
              <a:rPr lang="en-US" sz="1150" b="1" dirty="0">
                <a:solidFill>
                  <a:srgbClr val="CADCFC"/>
                </a:solidFill>
                <a:latin typeface="Calibri" pitchFamily="34" charset="0"/>
                <a:ea typeface="Calibri" pitchFamily="34" charset="-122"/>
                <a:cs typeface="Calibri" pitchFamily="34" charset="-120"/>
              </a:rPr>
              <a:t>Autenticación</a:t>
            </a:r>
            <a:endParaRPr lang="en-US" sz="1150" dirty="0"/>
          </a:p>
        </p:txBody>
      </p:sp>
      <p:sp>
        <p:nvSpPr>
          <p:cNvPr id="35" name="Text 33"/>
          <p:cNvSpPr/>
          <p:nvPr/>
        </p:nvSpPr>
        <p:spPr>
          <a:xfrm>
            <a:off x="8686800" y="4114800"/>
            <a:ext cx="2834640" cy="365760"/>
          </a:xfrm>
          <a:prstGeom prst="rect">
            <a:avLst/>
          </a:prstGeom>
          <a:noFill/>
          <a:ln/>
        </p:spPr>
        <p:txBody>
          <a:bodyPr wrap="square" lIns="0" tIns="0" rIns="0" bIns="0" rtlCol="0" anchor="ctr"/>
          <a:lstStyle/>
          <a:p>
            <a:pPr indent="0" marL="0">
              <a:buNone/>
            </a:pPr>
            <a:r>
              <a:rPr lang="en-US" sz="1150" dirty="0">
                <a:solidFill>
                  <a:srgbClr val="FFFFFF"/>
                </a:solidFill>
                <a:latin typeface="Consolas" pitchFamily="34" charset="0"/>
                <a:ea typeface="Consolas" pitchFamily="34" charset="-122"/>
                <a:cs typeface="Consolas" pitchFamily="34" charset="-120"/>
              </a:rPr>
              <a:t>JWT (jjwt 0.12.5)</a:t>
            </a:r>
            <a:endParaRPr lang="en-US" sz="1150" dirty="0"/>
          </a:p>
        </p:txBody>
      </p:sp>
      <p:sp>
        <p:nvSpPr>
          <p:cNvPr id="36" name="Shape 34"/>
          <p:cNvSpPr/>
          <p:nvPr/>
        </p:nvSpPr>
        <p:spPr>
          <a:xfrm>
            <a:off x="6766560" y="4498848"/>
            <a:ext cx="4572000" cy="0"/>
          </a:xfrm>
          <a:prstGeom prst="line">
            <a:avLst/>
          </a:prstGeom>
          <a:noFill/>
          <a:ln w="6350">
            <a:solidFill>
              <a:srgbClr val="1C7293"/>
            </a:solidFill>
            <a:prstDash val="solid"/>
          </a:ln>
        </p:spPr>
      </p:sp>
      <p:sp>
        <p:nvSpPr>
          <p:cNvPr id="37" name="Text 35"/>
          <p:cNvSpPr/>
          <p:nvPr/>
        </p:nvSpPr>
        <p:spPr>
          <a:xfrm>
            <a:off x="6766560" y="4572000"/>
            <a:ext cx="1920240" cy="365760"/>
          </a:xfrm>
          <a:prstGeom prst="rect">
            <a:avLst/>
          </a:prstGeom>
          <a:noFill/>
          <a:ln/>
        </p:spPr>
        <p:txBody>
          <a:bodyPr wrap="square" lIns="0" tIns="0" rIns="0" bIns="0" rtlCol="0" anchor="ctr"/>
          <a:lstStyle/>
          <a:p>
            <a:pPr indent="0" marL="0">
              <a:buNone/>
            </a:pPr>
            <a:r>
              <a:rPr lang="en-US" sz="1150" b="1" dirty="0">
                <a:solidFill>
                  <a:srgbClr val="CADCFC"/>
                </a:solidFill>
                <a:latin typeface="Calibri" pitchFamily="34" charset="0"/>
                <a:ea typeface="Calibri" pitchFamily="34" charset="-122"/>
                <a:cs typeface="Calibri" pitchFamily="34" charset="-120"/>
              </a:rPr>
              <a:t>Motor de fórmulas</a:t>
            </a:r>
            <a:endParaRPr lang="en-US" sz="1150" dirty="0"/>
          </a:p>
        </p:txBody>
      </p:sp>
      <p:sp>
        <p:nvSpPr>
          <p:cNvPr id="38" name="Text 36"/>
          <p:cNvSpPr/>
          <p:nvPr/>
        </p:nvSpPr>
        <p:spPr>
          <a:xfrm>
            <a:off x="8686800" y="4572000"/>
            <a:ext cx="2834640" cy="365760"/>
          </a:xfrm>
          <a:prstGeom prst="rect">
            <a:avLst/>
          </a:prstGeom>
          <a:noFill/>
          <a:ln/>
        </p:spPr>
        <p:txBody>
          <a:bodyPr wrap="square" lIns="0" tIns="0" rIns="0" bIns="0" rtlCol="0" anchor="ctr"/>
          <a:lstStyle/>
          <a:p>
            <a:pPr indent="0" marL="0">
              <a:buNone/>
            </a:pPr>
            <a:r>
              <a:rPr lang="en-US" sz="1150" dirty="0">
                <a:solidFill>
                  <a:srgbClr val="FFFFFF"/>
                </a:solidFill>
                <a:latin typeface="Consolas" pitchFamily="34" charset="0"/>
                <a:ea typeface="Consolas" pitchFamily="34" charset="-122"/>
                <a:cs typeface="Consolas" pitchFamily="34" charset="-120"/>
              </a:rPr>
              <a:t>exp4j 0.4.8</a:t>
            </a:r>
            <a:endParaRPr lang="en-US" sz="1150" dirty="0"/>
          </a:p>
        </p:txBody>
      </p:sp>
      <p:sp>
        <p:nvSpPr>
          <p:cNvPr id="39" name="Shape 37"/>
          <p:cNvSpPr/>
          <p:nvPr/>
        </p:nvSpPr>
        <p:spPr>
          <a:xfrm>
            <a:off x="6766560" y="4956048"/>
            <a:ext cx="4572000" cy="0"/>
          </a:xfrm>
          <a:prstGeom prst="line">
            <a:avLst/>
          </a:prstGeom>
          <a:noFill/>
          <a:ln w="6350">
            <a:solidFill>
              <a:srgbClr val="1C7293"/>
            </a:solidFill>
            <a:prstDash val="solid"/>
          </a:ln>
        </p:spPr>
      </p:sp>
      <p:sp>
        <p:nvSpPr>
          <p:cNvPr id="40" name="Text 38"/>
          <p:cNvSpPr/>
          <p:nvPr/>
        </p:nvSpPr>
        <p:spPr>
          <a:xfrm>
            <a:off x="6766560" y="5029200"/>
            <a:ext cx="1920240" cy="365760"/>
          </a:xfrm>
          <a:prstGeom prst="rect">
            <a:avLst/>
          </a:prstGeom>
          <a:noFill/>
          <a:ln/>
        </p:spPr>
        <p:txBody>
          <a:bodyPr wrap="square" lIns="0" tIns="0" rIns="0" bIns="0" rtlCol="0" anchor="ctr"/>
          <a:lstStyle/>
          <a:p>
            <a:pPr indent="0" marL="0">
              <a:buNone/>
            </a:pPr>
            <a:r>
              <a:rPr lang="en-US" sz="1150" b="1" dirty="0">
                <a:solidFill>
                  <a:srgbClr val="CADCFC"/>
                </a:solidFill>
                <a:latin typeface="Calibri" pitchFamily="34" charset="0"/>
                <a:ea typeface="Calibri" pitchFamily="34" charset="-122"/>
                <a:cs typeface="Calibri" pitchFamily="34" charset="-120"/>
              </a:rPr>
              <a:t>Frontend (futuro)</a:t>
            </a:r>
            <a:endParaRPr lang="en-US" sz="1150" dirty="0"/>
          </a:p>
        </p:txBody>
      </p:sp>
      <p:sp>
        <p:nvSpPr>
          <p:cNvPr id="41" name="Text 39"/>
          <p:cNvSpPr/>
          <p:nvPr/>
        </p:nvSpPr>
        <p:spPr>
          <a:xfrm>
            <a:off x="8686800" y="5029200"/>
            <a:ext cx="2834640" cy="365760"/>
          </a:xfrm>
          <a:prstGeom prst="rect">
            <a:avLst/>
          </a:prstGeom>
          <a:noFill/>
          <a:ln/>
        </p:spPr>
        <p:txBody>
          <a:bodyPr wrap="square" lIns="0" tIns="0" rIns="0" bIns="0" rtlCol="0" anchor="ctr"/>
          <a:lstStyle/>
          <a:p>
            <a:pPr indent="0" marL="0">
              <a:buNone/>
            </a:pPr>
            <a:r>
              <a:rPr lang="en-US" sz="1150" dirty="0">
                <a:solidFill>
                  <a:srgbClr val="FFFFFF"/>
                </a:solidFill>
                <a:latin typeface="Consolas" pitchFamily="34" charset="0"/>
                <a:ea typeface="Consolas" pitchFamily="34" charset="-122"/>
                <a:cs typeface="Consolas" pitchFamily="34" charset="-120"/>
              </a:rPr>
              <a:t>React 18 + Vite 5</a:t>
            </a:r>
            <a:endParaRPr lang="en-US" sz="1150" dirty="0"/>
          </a:p>
        </p:txBody>
      </p:sp>
      <p:sp>
        <p:nvSpPr>
          <p:cNvPr id="42" name="Shape 40"/>
          <p:cNvSpPr/>
          <p:nvPr/>
        </p:nvSpPr>
        <p:spPr>
          <a:xfrm>
            <a:off x="6766560" y="5413248"/>
            <a:ext cx="4572000" cy="0"/>
          </a:xfrm>
          <a:prstGeom prst="line">
            <a:avLst/>
          </a:prstGeom>
          <a:noFill/>
          <a:ln w="6350">
            <a:solidFill>
              <a:srgbClr val="1C7293"/>
            </a:solidFill>
            <a:prstDash val="solid"/>
          </a:ln>
        </p:spPr>
      </p:sp>
      <p:sp>
        <p:nvSpPr>
          <p:cNvPr id="43" name="Text 41"/>
          <p:cNvSpPr/>
          <p:nvPr/>
        </p:nvSpPr>
        <p:spPr>
          <a:xfrm>
            <a:off x="6766560" y="5486400"/>
            <a:ext cx="1920240" cy="365760"/>
          </a:xfrm>
          <a:prstGeom prst="rect">
            <a:avLst/>
          </a:prstGeom>
          <a:noFill/>
          <a:ln/>
        </p:spPr>
        <p:txBody>
          <a:bodyPr wrap="square" lIns="0" tIns="0" rIns="0" bIns="0" rtlCol="0" anchor="ctr"/>
          <a:lstStyle/>
          <a:p>
            <a:pPr indent="0" marL="0">
              <a:buNone/>
            </a:pPr>
            <a:r>
              <a:rPr lang="en-US" sz="1150" b="1" dirty="0">
                <a:solidFill>
                  <a:srgbClr val="CADCFC"/>
                </a:solidFill>
                <a:latin typeface="Calibri" pitchFamily="34" charset="0"/>
                <a:ea typeface="Calibri" pitchFamily="34" charset="-122"/>
                <a:cs typeface="Calibri" pitchFamily="34" charset="-120"/>
              </a:rPr>
              <a:t>Control de versiones</a:t>
            </a:r>
            <a:endParaRPr lang="en-US" sz="1150" dirty="0"/>
          </a:p>
        </p:txBody>
      </p:sp>
      <p:sp>
        <p:nvSpPr>
          <p:cNvPr id="44" name="Text 42"/>
          <p:cNvSpPr/>
          <p:nvPr/>
        </p:nvSpPr>
        <p:spPr>
          <a:xfrm>
            <a:off x="8686800" y="5486400"/>
            <a:ext cx="2834640" cy="365760"/>
          </a:xfrm>
          <a:prstGeom prst="rect">
            <a:avLst/>
          </a:prstGeom>
          <a:noFill/>
          <a:ln/>
        </p:spPr>
        <p:txBody>
          <a:bodyPr wrap="square" lIns="0" tIns="0" rIns="0" bIns="0" rtlCol="0" anchor="ctr"/>
          <a:lstStyle/>
          <a:p>
            <a:pPr indent="0" marL="0">
              <a:buNone/>
            </a:pPr>
            <a:r>
              <a:rPr lang="en-US" sz="1150" dirty="0">
                <a:solidFill>
                  <a:srgbClr val="FFFFFF"/>
                </a:solidFill>
                <a:latin typeface="Consolas" pitchFamily="34" charset="0"/>
                <a:ea typeface="Consolas" pitchFamily="34" charset="-122"/>
                <a:cs typeface="Consolas" pitchFamily="34" charset="-120"/>
              </a:rPr>
              <a:t>Git  ·  IntelliJ IDEA</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48640" y="411480"/>
            <a:ext cx="11064240" cy="274320"/>
          </a:xfrm>
          <a:prstGeom prst="rect">
            <a:avLst/>
          </a:prstGeom>
          <a:noFill/>
          <a:ln/>
        </p:spPr>
        <p:txBody>
          <a:bodyPr wrap="square" lIns="0" tIns="0" rIns="0" bIns="0" rtlCol="0" anchor="ctr"/>
          <a:lstStyle/>
          <a:p>
            <a:pPr indent="0" marL="0">
              <a:buNone/>
            </a:pPr>
            <a:r>
              <a:rPr lang="en-US" sz="1100" b="1" spc="300" kern="0" dirty="0">
                <a:solidFill>
                  <a:srgbClr val="F59E0B"/>
                </a:solidFill>
                <a:latin typeface="Calibri" pitchFamily="34" charset="0"/>
                <a:ea typeface="Calibri" pitchFamily="34" charset="-122"/>
                <a:cs typeface="Calibri" pitchFamily="34" charset="-120"/>
              </a:rPr>
              <a:t>DIAPOSITIVA 4A  ·  TAREAS REALIZADAS</a:t>
            </a:r>
            <a:endParaRPr lang="en-US" sz="1100" dirty="0"/>
          </a:p>
        </p:txBody>
      </p:sp>
      <p:sp>
        <p:nvSpPr>
          <p:cNvPr id="3" name="Text 1"/>
          <p:cNvSpPr/>
          <p:nvPr/>
        </p:nvSpPr>
        <p:spPr>
          <a:xfrm>
            <a:off x="548640" y="713232"/>
            <a:ext cx="11064240" cy="731520"/>
          </a:xfrm>
          <a:prstGeom prst="rect">
            <a:avLst/>
          </a:prstGeom>
          <a:noFill/>
          <a:ln/>
        </p:spPr>
        <p:txBody>
          <a:bodyPr wrap="square" lIns="0" tIns="0" rIns="0" bIns="0" rtlCol="0" anchor="ctr"/>
          <a:lstStyle/>
          <a:p>
            <a:pPr indent="0" marL="0">
              <a:buNone/>
            </a:pPr>
            <a:r>
              <a:rPr lang="en-US" sz="3200" b="1" dirty="0">
                <a:solidFill>
                  <a:srgbClr val="21295C"/>
                </a:solidFill>
                <a:latin typeface="Cambria" pitchFamily="34" charset="0"/>
                <a:ea typeface="Cambria" pitchFamily="34" charset="-122"/>
                <a:cs typeface="Cambria" pitchFamily="34" charset="-120"/>
              </a:rPr>
              <a:t>Semana 1  ·  Arranque y configuración del entorno</a:t>
            </a:r>
            <a:endParaRPr lang="en-US" sz="3200" dirty="0"/>
          </a:p>
        </p:txBody>
      </p:sp>
      <p:sp>
        <p:nvSpPr>
          <p:cNvPr id="4" name="Text 2"/>
          <p:cNvSpPr/>
          <p:nvPr/>
        </p:nvSpPr>
        <p:spPr>
          <a:xfrm>
            <a:off x="548640" y="6537960"/>
            <a:ext cx="11064240" cy="22860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Práctica Profesional  ·  Avance I  ·  Kevin Campos González  ·  UTN</a:t>
            </a:r>
            <a:endParaRPr lang="en-US" sz="900" dirty="0"/>
          </a:p>
        </p:txBody>
      </p:sp>
      <p:sp>
        <p:nvSpPr>
          <p:cNvPr id="5" name="Shape 3"/>
          <p:cNvSpPr/>
          <p:nvPr/>
        </p:nvSpPr>
        <p:spPr>
          <a:xfrm>
            <a:off x="548640" y="1691640"/>
            <a:ext cx="1554480" cy="411480"/>
          </a:xfrm>
          <a:prstGeom prst="roundRect">
            <a:avLst>
              <a:gd name="adj" fmla="val 17778"/>
            </a:avLst>
          </a:prstGeom>
          <a:solidFill>
            <a:srgbClr val="065A82"/>
          </a:solidFill>
          <a:ln/>
        </p:spPr>
      </p:sp>
      <p:sp>
        <p:nvSpPr>
          <p:cNvPr id="6" name="Text 4"/>
          <p:cNvSpPr/>
          <p:nvPr/>
        </p:nvSpPr>
        <p:spPr>
          <a:xfrm>
            <a:off x="548640" y="1691640"/>
            <a:ext cx="1554480"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22 / 05 / 2026</a:t>
            </a:r>
            <a:endParaRPr lang="en-US" sz="1200" dirty="0"/>
          </a:p>
        </p:txBody>
      </p:sp>
      <p:sp>
        <p:nvSpPr>
          <p:cNvPr id="7" name="Shape 5"/>
          <p:cNvSpPr/>
          <p:nvPr/>
        </p:nvSpPr>
        <p:spPr>
          <a:xfrm>
            <a:off x="2194560" y="1691640"/>
            <a:ext cx="1280160" cy="411480"/>
          </a:xfrm>
          <a:prstGeom prst="roundRect">
            <a:avLst>
              <a:gd name="adj" fmla="val 17778"/>
            </a:avLst>
          </a:prstGeom>
          <a:solidFill>
            <a:srgbClr val="F1F5F9"/>
          </a:solidFill>
          <a:ln w="12700">
            <a:solidFill>
              <a:srgbClr val="E2E8F0"/>
            </a:solidFill>
            <a:prstDash val="solid"/>
          </a:ln>
        </p:spPr>
      </p:sp>
      <p:sp>
        <p:nvSpPr>
          <p:cNvPr id="8" name="Text 6"/>
          <p:cNvSpPr/>
          <p:nvPr/>
        </p:nvSpPr>
        <p:spPr>
          <a:xfrm>
            <a:off x="2194560" y="1691640"/>
            <a:ext cx="1280160" cy="411480"/>
          </a:xfrm>
          <a:prstGeom prst="rect">
            <a:avLst/>
          </a:prstGeom>
          <a:noFill/>
          <a:ln/>
        </p:spPr>
        <p:txBody>
          <a:bodyPr wrap="square" lIns="0" tIns="0" rIns="0" bIns="0" rtlCol="0" anchor="ctr"/>
          <a:lstStyle/>
          <a:p>
            <a:pPr algn="ctr" indent="0" marL="0">
              <a:buNone/>
            </a:pPr>
            <a:r>
              <a:rPr lang="en-US" sz="1200" b="1" dirty="0">
                <a:solidFill>
                  <a:srgbClr val="1E293B"/>
                </a:solidFill>
                <a:latin typeface="Calibri" pitchFamily="34" charset="0"/>
                <a:ea typeface="Calibri" pitchFamily="34" charset="-122"/>
                <a:cs typeface="Calibri" pitchFamily="34" charset="-120"/>
              </a:rPr>
              <a:t>20 horas</a:t>
            </a:r>
            <a:endParaRPr lang="en-US" sz="1200" dirty="0"/>
          </a:p>
        </p:txBody>
      </p:sp>
      <p:sp>
        <p:nvSpPr>
          <p:cNvPr id="9" name="Shape 7"/>
          <p:cNvSpPr/>
          <p:nvPr/>
        </p:nvSpPr>
        <p:spPr>
          <a:xfrm>
            <a:off x="548640" y="2331720"/>
            <a:ext cx="5577840" cy="3931920"/>
          </a:xfrm>
          <a:prstGeom prst="roundRect">
            <a:avLst>
              <a:gd name="adj" fmla="val 2326"/>
            </a:avLst>
          </a:prstGeom>
          <a:solidFill>
            <a:srgbClr val="FFFFFF"/>
          </a:solidFill>
          <a:ln w="12700">
            <a:solidFill>
              <a:srgbClr val="E2E8F0"/>
            </a:solidFill>
            <a:prstDash val="solid"/>
          </a:ln>
          <a:effectLst>
            <a:outerShdw sx="100000" sy="100000" kx="0" ky="0" algn="bl" rotWithShape="0" blurRad="76200" dist="25400" dir="2700000">
              <a:srgbClr val="0F172A">
                <a:alpha val="8000"/>
              </a:srgbClr>
            </a:outerShdw>
          </a:effectLst>
        </p:spPr>
      </p:sp>
      <p:sp>
        <p:nvSpPr>
          <p:cNvPr id="10" name="Text 8"/>
          <p:cNvSpPr/>
          <p:nvPr/>
        </p:nvSpPr>
        <p:spPr>
          <a:xfrm>
            <a:off x="822960" y="2468880"/>
            <a:ext cx="5029200" cy="274320"/>
          </a:xfrm>
          <a:prstGeom prst="rect">
            <a:avLst/>
          </a:prstGeom>
          <a:noFill/>
          <a:ln/>
        </p:spPr>
        <p:txBody>
          <a:bodyPr wrap="square" lIns="0" tIns="0" rIns="0" bIns="0" rtlCol="0" anchor="ctr"/>
          <a:lstStyle/>
          <a:p>
            <a:pPr indent="0" marL="0">
              <a:buNone/>
            </a:pPr>
            <a:r>
              <a:rPr lang="en-US" sz="1000" b="1" spc="300" kern="0" dirty="0">
                <a:solidFill>
                  <a:srgbClr val="10B981"/>
                </a:solidFill>
                <a:latin typeface="Calibri" pitchFamily="34" charset="0"/>
                <a:ea typeface="Calibri" pitchFamily="34" charset="-122"/>
                <a:cs typeface="Calibri" pitchFamily="34" charset="-120"/>
              </a:rPr>
              <a:t>PLANEADAS</a:t>
            </a:r>
            <a:endParaRPr lang="en-US" sz="1000" dirty="0"/>
          </a:p>
        </p:txBody>
      </p:sp>
      <p:sp>
        <p:nvSpPr>
          <p:cNvPr id="11" name="Text 9"/>
          <p:cNvSpPr/>
          <p:nvPr/>
        </p:nvSpPr>
        <p:spPr>
          <a:xfrm>
            <a:off x="822960" y="2743200"/>
            <a:ext cx="5029200" cy="320040"/>
          </a:xfrm>
          <a:prstGeom prst="rect">
            <a:avLst/>
          </a:prstGeom>
          <a:noFill/>
          <a:ln/>
        </p:spPr>
        <p:txBody>
          <a:bodyPr wrap="square" lIns="0" tIns="0" rIns="0" bIns="0" rtlCol="0" anchor="ctr"/>
          <a:lstStyle/>
          <a:p>
            <a:pPr indent="0" marL="0">
              <a:buNone/>
            </a:pPr>
            <a:r>
              <a:rPr lang="en-US" sz="1200" i="1" dirty="0">
                <a:solidFill>
                  <a:srgbClr val="64748B"/>
                </a:solidFill>
                <a:latin typeface="Cambria" pitchFamily="34" charset="0"/>
                <a:ea typeface="Cambria" pitchFamily="34" charset="-122"/>
                <a:cs typeface="Cambria" pitchFamily="34" charset="-120"/>
              </a:rPr>
              <a:t>Lo que estaba previsto para la semana</a:t>
            </a:r>
            <a:endParaRPr lang="en-US" sz="1200" dirty="0"/>
          </a:p>
        </p:txBody>
      </p:sp>
      <p:sp>
        <p:nvSpPr>
          <p:cNvPr id="12" name="Text 10"/>
          <p:cNvSpPr/>
          <p:nvPr/>
        </p:nvSpPr>
        <p:spPr>
          <a:xfrm>
            <a:off x="822960" y="3154680"/>
            <a:ext cx="5029200" cy="3017520"/>
          </a:xfrm>
          <a:prstGeom prst="rect">
            <a:avLst/>
          </a:prstGeom>
          <a:noFill/>
          <a:ln/>
        </p:spPr>
        <p:txBody>
          <a:bodyPr wrap="square" lIns="0" tIns="0" rIns="0" bIns="0" rtlCol="0" anchor="t"/>
          <a:lstStyle/>
          <a:p>
            <a:pPr indent="0" marL="0">
              <a:spcAft>
                <a:spcPts val="400"/>
              </a:spcAft>
              <a:buNone/>
            </a:pPr>
            <a:r>
              <a:rPr lang="en-US" sz="1200" b="1" dirty="0">
                <a:solidFill>
                  <a:srgbClr val="1E293B"/>
                </a:solidFill>
                <a:latin typeface="Calibri" pitchFamily="34" charset="0"/>
                <a:ea typeface="Calibri" pitchFamily="34" charset="-122"/>
                <a:cs typeface="Calibri" pitchFamily="34" charset="-120"/>
              </a:rPr>
              <a:t>a. Reunión de arranque con el supervisor</a:t>
            </a:r>
            <a:endParaRPr lang="en-US" sz="1200" dirty="0"/>
          </a:p>
          <a:p>
            <a:pPr indent="0" marL="0">
              <a:spcAft>
                <a:spcPts val="1400"/>
              </a:spcAft>
              <a:buNone/>
            </a:pPr>
            <a:r>
              <a:rPr lang="en-US" sz="1100" dirty="0">
                <a:solidFill>
                  <a:srgbClr val="64748B"/>
                </a:solidFill>
                <a:latin typeface="Calibri" pitchFamily="34" charset="0"/>
                <a:ea typeface="Calibri" pitchFamily="34" charset="-122"/>
                <a:cs typeface="Calibri" pitchFamily="34" charset="-120"/>
              </a:rPr>
              <a:t>      Revisión de alcance, objetivos del sistema y roles del proyecto.</a:t>
            </a:r>
            <a:endParaRPr lang="en-US" sz="1200" dirty="0"/>
          </a:p>
          <a:p>
            <a:pPr indent="0" marL="0">
              <a:spcAft>
                <a:spcPts val="400"/>
              </a:spcAft>
              <a:buNone/>
            </a:pPr>
            <a:r>
              <a:rPr lang="en-US" sz="1200" b="1" dirty="0">
                <a:solidFill>
                  <a:srgbClr val="1E293B"/>
                </a:solidFill>
                <a:latin typeface="Calibri" pitchFamily="34" charset="0"/>
                <a:ea typeface="Calibri" pitchFamily="34" charset="-122"/>
                <a:cs typeface="Calibri" pitchFamily="34" charset="-120"/>
              </a:rPr>
              <a:t>b. Configurar el ambiente de desarrollo local</a:t>
            </a:r>
            <a:endParaRPr lang="en-US" sz="1200" dirty="0"/>
          </a:p>
          <a:p>
            <a:pPr indent="0" marL="0">
              <a:spcAft>
                <a:spcPts val="1400"/>
              </a:spcAft>
              <a:buNone/>
            </a:pPr>
            <a:r>
              <a:rPr lang="en-US" sz="1100" dirty="0">
                <a:solidFill>
                  <a:srgbClr val="64748B"/>
                </a:solidFill>
                <a:latin typeface="Calibri" pitchFamily="34" charset="0"/>
                <a:ea typeface="Calibri" pitchFamily="34" charset="-122"/>
                <a:cs typeface="Calibri" pitchFamily="34" charset="-120"/>
              </a:rPr>
              <a:t>      Java 21  ·  Maven  ·  MariaDB 10.11  ·  Node.js 18  ·  Git</a:t>
            </a:r>
            <a:endParaRPr lang="en-US" sz="1200" dirty="0"/>
          </a:p>
          <a:p>
            <a:pPr indent="0" marL="0">
              <a:spcAft>
                <a:spcPts val="400"/>
              </a:spcAft>
              <a:buNone/>
            </a:pPr>
            <a:r>
              <a:rPr lang="en-US" sz="1200" b="1" dirty="0">
                <a:solidFill>
                  <a:srgbClr val="1E293B"/>
                </a:solidFill>
                <a:latin typeface="Calibri" pitchFamily="34" charset="0"/>
                <a:ea typeface="Calibri" pitchFamily="34" charset="-122"/>
                <a:cs typeface="Calibri" pitchFamily="34" charset="-120"/>
              </a:rPr>
              <a:t>c. Revisión de la propuesta inicial de base de datos</a:t>
            </a:r>
            <a:endParaRPr lang="en-US" sz="1200" dirty="0"/>
          </a:p>
          <a:p>
            <a:pPr indent="0" marL="0">
              <a:buNone/>
            </a:pPr>
            <a:r>
              <a:rPr lang="en-US" sz="1100" dirty="0">
                <a:solidFill>
                  <a:srgbClr val="64748B"/>
                </a:solidFill>
                <a:latin typeface="Calibri" pitchFamily="34" charset="0"/>
                <a:ea typeface="Calibri" pitchFamily="34" charset="-122"/>
                <a:cs typeface="Calibri" pitchFamily="34" charset="-120"/>
              </a:rPr>
              <a:t>      Comprensión de la estructura de los 17 ODS de la Agenda 2030.</a:t>
            </a:r>
            <a:endParaRPr lang="en-US" sz="1200" dirty="0"/>
          </a:p>
        </p:txBody>
      </p:sp>
      <p:sp>
        <p:nvSpPr>
          <p:cNvPr id="13" name="Shape 11"/>
          <p:cNvSpPr/>
          <p:nvPr/>
        </p:nvSpPr>
        <p:spPr>
          <a:xfrm>
            <a:off x="6400800" y="2331720"/>
            <a:ext cx="5212080" cy="3931920"/>
          </a:xfrm>
          <a:prstGeom prst="roundRect">
            <a:avLst>
              <a:gd name="adj" fmla="val 2326"/>
            </a:avLst>
          </a:prstGeom>
          <a:solidFill>
            <a:srgbClr val="FFFBEB"/>
          </a:solidFill>
          <a:ln w="12700">
            <a:solidFill>
              <a:srgbClr val="FCD34D"/>
            </a:solidFill>
            <a:prstDash val="solid"/>
          </a:ln>
          <a:effectLst>
            <a:outerShdw sx="100000" sy="100000" kx="0" ky="0" algn="bl" rotWithShape="0" blurRad="76200" dist="25400" dir="2700000">
              <a:srgbClr val="0F172A">
                <a:alpha val="8000"/>
              </a:srgbClr>
            </a:outerShdw>
          </a:effectLst>
        </p:spPr>
      </p:sp>
      <p:sp>
        <p:nvSpPr>
          <p:cNvPr id="14" name="Text 12"/>
          <p:cNvSpPr/>
          <p:nvPr/>
        </p:nvSpPr>
        <p:spPr>
          <a:xfrm>
            <a:off x="6675120" y="2468880"/>
            <a:ext cx="4663440" cy="274320"/>
          </a:xfrm>
          <a:prstGeom prst="rect">
            <a:avLst/>
          </a:prstGeom>
          <a:noFill/>
          <a:ln/>
        </p:spPr>
        <p:txBody>
          <a:bodyPr wrap="square" lIns="0" tIns="0" rIns="0" bIns="0" rtlCol="0" anchor="ctr"/>
          <a:lstStyle/>
          <a:p>
            <a:pPr indent="0" marL="0">
              <a:buNone/>
            </a:pPr>
            <a:r>
              <a:rPr lang="en-US" sz="1000" b="1" spc="300" kern="0" dirty="0">
                <a:solidFill>
                  <a:srgbClr val="D97706"/>
                </a:solidFill>
                <a:latin typeface="Calibri" pitchFamily="34" charset="0"/>
                <a:ea typeface="Calibri" pitchFamily="34" charset="-122"/>
                <a:cs typeface="Calibri" pitchFamily="34" charset="-120"/>
              </a:rPr>
              <a:t>NO PLANEADAS</a:t>
            </a:r>
            <a:endParaRPr lang="en-US" sz="1000" dirty="0"/>
          </a:p>
        </p:txBody>
      </p:sp>
      <p:sp>
        <p:nvSpPr>
          <p:cNvPr id="15" name="Text 13"/>
          <p:cNvSpPr/>
          <p:nvPr/>
        </p:nvSpPr>
        <p:spPr>
          <a:xfrm>
            <a:off x="6675120" y="2743200"/>
            <a:ext cx="4663440" cy="320040"/>
          </a:xfrm>
          <a:prstGeom prst="rect">
            <a:avLst/>
          </a:prstGeom>
          <a:noFill/>
          <a:ln/>
        </p:spPr>
        <p:txBody>
          <a:bodyPr wrap="square" lIns="0" tIns="0" rIns="0" bIns="0" rtlCol="0" anchor="ctr"/>
          <a:lstStyle/>
          <a:p>
            <a:pPr indent="0" marL="0">
              <a:buNone/>
            </a:pPr>
            <a:r>
              <a:rPr lang="en-US" sz="1200" i="1" dirty="0">
                <a:solidFill>
                  <a:srgbClr val="64748B"/>
                </a:solidFill>
                <a:latin typeface="Cambria" pitchFamily="34" charset="0"/>
                <a:ea typeface="Cambria" pitchFamily="34" charset="-122"/>
                <a:cs typeface="Cambria" pitchFamily="34" charset="-120"/>
              </a:rPr>
              <a:t>Imprevisto resuelto durante la semana</a:t>
            </a:r>
            <a:endParaRPr lang="en-US" sz="1200" dirty="0"/>
          </a:p>
        </p:txBody>
      </p:sp>
      <p:sp>
        <p:nvSpPr>
          <p:cNvPr id="16" name="Text 14"/>
          <p:cNvSpPr/>
          <p:nvPr/>
        </p:nvSpPr>
        <p:spPr>
          <a:xfrm>
            <a:off x="6675120" y="3154680"/>
            <a:ext cx="4663440" cy="2743200"/>
          </a:xfrm>
          <a:prstGeom prst="rect">
            <a:avLst/>
          </a:prstGeom>
          <a:noFill/>
          <a:ln/>
        </p:spPr>
        <p:txBody>
          <a:bodyPr wrap="square" lIns="0" tIns="0" rIns="0" bIns="0" rtlCol="0" anchor="t"/>
          <a:lstStyle/>
          <a:p>
            <a:pPr indent="0" marL="0">
              <a:spcAft>
                <a:spcPts val="1000"/>
              </a:spcAft>
              <a:buNone/>
            </a:pPr>
            <a:r>
              <a:rPr lang="en-US" sz="1200" b="1" dirty="0">
                <a:solidFill>
                  <a:srgbClr val="1E293B"/>
                </a:solidFill>
                <a:latin typeface="Calibri" pitchFamily="34" charset="0"/>
                <a:ea typeface="Calibri" pitchFamily="34" charset="-122"/>
                <a:cs typeface="Calibri" pitchFamily="34" charset="-120"/>
              </a:rPr>
              <a:t>Inconsistencias en la propuesta original de BD</a:t>
            </a:r>
            <a:endParaRPr lang="en-US" sz="1200" dirty="0"/>
          </a:p>
          <a:p>
            <a:pPr indent="0" marL="0">
              <a:buNone/>
            </a:pPr>
            <a:r>
              <a:rPr lang="en-US" sz="1150" dirty="0">
                <a:solidFill>
                  <a:srgbClr val="64748B"/>
                </a:solidFill>
                <a:latin typeface="Calibri" pitchFamily="34" charset="0"/>
                <a:ea typeface="Calibri" pitchFamily="34" charset="-122"/>
                <a:cs typeface="Calibri" pitchFamily="34" charset="-120"/>
              </a:rPr>
              <a:t>Se detectaron nombres de tablas inconsistentes entre los distintos ODS de la propuesta original. Se elaboró un documento de análisis comparativo y se decidió trabajar con la carpeta </a:t>
            </a:r>
            <a:pPr indent="0" marL="0">
              <a:buNone/>
            </a:pPr>
            <a:r>
              <a:rPr lang="en-US" sz="1150" b="1" dirty="0">
                <a:solidFill>
                  <a:srgbClr val="21295C"/>
                </a:solidFill>
                <a:latin typeface="Consolas" pitchFamily="34" charset="0"/>
                <a:ea typeface="Consolas" pitchFamily="34" charset="-122"/>
                <a:cs typeface="Consolas" pitchFamily="34" charset="-120"/>
              </a:rPr>
              <a:t>propuesta_actual</a:t>
            </a:r>
            <a:pPr indent="0" marL="0">
              <a:buNone/>
            </a:pPr>
            <a:r>
              <a:rPr lang="en-US" sz="1150" dirty="0">
                <a:solidFill>
                  <a:srgbClr val="64748B"/>
                </a:solidFill>
                <a:latin typeface="Calibri" pitchFamily="34" charset="0"/>
                <a:ea typeface="Calibri" pitchFamily="34" charset="-122"/>
                <a:cs typeface="Calibri" pitchFamily="34" charset="-120"/>
              </a:rPr>
              <a:t> que contiene los scripts definitivos antes de empezar a codificar.</a:t>
            </a:r>
            <a:endParaRPr lang="en-US" sz="1200" dirty="0"/>
          </a:p>
        </p:txBody>
      </p:sp>
      <p:sp>
        <p:nvSpPr>
          <p:cNvPr id="17" name="Text 15"/>
          <p:cNvSpPr/>
          <p:nvPr/>
        </p:nvSpPr>
        <p:spPr>
          <a:xfrm>
            <a:off x="6675120" y="5852160"/>
            <a:ext cx="4663440" cy="320040"/>
          </a:xfrm>
          <a:prstGeom prst="rect">
            <a:avLst/>
          </a:prstGeom>
          <a:noFill/>
          <a:ln/>
        </p:spPr>
        <p:txBody>
          <a:bodyPr wrap="square" lIns="0" tIns="0" rIns="0" bIns="0" rtlCol="0" anchor="ctr"/>
          <a:lstStyle/>
          <a:p>
            <a:pPr indent="0" marL="0">
              <a:buNone/>
            </a:pPr>
            <a:r>
              <a:rPr lang="en-US" sz="1100" i="1" dirty="0">
                <a:solidFill>
                  <a:srgbClr val="10B981"/>
                </a:solidFill>
                <a:latin typeface="Calibri" pitchFamily="34" charset="0"/>
                <a:ea typeface="Calibri" pitchFamily="34" charset="-122"/>
                <a:cs typeface="Calibri" pitchFamily="34" charset="-120"/>
              </a:rPr>
              <a:t>✓  Entorno funcional y compilando contra repositorio institucional clonado.</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48640" y="411480"/>
            <a:ext cx="11064240" cy="274320"/>
          </a:xfrm>
          <a:prstGeom prst="rect">
            <a:avLst/>
          </a:prstGeom>
          <a:noFill/>
          <a:ln/>
        </p:spPr>
        <p:txBody>
          <a:bodyPr wrap="square" lIns="0" tIns="0" rIns="0" bIns="0" rtlCol="0" anchor="ctr"/>
          <a:lstStyle/>
          <a:p>
            <a:pPr indent="0" marL="0">
              <a:buNone/>
            </a:pPr>
            <a:r>
              <a:rPr lang="en-US" sz="1100" b="1" spc="300" kern="0" dirty="0">
                <a:solidFill>
                  <a:srgbClr val="F59E0B"/>
                </a:solidFill>
                <a:latin typeface="Calibri" pitchFamily="34" charset="0"/>
                <a:ea typeface="Calibri" pitchFamily="34" charset="-122"/>
                <a:cs typeface="Calibri" pitchFamily="34" charset="-120"/>
              </a:rPr>
              <a:t>DIAPOSITIVA 4B  ·  TAREAS REALIZADAS</a:t>
            </a:r>
            <a:endParaRPr lang="en-US" sz="1100" dirty="0"/>
          </a:p>
        </p:txBody>
      </p:sp>
      <p:sp>
        <p:nvSpPr>
          <p:cNvPr id="3" name="Text 1"/>
          <p:cNvSpPr/>
          <p:nvPr/>
        </p:nvSpPr>
        <p:spPr>
          <a:xfrm>
            <a:off x="548640" y="713232"/>
            <a:ext cx="11064240" cy="731520"/>
          </a:xfrm>
          <a:prstGeom prst="rect">
            <a:avLst/>
          </a:prstGeom>
          <a:noFill/>
          <a:ln/>
        </p:spPr>
        <p:txBody>
          <a:bodyPr wrap="square" lIns="0" tIns="0" rIns="0" bIns="0" rtlCol="0" anchor="ctr"/>
          <a:lstStyle/>
          <a:p>
            <a:pPr indent="0" marL="0">
              <a:buNone/>
            </a:pPr>
            <a:r>
              <a:rPr lang="en-US" sz="3200" b="1" dirty="0">
                <a:solidFill>
                  <a:srgbClr val="21295C"/>
                </a:solidFill>
                <a:latin typeface="Cambria" pitchFamily="34" charset="0"/>
                <a:ea typeface="Cambria" pitchFamily="34" charset="-122"/>
                <a:cs typeface="Cambria" pitchFamily="34" charset="-120"/>
              </a:rPr>
              <a:t>Semana 2  ·  Diseño de bases de datos centrales</a:t>
            </a:r>
            <a:endParaRPr lang="en-US" sz="3200" dirty="0"/>
          </a:p>
        </p:txBody>
      </p:sp>
      <p:sp>
        <p:nvSpPr>
          <p:cNvPr id="4" name="Text 2"/>
          <p:cNvSpPr/>
          <p:nvPr/>
        </p:nvSpPr>
        <p:spPr>
          <a:xfrm>
            <a:off x="548640" y="6537960"/>
            <a:ext cx="11064240" cy="22860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Práctica Profesional  ·  Avance I  ·  Kevin Campos González  ·  UTN</a:t>
            </a:r>
            <a:endParaRPr lang="en-US" sz="900" dirty="0"/>
          </a:p>
        </p:txBody>
      </p:sp>
      <p:sp>
        <p:nvSpPr>
          <p:cNvPr id="5" name="Shape 3"/>
          <p:cNvSpPr/>
          <p:nvPr/>
        </p:nvSpPr>
        <p:spPr>
          <a:xfrm>
            <a:off x="548640" y="1691640"/>
            <a:ext cx="1554480" cy="411480"/>
          </a:xfrm>
          <a:prstGeom prst="roundRect">
            <a:avLst>
              <a:gd name="adj" fmla="val 17778"/>
            </a:avLst>
          </a:prstGeom>
          <a:solidFill>
            <a:srgbClr val="065A82"/>
          </a:solidFill>
          <a:ln/>
        </p:spPr>
      </p:sp>
      <p:sp>
        <p:nvSpPr>
          <p:cNvPr id="6" name="Text 4"/>
          <p:cNvSpPr/>
          <p:nvPr/>
        </p:nvSpPr>
        <p:spPr>
          <a:xfrm>
            <a:off x="548640" y="1691640"/>
            <a:ext cx="1554480"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29 / 05 / 2026</a:t>
            </a:r>
            <a:endParaRPr lang="en-US" sz="1200" dirty="0"/>
          </a:p>
        </p:txBody>
      </p:sp>
      <p:sp>
        <p:nvSpPr>
          <p:cNvPr id="7" name="Shape 5"/>
          <p:cNvSpPr/>
          <p:nvPr/>
        </p:nvSpPr>
        <p:spPr>
          <a:xfrm>
            <a:off x="2194560" y="1691640"/>
            <a:ext cx="1280160" cy="411480"/>
          </a:xfrm>
          <a:prstGeom prst="roundRect">
            <a:avLst>
              <a:gd name="adj" fmla="val 17778"/>
            </a:avLst>
          </a:prstGeom>
          <a:solidFill>
            <a:srgbClr val="F1F5F9"/>
          </a:solidFill>
          <a:ln w="12700">
            <a:solidFill>
              <a:srgbClr val="E2E8F0"/>
            </a:solidFill>
            <a:prstDash val="solid"/>
          </a:ln>
        </p:spPr>
      </p:sp>
      <p:sp>
        <p:nvSpPr>
          <p:cNvPr id="8" name="Text 6"/>
          <p:cNvSpPr/>
          <p:nvPr/>
        </p:nvSpPr>
        <p:spPr>
          <a:xfrm>
            <a:off x="2194560" y="1691640"/>
            <a:ext cx="1280160" cy="411480"/>
          </a:xfrm>
          <a:prstGeom prst="rect">
            <a:avLst/>
          </a:prstGeom>
          <a:noFill/>
          <a:ln/>
        </p:spPr>
        <p:txBody>
          <a:bodyPr wrap="square" lIns="0" tIns="0" rIns="0" bIns="0" rtlCol="0" anchor="ctr"/>
          <a:lstStyle/>
          <a:p>
            <a:pPr algn="ctr" indent="0" marL="0">
              <a:buNone/>
            </a:pPr>
            <a:r>
              <a:rPr lang="en-US" sz="1200" b="1" dirty="0">
                <a:solidFill>
                  <a:srgbClr val="1E293B"/>
                </a:solidFill>
                <a:latin typeface="Calibri" pitchFamily="34" charset="0"/>
                <a:ea typeface="Calibri" pitchFamily="34" charset="-122"/>
                <a:cs typeface="Calibri" pitchFamily="34" charset="-120"/>
              </a:rPr>
              <a:t>20 horas</a:t>
            </a:r>
            <a:endParaRPr lang="en-US" sz="1200" dirty="0"/>
          </a:p>
        </p:txBody>
      </p:sp>
      <p:sp>
        <p:nvSpPr>
          <p:cNvPr id="9" name="Text 7"/>
          <p:cNvSpPr/>
          <p:nvPr/>
        </p:nvSpPr>
        <p:spPr>
          <a:xfrm>
            <a:off x="548640" y="2331720"/>
            <a:ext cx="6035040" cy="274320"/>
          </a:xfrm>
          <a:prstGeom prst="rect">
            <a:avLst/>
          </a:prstGeom>
          <a:noFill/>
          <a:ln/>
        </p:spPr>
        <p:txBody>
          <a:bodyPr wrap="square" lIns="0" tIns="0" rIns="0" bIns="0" rtlCol="0" anchor="ctr"/>
          <a:lstStyle/>
          <a:p>
            <a:pPr indent="0" marL="0">
              <a:buNone/>
            </a:pPr>
            <a:r>
              <a:rPr lang="en-US" sz="1000" b="1" spc="300" kern="0" dirty="0">
                <a:solidFill>
                  <a:srgbClr val="F59E0B"/>
                </a:solidFill>
                <a:latin typeface="Calibri" pitchFamily="34" charset="0"/>
                <a:ea typeface="Calibri" pitchFamily="34" charset="-122"/>
                <a:cs typeface="Calibri" pitchFamily="34" charset="-120"/>
              </a:rPr>
              <a:t>ENTREGABLES</a:t>
            </a:r>
            <a:endParaRPr lang="en-US" sz="1000" dirty="0"/>
          </a:p>
        </p:txBody>
      </p:sp>
      <p:sp>
        <p:nvSpPr>
          <p:cNvPr id="10" name="Shape 8"/>
          <p:cNvSpPr/>
          <p:nvPr/>
        </p:nvSpPr>
        <p:spPr>
          <a:xfrm>
            <a:off x="548640" y="2743200"/>
            <a:ext cx="365760" cy="365760"/>
          </a:xfrm>
          <a:prstGeom prst="ellipse">
            <a:avLst/>
          </a:prstGeom>
          <a:solidFill>
            <a:srgbClr val="065A82"/>
          </a:solidFill>
          <a:ln/>
        </p:spPr>
      </p:sp>
      <p:sp>
        <p:nvSpPr>
          <p:cNvPr id="11" name="Text 9"/>
          <p:cNvSpPr/>
          <p:nvPr/>
        </p:nvSpPr>
        <p:spPr>
          <a:xfrm>
            <a:off x="548640" y="274320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2" name="Text 10"/>
          <p:cNvSpPr/>
          <p:nvPr/>
        </p:nvSpPr>
        <p:spPr>
          <a:xfrm>
            <a:off x="1097280" y="2697480"/>
            <a:ext cx="5394960" cy="365760"/>
          </a:xfrm>
          <a:prstGeom prst="rect">
            <a:avLst/>
          </a:prstGeom>
          <a:noFill/>
          <a:ln/>
        </p:spPr>
        <p:txBody>
          <a:bodyPr wrap="square" lIns="0" tIns="0" rIns="0" bIns="0" rtlCol="0" anchor="ctr"/>
          <a:lstStyle/>
          <a:p>
            <a:pPr indent="0" marL="0">
              <a:buNone/>
            </a:pPr>
            <a:r>
              <a:rPr lang="en-US" sz="1400" b="1" dirty="0">
                <a:solidFill>
                  <a:srgbClr val="21295C"/>
                </a:solidFill>
                <a:latin typeface="Consolas" pitchFamily="34" charset="0"/>
                <a:ea typeface="Consolas" pitchFamily="34" charset="-122"/>
                <a:cs typeface="Consolas" pitchFamily="34" charset="-120"/>
              </a:rPr>
              <a:t>login_system.sql</a:t>
            </a:r>
            <a:endParaRPr lang="en-US" sz="1400" dirty="0"/>
          </a:p>
        </p:txBody>
      </p:sp>
      <p:sp>
        <p:nvSpPr>
          <p:cNvPr id="13" name="Text 11"/>
          <p:cNvSpPr/>
          <p:nvPr/>
        </p:nvSpPr>
        <p:spPr>
          <a:xfrm>
            <a:off x="1097280" y="3108960"/>
            <a:ext cx="5394960" cy="777240"/>
          </a:xfrm>
          <a:prstGeom prst="rect">
            <a:avLst/>
          </a:prstGeom>
          <a:noFill/>
          <a:ln/>
        </p:spPr>
        <p:txBody>
          <a:bodyPr wrap="square" lIns="0" tIns="0" rIns="0" bIns="0" rtlCol="0" anchor="ctr"/>
          <a:lstStyle/>
          <a:p>
            <a:pPr indent="0" marL="0">
              <a:spcAft>
                <a:spcPts val="200"/>
              </a:spcAft>
              <a:buNone/>
            </a:pPr>
            <a:r>
              <a:rPr lang="en-US" sz="1150" dirty="0">
                <a:solidFill>
                  <a:srgbClr val="475569"/>
                </a:solidFill>
                <a:latin typeface="Calibri" pitchFamily="34" charset="0"/>
                <a:ea typeface="Calibri" pitchFamily="34" charset="-122"/>
                <a:cs typeface="Calibri" pitchFamily="34" charset="-120"/>
              </a:rPr>
              <a:t>Tablas roles (admin, gestor, consultor, evaluador), usuarios, sedes y ods_catalog. Inserción de los 17 ODS de la Agenda 2030.</a:t>
            </a:r>
            <a:endParaRPr lang="en-US" sz="1150" dirty="0"/>
          </a:p>
        </p:txBody>
      </p:sp>
      <p:sp>
        <p:nvSpPr>
          <p:cNvPr id="14" name="Shape 12"/>
          <p:cNvSpPr/>
          <p:nvPr/>
        </p:nvSpPr>
        <p:spPr>
          <a:xfrm>
            <a:off x="548640" y="3977640"/>
            <a:ext cx="365760" cy="365760"/>
          </a:xfrm>
          <a:prstGeom prst="ellipse">
            <a:avLst/>
          </a:prstGeom>
          <a:solidFill>
            <a:srgbClr val="065A82"/>
          </a:solidFill>
          <a:ln/>
        </p:spPr>
      </p:sp>
      <p:sp>
        <p:nvSpPr>
          <p:cNvPr id="15" name="Text 13"/>
          <p:cNvSpPr/>
          <p:nvPr/>
        </p:nvSpPr>
        <p:spPr>
          <a:xfrm>
            <a:off x="548640" y="397764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6" name="Text 14"/>
          <p:cNvSpPr/>
          <p:nvPr/>
        </p:nvSpPr>
        <p:spPr>
          <a:xfrm>
            <a:off x="1097280" y="3931920"/>
            <a:ext cx="5394960" cy="365760"/>
          </a:xfrm>
          <a:prstGeom prst="rect">
            <a:avLst/>
          </a:prstGeom>
          <a:noFill/>
          <a:ln/>
        </p:spPr>
        <p:txBody>
          <a:bodyPr wrap="square" lIns="0" tIns="0" rIns="0" bIns="0" rtlCol="0" anchor="ctr"/>
          <a:lstStyle/>
          <a:p>
            <a:pPr indent="0" marL="0">
              <a:buNone/>
            </a:pPr>
            <a:r>
              <a:rPr lang="en-US" sz="1400" b="1" dirty="0">
                <a:solidFill>
                  <a:srgbClr val="21295C"/>
                </a:solidFill>
                <a:latin typeface="Consolas" pitchFamily="34" charset="0"/>
                <a:ea typeface="Consolas" pitchFamily="34" charset="-122"/>
                <a:cs typeface="Consolas" pitchFamily="34" charset="-120"/>
              </a:rPr>
              <a:t>ods_master_database.sql</a:t>
            </a:r>
            <a:endParaRPr lang="en-US" sz="1400" dirty="0"/>
          </a:p>
        </p:txBody>
      </p:sp>
      <p:sp>
        <p:nvSpPr>
          <p:cNvPr id="17" name="Text 15"/>
          <p:cNvSpPr/>
          <p:nvPr/>
        </p:nvSpPr>
        <p:spPr>
          <a:xfrm>
            <a:off x="1097280" y="4343400"/>
            <a:ext cx="5394960" cy="777240"/>
          </a:xfrm>
          <a:prstGeom prst="rect">
            <a:avLst/>
          </a:prstGeom>
          <a:noFill/>
          <a:ln/>
        </p:spPr>
        <p:txBody>
          <a:bodyPr wrap="square" lIns="0" tIns="0" rIns="0" bIns="0" rtlCol="0" anchor="ctr"/>
          <a:lstStyle/>
          <a:p>
            <a:pPr indent="0" marL="0">
              <a:spcAft>
                <a:spcPts val="200"/>
              </a:spcAft>
              <a:buNone/>
            </a:pPr>
            <a:r>
              <a:rPr lang="en-US" sz="1150" dirty="0">
                <a:solidFill>
                  <a:srgbClr val="475569"/>
                </a:solidFill>
                <a:latin typeface="Calibri" pitchFamily="34" charset="0"/>
                <a:ea typeface="Calibri" pitchFamily="34" charset="-122"/>
                <a:cs typeface="Calibri" pitchFamily="34" charset="-120"/>
              </a:rPr>
              <a:t>Tabla proyectos con llaves foráneas a ods_login.usuarios y ods_login.sedes. Campos de estado, fechas y ubicación.</a:t>
            </a:r>
            <a:endParaRPr lang="en-US" sz="1150" dirty="0"/>
          </a:p>
        </p:txBody>
      </p:sp>
      <p:sp>
        <p:nvSpPr>
          <p:cNvPr id="18" name="Shape 16"/>
          <p:cNvSpPr/>
          <p:nvPr/>
        </p:nvSpPr>
        <p:spPr>
          <a:xfrm>
            <a:off x="548640" y="5212080"/>
            <a:ext cx="365760" cy="365760"/>
          </a:xfrm>
          <a:prstGeom prst="ellipse">
            <a:avLst/>
          </a:prstGeom>
          <a:solidFill>
            <a:srgbClr val="065A82"/>
          </a:solidFill>
          <a:ln/>
        </p:spPr>
      </p:sp>
      <p:sp>
        <p:nvSpPr>
          <p:cNvPr id="19" name="Text 17"/>
          <p:cNvSpPr/>
          <p:nvPr/>
        </p:nvSpPr>
        <p:spPr>
          <a:xfrm>
            <a:off x="548640" y="521208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0" name="Text 18"/>
          <p:cNvSpPr/>
          <p:nvPr/>
        </p:nvSpPr>
        <p:spPr>
          <a:xfrm>
            <a:off x="1097280" y="5166360"/>
            <a:ext cx="5394960" cy="365760"/>
          </a:xfrm>
          <a:prstGeom prst="rect">
            <a:avLst/>
          </a:prstGeom>
          <a:noFill/>
          <a:ln/>
        </p:spPr>
        <p:txBody>
          <a:bodyPr wrap="square" lIns="0" tIns="0" rIns="0" bIns="0" rtlCol="0" anchor="ctr"/>
          <a:lstStyle/>
          <a:p>
            <a:pPr indent="0" marL="0">
              <a:buNone/>
            </a:pPr>
            <a:r>
              <a:rPr lang="en-US" sz="1400" b="1" dirty="0">
                <a:solidFill>
                  <a:srgbClr val="21295C"/>
                </a:solidFill>
                <a:latin typeface="Consolas" pitchFamily="34" charset="0"/>
                <a:ea typeface="Consolas" pitchFamily="34" charset="-122"/>
                <a:cs typeface="Consolas" pitchFamily="34" charset="-120"/>
              </a:rPr>
              <a:t>ods01 → ods04</a:t>
            </a:r>
            <a:endParaRPr lang="en-US" sz="1400" dirty="0"/>
          </a:p>
        </p:txBody>
      </p:sp>
      <p:sp>
        <p:nvSpPr>
          <p:cNvPr id="21" name="Text 19"/>
          <p:cNvSpPr/>
          <p:nvPr/>
        </p:nvSpPr>
        <p:spPr>
          <a:xfrm>
            <a:off x="1097280" y="5577840"/>
            <a:ext cx="5394960" cy="777240"/>
          </a:xfrm>
          <a:prstGeom prst="rect">
            <a:avLst/>
          </a:prstGeom>
          <a:noFill/>
          <a:ln/>
        </p:spPr>
        <p:txBody>
          <a:bodyPr wrap="square" lIns="0" tIns="0" rIns="0" bIns="0" rtlCol="0" anchor="ctr"/>
          <a:lstStyle/>
          <a:p>
            <a:pPr indent="0" marL="0">
              <a:spcAft>
                <a:spcPts val="200"/>
              </a:spcAft>
              <a:buNone/>
            </a:pPr>
            <a:r>
              <a:rPr lang="en-US" sz="1150" dirty="0">
                <a:solidFill>
                  <a:srgbClr val="475569"/>
                </a:solidFill>
                <a:latin typeface="Calibri" pitchFamily="34" charset="0"/>
                <a:ea typeface="Calibri" pitchFamily="34" charset="-122"/>
                <a:cs typeface="Calibri" pitchFamily="34" charset="-120"/>
              </a:rPr>
              <a:t>Cuatro primeras BD por ODS. Cada una con proyecto_indicadores, proyecto_indicador_parametros, mediciones_historicas y auditoria_ods0X.</a:t>
            </a:r>
            <a:endParaRPr lang="en-US" sz="1150" dirty="0"/>
          </a:p>
        </p:txBody>
      </p:sp>
      <p:sp>
        <p:nvSpPr>
          <p:cNvPr id="22" name="Shape 20"/>
          <p:cNvSpPr/>
          <p:nvPr/>
        </p:nvSpPr>
        <p:spPr>
          <a:xfrm>
            <a:off x="6858000" y="2331720"/>
            <a:ext cx="4754880" cy="3931920"/>
          </a:xfrm>
          <a:prstGeom prst="roundRect">
            <a:avLst>
              <a:gd name="adj" fmla="val 2326"/>
            </a:avLst>
          </a:prstGeom>
          <a:solidFill>
            <a:srgbClr val="FFFBEB"/>
          </a:solidFill>
          <a:ln w="12700">
            <a:solidFill>
              <a:srgbClr val="FCD34D"/>
            </a:solidFill>
            <a:prstDash val="solid"/>
          </a:ln>
          <a:effectLst>
            <a:outerShdw sx="100000" sy="100000" kx="0" ky="0" algn="bl" rotWithShape="0" blurRad="76200" dist="25400" dir="2700000">
              <a:srgbClr val="0F172A">
                <a:alpha val="8000"/>
              </a:srgbClr>
            </a:outerShdw>
          </a:effectLst>
        </p:spPr>
      </p:sp>
      <p:sp>
        <p:nvSpPr>
          <p:cNvPr id="23" name="Text 21"/>
          <p:cNvSpPr/>
          <p:nvPr/>
        </p:nvSpPr>
        <p:spPr>
          <a:xfrm>
            <a:off x="7086600" y="2468880"/>
            <a:ext cx="4297680" cy="274320"/>
          </a:xfrm>
          <a:prstGeom prst="rect">
            <a:avLst/>
          </a:prstGeom>
          <a:noFill/>
          <a:ln/>
        </p:spPr>
        <p:txBody>
          <a:bodyPr wrap="square" lIns="0" tIns="0" rIns="0" bIns="0" rtlCol="0" anchor="ctr"/>
          <a:lstStyle/>
          <a:p>
            <a:pPr indent="0" marL="0">
              <a:buNone/>
            </a:pPr>
            <a:r>
              <a:rPr lang="en-US" sz="1000" b="1" spc="300" kern="0" dirty="0">
                <a:solidFill>
                  <a:srgbClr val="D97706"/>
                </a:solidFill>
                <a:latin typeface="Calibri" pitchFamily="34" charset="0"/>
                <a:ea typeface="Calibri" pitchFamily="34" charset="-122"/>
                <a:cs typeface="Calibri" pitchFamily="34" charset="-120"/>
              </a:rPr>
              <a:t>HALLAZGO NO PLANEADO</a:t>
            </a:r>
            <a:endParaRPr lang="en-US" sz="1000" dirty="0"/>
          </a:p>
        </p:txBody>
      </p:sp>
      <p:sp>
        <p:nvSpPr>
          <p:cNvPr id="24" name="Text 22"/>
          <p:cNvSpPr/>
          <p:nvPr/>
        </p:nvSpPr>
        <p:spPr>
          <a:xfrm>
            <a:off x="7086600" y="2743200"/>
            <a:ext cx="4297680" cy="411480"/>
          </a:xfrm>
          <a:prstGeom prst="rect">
            <a:avLst/>
          </a:prstGeom>
          <a:noFill/>
          <a:ln/>
        </p:spPr>
        <p:txBody>
          <a:bodyPr wrap="square" lIns="0" tIns="0" rIns="0" bIns="0" rtlCol="0" anchor="ctr"/>
          <a:lstStyle/>
          <a:p>
            <a:pPr indent="0" marL="0">
              <a:buNone/>
            </a:pPr>
            <a:r>
              <a:rPr lang="en-US" sz="1800" b="1" dirty="0">
                <a:solidFill>
                  <a:srgbClr val="21295C"/>
                </a:solidFill>
                <a:latin typeface="Cambria" pitchFamily="34" charset="0"/>
                <a:ea typeface="Cambria" pitchFamily="34" charset="-122"/>
                <a:cs typeface="Cambria" pitchFamily="34" charset="-120"/>
              </a:rPr>
              <a:t>Motor InnoDB requerido</a:t>
            </a:r>
            <a:endParaRPr lang="en-US" sz="1800" dirty="0"/>
          </a:p>
        </p:txBody>
      </p:sp>
      <p:sp>
        <p:nvSpPr>
          <p:cNvPr id="25" name="Text 23"/>
          <p:cNvSpPr/>
          <p:nvPr/>
        </p:nvSpPr>
        <p:spPr>
          <a:xfrm>
            <a:off x="7086600" y="3200400"/>
            <a:ext cx="4297680" cy="2926080"/>
          </a:xfrm>
          <a:prstGeom prst="rect">
            <a:avLst/>
          </a:prstGeom>
          <a:noFill/>
          <a:ln/>
        </p:spPr>
        <p:txBody>
          <a:bodyPr wrap="square" lIns="0" tIns="0" rIns="0" bIns="0" rtlCol="0" anchor="ctr"/>
          <a:lstStyle/>
          <a:p>
            <a:pPr indent="0" marL="0">
              <a:buNone/>
            </a:pPr>
            <a:r>
              <a:rPr lang="en-US" sz="1200" dirty="0">
                <a:solidFill>
                  <a:srgbClr val="475569"/>
                </a:solidFill>
                <a:latin typeface="Calibri" pitchFamily="34" charset="0"/>
                <a:ea typeface="Calibri" pitchFamily="34" charset="-122"/>
                <a:cs typeface="Calibri" pitchFamily="34" charset="-120"/>
              </a:rPr>
              <a:t>Al probar los scripts en MariaDB se descubrió que las llaves foráneas </a:t>
            </a:r>
            <a:pPr indent="0" marL="0">
              <a:buNone/>
            </a:pPr>
            <a:r>
              <a:rPr lang="en-US" sz="1200" b="1" dirty="0">
                <a:solidFill>
                  <a:srgbClr val="475569"/>
                </a:solidFill>
                <a:latin typeface="Calibri" pitchFamily="34" charset="0"/>
                <a:ea typeface="Calibri" pitchFamily="34" charset="-122"/>
                <a:cs typeface="Calibri" pitchFamily="34" charset="-120"/>
              </a:rPr>
              <a:t>entre bases de datos distintas</a:t>
            </a:r>
            <a:pPr indent="0" marL="0">
              <a:buNone/>
            </a:pPr>
            <a:r>
              <a:rPr lang="en-US" sz="1200" dirty="0">
                <a:solidFill>
                  <a:srgbClr val="475569"/>
                </a:solidFill>
                <a:latin typeface="Calibri" pitchFamily="34" charset="0"/>
                <a:ea typeface="Calibri" pitchFamily="34" charset="-122"/>
                <a:cs typeface="Calibri" pitchFamily="34" charset="-120"/>
              </a:rPr>
              <a:t> no funcionaban con el motor por defecto.</a:t>
            </a:r>
            <a:endParaRPr lang="en-US" sz="1200" dirty="0"/>
          </a:p>
          <a:p>
            <a:pPr indent="0" marL="0">
              <a:buNone/>
            </a:pPr>
            <a:r>
              <a:rPr lang="en-US" sz="600" dirty="0">
                <a:solidFill>
                  <a:srgbClr val="000000"/>
                </a:solidFill>
                <a:latin typeface="Calibri" pitchFamily="34" charset="0"/>
                <a:ea typeface="Calibri" pitchFamily="34" charset="-122"/>
                <a:cs typeface="Calibri" pitchFamily="34" charset="-120"/>
              </a:rPr>
              <a:t>   </a:t>
            </a:r>
            <a:endParaRPr lang="en-US" sz="1200" dirty="0"/>
          </a:p>
          <a:p>
            <a:pPr indent="0" marL="0">
              <a:buNone/>
            </a:pPr>
            <a:r>
              <a:rPr lang="en-US" sz="1200" dirty="0">
                <a:solidFill>
                  <a:srgbClr val="475569"/>
                </a:solidFill>
                <a:latin typeface="Calibri" pitchFamily="34" charset="0"/>
                <a:ea typeface="Calibri" pitchFamily="34" charset="-122"/>
                <a:cs typeface="Calibri" pitchFamily="34" charset="-120"/>
              </a:rPr>
              <a:t>Solución: agregar </a:t>
            </a:r>
            <a:pPr indent="0" marL="0">
              <a:buNone/>
            </a:pPr>
            <a:r>
              <a:rPr lang="en-US" sz="1200" b="1" dirty="0">
                <a:solidFill>
                  <a:srgbClr val="21295C"/>
                </a:solidFill>
                <a:latin typeface="Consolas" pitchFamily="34" charset="0"/>
                <a:ea typeface="Consolas" pitchFamily="34" charset="-122"/>
                <a:cs typeface="Consolas" pitchFamily="34" charset="-120"/>
              </a:rPr>
              <a:t>ENGINE=InnoDB</a:t>
            </a:r>
            <a:pPr indent="0" marL="0">
              <a:buNone/>
            </a:pPr>
            <a:r>
              <a:rPr lang="en-US" sz="1200" dirty="0">
                <a:solidFill>
                  <a:srgbClr val="475569"/>
                </a:solidFill>
                <a:latin typeface="Calibri" pitchFamily="34" charset="0"/>
                <a:ea typeface="Calibri" pitchFamily="34" charset="-122"/>
                <a:cs typeface="Calibri" pitchFamily="34" charset="-120"/>
              </a:rPr>
              <a:t> a todas las tablas de las 19 bases.</a:t>
            </a:r>
            <a:endParaRPr lang="en-US" sz="1200" dirty="0"/>
          </a:p>
          <a:p>
            <a:pPr indent="0" marL="0">
              <a:buNone/>
            </a:pPr>
            <a:r>
              <a:rPr lang="en-US" sz="600" dirty="0">
                <a:solidFill>
                  <a:srgbClr val="000000"/>
                </a:solidFill>
                <a:latin typeface="Calibri" pitchFamily="34" charset="0"/>
                <a:ea typeface="Calibri" pitchFamily="34" charset="-122"/>
                <a:cs typeface="Calibri" pitchFamily="34" charset="-120"/>
              </a:rPr>
              <a:t>   </a:t>
            </a:r>
            <a:endParaRPr lang="en-US" sz="1200" dirty="0"/>
          </a:p>
          <a:p>
            <a:pPr indent="0" marL="0">
              <a:buNone/>
            </a:pPr>
            <a:r>
              <a:rPr lang="en-US" sz="1200" i="1" dirty="0">
                <a:solidFill>
                  <a:srgbClr val="475569"/>
                </a:solidFill>
                <a:latin typeface="Calibri" pitchFamily="34" charset="0"/>
                <a:ea typeface="Calibri" pitchFamily="34" charset="-122"/>
                <a:cs typeface="Calibri" pitchFamily="34" charset="-120"/>
              </a:rPr>
              <a:t>Esto garantizó la integridad referencial entre ods_login, ods_master y las 17 bases ods0X.</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48640" y="411480"/>
            <a:ext cx="11064240" cy="274320"/>
          </a:xfrm>
          <a:prstGeom prst="rect">
            <a:avLst/>
          </a:prstGeom>
          <a:noFill/>
          <a:ln/>
        </p:spPr>
        <p:txBody>
          <a:bodyPr wrap="square" lIns="0" tIns="0" rIns="0" bIns="0" rtlCol="0" anchor="ctr"/>
          <a:lstStyle/>
          <a:p>
            <a:pPr indent="0" marL="0">
              <a:buNone/>
            </a:pPr>
            <a:r>
              <a:rPr lang="en-US" sz="1100" b="1" spc="300" kern="0" dirty="0">
                <a:solidFill>
                  <a:srgbClr val="F59E0B"/>
                </a:solidFill>
                <a:latin typeface="Calibri" pitchFamily="34" charset="0"/>
                <a:ea typeface="Calibri" pitchFamily="34" charset="-122"/>
                <a:cs typeface="Calibri" pitchFamily="34" charset="-120"/>
              </a:rPr>
              <a:t>DIAPOSITIVA 4C  ·  TAREAS REALIZADAS</a:t>
            </a:r>
            <a:endParaRPr lang="en-US" sz="1100" dirty="0"/>
          </a:p>
        </p:txBody>
      </p:sp>
      <p:sp>
        <p:nvSpPr>
          <p:cNvPr id="3" name="Text 1"/>
          <p:cNvSpPr/>
          <p:nvPr/>
        </p:nvSpPr>
        <p:spPr>
          <a:xfrm>
            <a:off x="548640" y="713232"/>
            <a:ext cx="11064240" cy="731520"/>
          </a:xfrm>
          <a:prstGeom prst="rect">
            <a:avLst/>
          </a:prstGeom>
          <a:noFill/>
          <a:ln/>
        </p:spPr>
        <p:txBody>
          <a:bodyPr wrap="square" lIns="0" tIns="0" rIns="0" bIns="0" rtlCol="0" anchor="ctr"/>
          <a:lstStyle/>
          <a:p>
            <a:pPr indent="0" marL="0">
              <a:buNone/>
            </a:pPr>
            <a:r>
              <a:rPr lang="en-US" sz="3200" b="1" dirty="0">
                <a:solidFill>
                  <a:srgbClr val="21295C"/>
                </a:solidFill>
                <a:latin typeface="Cambria" pitchFamily="34" charset="0"/>
                <a:ea typeface="Cambria" pitchFamily="34" charset="-122"/>
                <a:cs typeface="Cambria" pitchFamily="34" charset="-120"/>
              </a:rPr>
              <a:t>Semana 3  ·  19 bases de datos completas</a:t>
            </a:r>
            <a:endParaRPr lang="en-US" sz="3200" dirty="0"/>
          </a:p>
        </p:txBody>
      </p:sp>
      <p:sp>
        <p:nvSpPr>
          <p:cNvPr id="4" name="Text 2"/>
          <p:cNvSpPr/>
          <p:nvPr/>
        </p:nvSpPr>
        <p:spPr>
          <a:xfrm>
            <a:off x="548640" y="6537960"/>
            <a:ext cx="11064240" cy="22860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Práctica Profesional  ·  Avance I  ·  Kevin Campos González  ·  UTN</a:t>
            </a:r>
            <a:endParaRPr lang="en-US" sz="900" dirty="0"/>
          </a:p>
        </p:txBody>
      </p:sp>
      <p:sp>
        <p:nvSpPr>
          <p:cNvPr id="5" name="Shape 3"/>
          <p:cNvSpPr/>
          <p:nvPr/>
        </p:nvSpPr>
        <p:spPr>
          <a:xfrm>
            <a:off x="548640" y="1691640"/>
            <a:ext cx="1554480" cy="411480"/>
          </a:xfrm>
          <a:prstGeom prst="roundRect">
            <a:avLst>
              <a:gd name="adj" fmla="val 17778"/>
            </a:avLst>
          </a:prstGeom>
          <a:solidFill>
            <a:srgbClr val="065A82"/>
          </a:solidFill>
          <a:ln/>
        </p:spPr>
      </p:sp>
      <p:sp>
        <p:nvSpPr>
          <p:cNvPr id="6" name="Text 4"/>
          <p:cNvSpPr/>
          <p:nvPr/>
        </p:nvSpPr>
        <p:spPr>
          <a:xfrm>
            <a:off x="548640" y="1691640"/>
            <a:ext cx="1554480"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05 / 06 / 2026</a:t>
            </a:r>
            <a:endParaRPr lang="en-US" sz="1200" dirty="0"/>
          </a:p>
        </p:txBody>
      </p:sp>
      <p:sp>
        <p:nvSpPr>
          <p:cNvPr id="7" name="Shape 5"/>
          <p:cNvSpPr/>
          <p:nvPr/>
        </p:nvSpPr>
        <p:spPr>
          <a:xfrm>
            <a:off x="2194560" y="1691640"/>
            <a:ext cx="1280160" cy="411480"/>
          </a:xfrm>
          <a:prstGeom prst="roundRect">
            <a:avLst>
              <a:gd name="adj" fmla="val 17778"/>
            </a:avLst>
          </a:prstGeom>
          <a:solidFill>
            <a:srgbClr val="F1F5F9"/>
          </a:solidFill>
          <a:ln w="12700">
            <a:solidFill>
              <a:srgbClr val="E2E8F0"/>
            </a:solidFill>
            <a:prstDash val="solid"/>
          </a:ln>
        </p:spPr>
      </p:sp>
      <p:sp>
        <p:nvSpPr>
          <p:cNvPr id="8" name="Text 6"/>
          <p:cNvSpPr/>
          <p:nvPr/>
        </p:nvSpPr>
        <p:spPr>
          <a:xfrm>
            <a:off x="2194560" y="1691640"/>
            <a:ext cx="1280160" cy="411480"/>
          </a:xfrm>
          <a:prstGeom prst="rect">
            <a:avLst/>
          </a:prstGeom>
          <a:noFill/>
          <a:ln/>
        </p:spPr>
        <p:txBody>
          <a:bodyPr wrap="square" lIns="0" tIns="0" rIns="0" bIns="0" rtlCol="0" anchor="ctr"/>
          <a:lstStyle/>
          <a:p>
            <a:pPr algn="ctr" indent="0" marL="0">
              <a:buNone/>
            </a:pPr>
            <a:r>
              <a:rPr lang="en-US" sz="1200" b="1" dirty="0">
                <a:solidFill>
                  <a:srgbClr val="1E293B"/>
                </a:solidFill>
                <a:latin typeface="Calibri" pitchFamily="34" charset="0"/>
                <a:ea typeface="Calibri" pitchFamily="34" charset="-122"/>
                <a:cs typeface="Calibri" pitchFamily="34" charset="-120"/>
              </a:rPr>
              <a:t>20 horas</a:t>
            </a:r>
            <a:endParaRPr lang="en-US" sz="1200" dirty="0"/>
          </a:p>
        </p:txBody>
      </p:sp>
      <p:pic>
        <p:nvPicPr>
          <p:cNvPr id="9" name="Image 0" descr="/home/claude/assets/db_architecture.png">    </p:cNvPr>
          <p:cNvPicPr>
            <a:picLocks noChangeAspect="1"/>
          </p:cNvPicPr>
          <p:nvPr/>
        </p:nvPicPr>
        <p:blipFill>
          <a:blip r:embed="rId1"/>
          <a:srcRect l="0" r="0" t="0" b="0"/>
          <a:stretch/>
        </p:blipFill>
        <p:spPr>
          <a:xfrm>
            <a:off x="548640" y="2331720"/>
            <a:ext cx="6949440" cy="3840480"/>
          </a:xfrm>
          <a:prstGeom prst="rect">
            <a:avLst/>
          </a:prstGeom>
        </p:spPr>
      </p:pic>
      <p:sp>
        <p:nvSpPr>
          <p:cNvPr id="10" name="Text 7"/>
          <p:cNvSpPr/>
          <p:nvPr/>
        </p:nvSpPr>
        <p:spPr>
          <a:xfrm>
            <a:off x="548640" y="6217920"/>
            <a:ext cx="6949440" cy="228600"/>
          </a:xfrm>
          <a:prstGeom prst="rect">
            <a:avLst/>
          </a:prstGeom>
          <a:noFill/>
          <a:ln/>
        </p:spPr>
        <p:txBody>
          <a:bodyPr wrap="square" lIns="0" tIns="0" rIns="0" bIns="0" rtlCol="0" anchor="ctr"/>
          <a:lstStyle/>
          <a:p>
            <a:pPr algn="ctr" indent="0" marL="0">
              <a:buNone/>
            </a:pPr>
            <a:r>
              <a:rPr lang="en-US" sz="1000" i="1" dirty="0">
                <a:solidFill>
                  <a:srgbClr val="64748B"/>
                </a:solidFill>
                <a:latin typeface="Calibri" pitchFamily="34" charset="0"/>
                <a:ea typeface="Calibri" pitchFamily="34" charset="-122"/>
                <a:cs typeface="Calibri" pitchFamily="34" charset="-120"/>
              </a:rPr>
              <a:t>Arquitectura final: 19 bases de datos con llaves foráneas inter-schema</a:t>
            </a:r>
            <a:endParaRPr lang="en-US" sz="1000" dirty="0"/>
          </a:p>
        </p:txBody>
      </p:sp>
      <p:sp>
        <p:nvSpPr>
          <p:cNvPr id="11" name="Shape 8"/>
          <p:cNvSpPr/>
          <p:nvPr/>
        </p:nvSpPr>
        <p:spPr>
          <a:xfrm>
            <a:off x="7772400" y="2331720"/>
            <a:ext cx="3840480" cy="1874520"/>
          </a:xfrm>
          <a:prstGeom prst="roundRect">
            <a:avLst>
              <a:gd name="adj" fmla="val 3902"/>
            </a:avLst>
          </a:prstGeom>
          <a:solidFill>
            <a:srgbClr val="ECFDF5"/>
          </a:solidFill>
          <a:ln w="12700">
            <a:solidFill>
              <a:srgbClr val="10B981"/>
            </a:solidFill>
            <a:prstDash val="solid"/>
          </a:ln>
          <a:effectLst>
            <a:outerShdw sx="100000" sy="100000" kx="0" ky="0" algn="bl" rotWithShape="0" blurRad="76200" dist="25400" dir="2700000">
              <a:srgbClr val="0F172A">
                <a:alpha val="8000"/>
              </a:srgbClr>
            </a:outerShdw>
          </a:effectLst>
        </p:spPr>
      </p:sp>
      <p:sp>
        <p:nvSpPr>
          <p:cNvPr id="12" name="Text 9"/>
          <p:cNvSpPr/>
          <p:nvPr/>
        </p:nvSpPr>
        <p:spPr>
          <a:xfrm>
            <a:off x="7955280" y="2423160"/>
            <a:ext cx="3474720" cy="548640"/>
          </a:xfrm>
          <a:prstGeom prst="rect">
            <a:avLst/>
          </a:prstGeom>
          <a:noFill/>
          <a:ln/>
        </p:spPr>
        <p:txBody>
          <a:bodyPr wrap="square" lIns="0" tIns="0" rIns="0" bIns="0" rtlCol="0" anchor="ctr"/>
          <a:lstStyle/>
          <a:p>
            <a:pPr indent="0" marL="0">
              <a:buNone/>
            </a:pPr>
            <a:r>
              <a:rPr lang="en-US" sz="3200" b="1" dirty="0">
                <a:solidFill>
                  <a:srgbClr val="10B981"/>
                </a:solidFill>
                <a:latin typeface="Cambria" pitchFamily="34" charset="0"/>
                <a:ea typeface="Cambria" pitchFamily="34" charset="-122"/>
                <a:cs typeface="Cambria" pitchFamily="34" charset="-120"/>
              </a:rPr>
              <a:t>100%</a:t>
            </a:r>
            <a:endParaRPr lang="en-US" sz="3200" dirty="0"/>
          </a:p>
        </p:txBody>
      </p:sp>
      <p:sp>
        <p:nvSpPr>
          <p:cNvPr id="13" name="Text 10"/>
          <p:cNvSpPr/>
          <p:nvPr/>
        </p:nvSpPr>
        <p:spPr>
          <a:xfrm>
            <a:off x="7955280" y="2971800"/>
            <a:ext cx="3474720" cy="1188720"/>
          </a:xfrm>
          <a:prstGeom prst="rect">
            <a:avLst/>
          </a:prstGeom>
          <a:noFill/>
          <a:ln/>
        </p:spPr>
        <p:txBody>
          <a:bodyPr wrap="square" lIns="0" tIns="0" rIns="0" bIns="0" rtlCol="0" anchor="ctr"/>
          <a:lstStyle/>
          <a:p>
            <a:pPr indent="0" marL="0">
              <a:buNone/>
            </a:pPr>
            <a:r>
              <a:rPr lang="en-US" sz="1150" b="1" dirty="0">
                <a:solidFill>
                  <a:srgbClr val="1E293B"/>
                </a:solidFill>
                <a:latin typeface="Consolas" pitchFamily="34" charset="0"/>
                <a:ea typeface="Consolas" pitchFamily="34" charset="-122"/>
                <a:cs typeface="Consolas" pitchFamily="34" charset="-120"/>
              </a:rPr>
              <a:t>ods05 → ods17</a:t>
            </a:r>
            <a:endParaRPr lang="en-US" sz="1150" dirty="0"/>
          </a:p>
          <a:p>
            <a:pPr indent="0" marL="0">
              <a:buNone/>
            </a:pPr>
            <a:r>
              <a:rPr lang="en-US" sz="600" dirty="0">
                <a:solidFill>
                  <a:srgbClr val="000000"/>
                </a:solidFill>
                <a:latin typeface="Calibri" pitchFamily="34" charset="0"/>
                <a:ea typeface="Calibri" pitchFamily="34" charset="-122"/>
                <a:cs typeface="Calibri" pitchFamily="34" charset="-120"/>
              </a:rPr>
              <a:t>  </a:t>
            </a:r>
            <a:endParaRPr lang="en-US" sz="1150" dirty="0"/>
          </a:p>
          <a:p>
            <a:pPr indent="0" marL="0">
              <a:buNone/>
            </a:pPr>
            <a:r>
              <a:rPr lang="en-US" sz="1100" dirty="0">
                <a:solidFill>
                  <a:srgbClr val="475569"/>
                </a:solidFill>
                <a:latin typeface="Calibri" pitchFamily="34" charset="0"/>
                <a:ea typeface="Calibri" pitchFamily="34" charset="-122"/>
                <a:cs typeface="Calibri" pitchFamily="34" charset="-120"/>
              </a:rPr>
              <a:t>13 scripts adicionales siguiendo el mismo patrón. Corrección de ods16 (tablas de auditoría).</a:t>
            </a:r>
            <a:endParaRPr lang="en-US" sz="1150" dirty="0"/>
          </a:p>
        </p:txBody>
      </p:sp>
      <p:sp>
        <p:nvSpPr>
          <p:cNvPr id="14" name="Shape 11"/>
          <p:cNvSpPr/>
          <p:nvPr/>
        </p:nvSpPr>
        <p:spPr>
          <a:xfrm>
            <a:off x="7772400" y="4297680"/>
            <a:ext cx="3840480" cy="960120"/>
          </a:xfrm>
          <a:prstGeom prst="roundRect">
            <a:avLst>
              <a:gd name="adj" fmla="val 7619"/>
            </a:avLst>
          </a:prstGeom>
          <a:solidFill>
            <a:srgbClr val="FFFFFF"/>
          </a:solidFill>
          <a:ln w="12700">
            <a:solidFill>
              <a:srgbClr val="E2E8F0"/>
            </a:solidFill>
            <a:prstDash val="solid"/>
          </a:ln>
          <a:effectLst>
            <a:outerShdw sx="100000" sy="100000" kx="0" ky="0" algn="bl" rotWithShape="0" blurRad="76200" dist="25400" dir="2700000">
              <a:srgbClr val="0F172A">
                <a:alpha val="8000"/>
              </a:srgbClr>
            </a:outerShdw>
          </a:effectLst>
        </p:spPr>
      </p:sp>
      <p:sp>
        <p:nvSpPr>
          <p:cNvPr id="15" name="Text 12"/>
          <p:cNvSpPr/>
          <p:nvPr/>
        </p:nvSpPr>
        <p:spPr>
          <a:xfrm>
            <a:off x="7955280" y="4370832"/>
            <a:ext cx="3474720" cy="822960"/>
          </a:xfrm>
          <a:prstGeom prst="rect">
            <a:avLst/>
          </a:prstGeom>
          <a:noFill/>
          <a:ln/>
        </p:spPr>
        <p:txBody>
          <a:bodyPr wrap="square" lIns="0" tIns="0" rIns="0" bIns="0" rtlCol="0" anchor="ctr"/>
          <a:lstStyle/>
          <a:p>
            <a:pPr indent="0" marL="0">
              <a:buNone/>
            </a:pPr>
            <a:r>
              <a:rPr lang="en-US" sz="1600" b="1" dirty="0">
                <a:solidFill>
                  <a:srgbClr val="065A82"/>
                </a:solidFill>
                <a:latin typeface="Calibri" pitchFamily="34" charset="0"/>
                <a:ea typeface="Calibri" pitchFamily="34" charset="-122"/>
                <a:cs typeface="Calibri" pitchFamily="34" charset="-120"/>
              </a:rPr>
              <a:t>100%   </a:t>
            </a:r>
            <a:pPr indent="0" marL="0">
              <a:buNone/>
            </a:pPr>
            <a:r>
              <a:rPr lang="en-US" sz="1100" b="1" dirty="0">
                <a:solidFill>
                  <a:srgbClr val="1E293B"/>
                </a:solidFill>
                <a:latin typeface="Consolas" pitchFamily="34" charset="0"/>
                <a:ea typeface="Consolas" pitchFamily="34" charset="-122"/>
                <a:cs typeface="Consolas" pitchFamily="34" charset="-120"/>
              </a:rPr>
              <a:t>00_run_all.sql</a:t>
            </a:r>
            <a:endParaRPr lang="en-US" sz="1100" dirty="0"/>
          </a:p>
          <a:p>
            <a:pPr indent="0" marL="0">
              <a:buNone/>
            </a:pPr>
            <a:r>
              <a:rPr lang="en-US" sz="1050" dirty="0">
                <a:solidFill>
                  <a:srgbClr val="475569"/>
                </a:solidFill>
                <a:latin typeface="Calibri" pitchFamily="34" charset="0"/>
                <a:ea typeface="Calibri" pitchFamily="34" charset="-122"/>
                <a:cs typeface="Calibri" pitchFamily="34" charset="-120"/>
              </a:rPr>
              <a:t>Script maestro que orquesta la instalación de las 19 BDs sin errores.</a:t>
            </a:r>
            <a:endParaRPr lang="en-US" sz="1100" dirty="0"/>
          </a:p>
        </p:txBody>
      </p:sp>
      <p:sp>
        <p:nvSpPr>
          <p:cNvPr id="16" name="Shape 13"/>
          <p:cNvSpPr/>
          <p:nvPr/>
        </p:nvSpPr>
        <p:spPr>
          <a:xfrm>
            <a:off x="7772400" y="5349240"/>
            <a:ext cx="3840480" cy="1005840"/>
          </a:xfrm>
          <a:prstGeom prst="roundRect">
            <a:avLst>
              <a:gd name="adj" fmla="val 7273"/>
            </a:avLst>
          </a:prstGeom>
          <a:solidFill>
            <a:srgbClr val="FFFBEB"/>
          </a:solidFill>
          <a:ln w="12700">
            <a:solidFill>
              <a:srgbClr val="FCD34D"/>
            </a:solidFill>
            <a:prstDash val="solid"/>
          </a:ln>
          <a:effectLst>
            <a:outerShdw sx="100000" sy="100000" kx="0" ky="0" algn="bl" rotWithShape="0" blurRad="76200" dist="25400" dir="2700000">
              <a:srgbClr val="0F172A">
                <a:alpha val="8000"/>
              </a:srgbClr>
            </a:outerShdw>
          </a:effectLst>
        </p:spPr>
      </p:sp>
      <p:sp>
        <p:nvSpPr>
          <p:cNvPr id="17" name="Text 14"/>
          <p:cNvSpPr/>
          <p:nvPr/>
        </p:nvSpPr>
        <p:spPr>
          <a:xfrm>
            <a:off x="7955280" y="5422392"/>
            <a:ext cx="3474720" cy="914400"/>
          </a:xfrm>
          <a:prstGeom prst="rect">
            <a:avLst/>
          </a:prstGeom>
          <a:noFill/>
          <a:ln/>
        </p:spPr>
        <p:txBody>
          <a:bodyPr wrap="square" lIns="0" tIns="0" rIns="0" bIns="0" rtlCol="0" anchor="ctr"/>
          <a:lstStyle/>
          <a:p>
            <a:pPr indent="0" marL="0">
              <a:buNone/>
            </a:pPr>
            <a:r>
              <a:rPr lang="en-US" sz="1600" b="1" dirty="0">
                <a:solidFill>
                  <a:srgbClr val="D97706"/>
                </a:solidFill>
                <a:latin typeface="Calibri" pitchFamily="34" charset="0"/>
                <a:ea typeface="Calibri" pitchFamily="34" charset="-122"/>
                <a:cs typeface="Calibri" pitchFamily="34" charset="-120"/>
              </a:rPr>
              <a:t>80%   </a:t>
            </a:r>
            <a:pPr indent="0" marL="0">
              <a:buNone/>
            </a:pPr>
            <a:r>
              <a:rPr lang="en-US" sz="1100" b="1" dirty="0">
                <a:solidFill>
                  <a:srgbClr val="1E293B"/>
                </a:solidFill>
                <a:latin typeface="Calibri" pitchFamily="34" charset="0"/>
                <a:ea typeface="Calibri" pitchFamily="34" charset="-122"/>
                <a:cs typeface="Calibri" pitchFamily="34" charset="-120"/>
              </a:rPr>
              <a:t>Inicio configuración jOOQ</a:t>
            </a:r>
            <a:endParaRPr lang="en-US" sz="1100" dirty="0"/>
          </a:p>
          <a:p>
            <a:pPr indent="0" marL="0">
              <a:buNone/>
            </a:pPr>
            <a:r>
              <a:rPr lang="en-US" sz="1050" dirty="0">
                <a:solidFill>
                  <a:srgbClr val="475569"/>
                </a:solidFill>
                <a:latin typeface="Calibri" pitchFamily="34" charset="0"/>
                <a:ea typeface="Calibri" pitchFamily="34" charset="-122"/>
                <a:cs typeface="Calibri" pitchFamily="34" charset="-120"/>
              </a:rPr>
              <a:t>Errores con ubicación de paquetes y driver de MariaDB. Queda pendiente para la próxima semana.</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48640" y="411480"/>
            <a:ext cx="11064240" cy="274320"/>
          </a:xfrm>
          <a:prstGeom prst="rect">
            <a:avLst/>
          </a:prstGeom>
          <a:noFill/>
          <a:ln/>
        </p:spPr>
        <p:txBody>
          <a:bodyPr wrap="square" lIns="0" tIns="0" rIns="0" bIns="0" rtlCol="0" anchor="ctr"/>
          <a:lstStyle/>
          <a:p>
            <a:pPr indent="0" marL="0">
              <a:buNone/>
            </a:pPr>
            <a:r>
              <a:rPr lang="en-US" sz="1100" b="1" spc="300" kern="0" dirty="0">
                <a:solidFill>
                  <a:srgbClr val="F59E0B"/>
                </a:solidFill>
                <a:latin typeface="Calibri" pitchFamily="34" charset="0"/>
                <a:ea typeface="Calibri" pitchFamily="34" charset="-122"/>
                <a:cs typeface="Calibri" pitchFamily="34" charset="-120"/>
              </a:rPr>
              <a:t>DIAPOSITIVA 4D  ·  TAREAS REALIZADAS</a:t>
            </a:r>
            <a:endParaRPr lang="en-US" sz="1100" dirty="0"/>
          </a:p>
        </p:txBody>
      </p:sp>
      <p:sp>
        <p:nvSpPr>
          <p:cNvPr id="3" name="Text 1"/>
          <p:cNvSpPr/>
          <p:nvPr/>
        </p:nvSpPr>
        <p:spPr>
          <a:xfrm>
            <a:off x="548640" y="713232"/>
            <a:ext cx="11064240" cy="731520"/>
          </a:xfrm>
          <a:prstGeom prst="rect">
            <a:avLst/>
          </a:prstGeom>
          <a:noFill/>
          <a:ln/>
        </p:spPr>
        <p:txBody>
          <a:bodyPr wrap="square" lIns="0" tIns="0" rIns="0" bIns="0" rtlCol="0" anchor="ctr"/>
          <a:lstStyle/>
          <a:p>
            <a:pPr indent="0" marL="0">
              <a:buNone/>
            </a:pPr>
            <a:r>
              <a:rPr lang="en-US" sz="3200" b="1" dirty="0">
                <a:solidFill>
                  <a:srgbClr val="21295C"/>
                </a:solidFill>
                <a:latin typeface="Cambria" pitchFamily="34" charset="0"/>
                <a:ea typeface="Cambria" pitchFamily="34" charset="-122"/>
                <a:cs typeface="Cambria" pitchFamily="34" charset="-120"/>
              </a:rPr>
              <a:t>Semana 4  ·  jOOQ funcionando con generación automática</a:t>
            </a:r>
            <a:endParaRPr lang="en-US" sz="3200" dirty="0"/>
          </a:p>
        </p:txBody>
      </p:sp>
      <p:sp>
        <p:nvSpPr>
          <p:cNvPr id="4" name="Text 2"/>
          <p:cNvSpPr/>
          <p:nvPr/>
        </p:nvSpPr>
        <p:spPr>
          <a:xfrm>
            <a:off x="548640" y="6537960"/>
            <a:ext cx="11064240" cy="22860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Práctica Profesional  ·  Avance I  ·  Kevin Campos González  ·  UTN</a:t>
            </a:r>
            <a:endParaRPr lang="en-US" sz="900" dirty="0"/>
          </a:p>
        </p:txBody>
      </p:sp>
      <p:sp>
        <p:nvSpPr>
          <p:cNvPr id="5" name="Shape 3"/>
          <p:cNvSpPr/>
          <p:nvPr/>
        </p:nvSpPr>
        <p:spPr>
          <a:xfrm>
            <a:off x="548640" y="1691640"/>
            <a:ext cx="1554480" cy="411480"/>
          </a:xfrm>
          <a:prstGeom prst="roundRect">
            <a:avLst>
              <a:gd name="adj" fmla="val 17778"/>
            </a:avLst>
          </a:prstGeom>
          <a:solidFill>
            <a:srgbClr val="F59E0B"/>
          </a:solidFill>
          <a:ln/>
        </p:spPr>
      </p:sp>
      <p:sp>
        <p:nvSpPr>
          <p:cNvPr id="6" name="Text 4"/>
          <p:cNvSpPr/>
          <p:nvPr/>
        </p:nvSpPr>
        <p:spPr>
          <a:xfrm>
            <a:off x="548640" y="1691640"/>
            <a:ext cx="1554480"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12 / 06 / 2026</a:t>
            </a:r>
            <a:endParaRPr lang="en-US" sz="1200" dirty="0"/>
          </a:p>
        </p:txBody>
      </p:sp>
      <p:sp>
        <p:nvSpPr>
          <p:cNvPr id="7" name="Shape 5"/>
          <p:cNvSpPr/>
          <p:nvPr/>
        </p:nvSpPr>
        <p:spPr>
          <a:xfrm>
            <a:off x="2194560" y="1691640"/>
            <a:ext cx="1280160" cy="411480"/>
          </a:xfrm>
          <a:prstGeom prst="roundRect">
            <a:avLst>
              <a:gd name="adj" fmla="val 17778"/>
            </a:avLst>
          </a:prstGeom>
          <a:solidFill>
            <a:srgbClr val="F1F5F9"/>
          </a:solidFill>
          <a:ln w="12700">
            <a:solidFill>
              <a:srgbClr val="E2E8F0"/>
            </a:solidFill>
            <a:prstDash val="solid"/>
          </a:ln>
        </p:spPr>
      </p:sp>
      <p:sp>
        <p:nvSpPr>
          <p:cNvPr id="8" name="Text 6"/>
          <p:cNvSpPr/>
          <p:nvPr/>
        </p:nvSpPr>
        <p:spPr>
          <a:xfrm>
            <a:off x="2194560" y="1691640"/>
            <a:ext cx="1280160" cy="411480"/>
          </a:xfrm>
          <a:prstGeom prst="rect">
            <a:avLst/>
          </a:prstGeom>
          <a:noFill/>
          <a:ln/>
        </p:spPr>
        <p:txBody>
          <a:bodyPr wrap="square" lIns="0" tIns="0" rIns="0" bIns="0" rtlCol="0" anchor="ctr"/>
          <a:lstStyle/>
          <a:p>
            <a:pPr algn="ctr" indent="0" marL="0">
              <a:buNone/>
            </a:pPr>
            <a:r>
              <a:rPr lang="en-US" sz="1200" b="1" dirty="0">
                <a:solidFill>
                  <a:srgbClr val="1E293B"/>
                </a:solidFill>
                <a:latin typeface="Calibri" pitchFamily="34" charset="0"/>
                <a:ea typeface="Calibri" pitchFamily="34" charset="-122"/>
                <a:cs typeface="Calibri" pitchFamily="34" charset="-120"/>
              </a:rPr>
              <a:t>20 horas</a:t>
            </a:r>
            <a:endParaRPr lang="en-US" sz="1200" dirty="0"/>
          </a:p>
        </p:txBody>
      </p:sp>
      <p:sp>
        <p:nvSpPr>
          <p:cNvPr id="9" name="Text 7"/>
          <p:cNvSpPr/>
          <p:nvPr/>
        </p:nvSpPr>
        <p:spPr>
          <a:xfrm>
            <a:off x="548640" y="2331720"/>
            <a:ext cx="5943600" cy="274320"/>
          </a:xfrm>
          <a:prstGeom prst="rect">
            <a:avLst/>
          </a:prstGeom>
          <a:noFill/>
          <a:ln/>
        </p:spPr>
        <p:txBody>
          <a:bodyPr wrap="square" lIns="0" tIns="0" rIns="0" bIns="0" rtlCol="0" anchor="ctr"/>
          <a:lstStyle/>
          <a:p>
            <a:pPr indent="0" marL="0">
              <a:buNone/>
            </a:pPr>
            <a:r>
              <a:rPr lang="en-US" sz="1000" b="1" spc="300" kern="0" dirty="0">
                <a:solidFill>
                  <a:srgbClr val="F59E0B"/>
                </a:solidFill>
                <a:latin typeface="Calibri" pitchFamily="34" charset="0"/>
                <a:ea typeface="Calibri" pitchFamily="34" charset="-122"/>
                <a:cs typeface="Calibri" pitchFamily="34" charset="-120"/>
              </a:rPr>
              <a:t>3 ERRORES DEPURADOS EN pom.xml</a:t>
            </a:r>
            <a:endParaRPr lang="en-US" sz="1000" dirty="0"/>
          </a:p>
        </p:txBody>
      </p:sp>
      <p:sp>
        <p:nvSpPr>
          <p:cNvPr id="10" name="Shape 8"/>
          <p:cNvSpPr/>
          <p:nvPr/>
        </p:nvSpPr>
        <p:spPr>
          <a:xfrm>
            <a:off x="548640" y="2697480"/>
            <a:ext cx="5852160" cy="1051560"/>
          </a:xfrm>
          <a:prstGeom prst="roundRect">
            <a:avLst>
              <a:gd name="adj" fmla="val 6957"/>
            </a:avLst>
          </a:prstGeom>
          <a:solidFill>
            <a:srgbClr val="FFFFFF"/>
          </a:solidFill>
          <a:ln w="12700">
            <a:solidFill>
              <a:srgbClr val="E2E8F0"/>
            </a:solidFill>
            <a:prstDash val="solid"/>
          </a:ln>
          <a:effectLst>
            <a:outerShdw sx="100000" sy="100000" kx="0" ky="0" algn="bl" rotWithShape="0" blurRad="76200" dist="25400" dir="2700000">
              <a:srgbClr val="0F172A">
                <a:alpha val="8000"/>
              </a:srgbClr>
            </a:outerShdw>
          </a:effectLst>
        </p:spPr>
      </p:sp>
      <p:sp>
        <p:nvSpPr>
          <p:cNvPr id="11" name="Shape 9"/>
          <p:cNvSpPr/>
          <p:nvPr/>
        </p:nvSpPr>
        <p:spPr>
          <a:xfrm>
            <a:off x="731520" y="3017520"/>
            <a:ext cx="411480" cy="411480"/>
          </a:xfrm>
          <a:prstGeom prst="ellipse">
            <a:avLst/>
          </a:prstGeom>
          <a:solidFill>
            <a:srgbClr val="065A82"/>
          </a:solidFill>
          <a:ln/>
        </p:spPr>
      </p:sp>
      <p:sp>
        <p:nvSpPr>
          <p:cNvPr id="12" name="Text 10"/>
          <p:cNvSpPr/>
          <p:nvPr/>
        </p:nvSpPr>
        <p:spPr>
          <a:xfrm>
            <a:off x="731520" y="301752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11"/>
          <p:cNvSpPr/>
          <p:nvPr/>
        </p:nvSpPr>
        <p:spPr>
          <a:xfrm>
            <a:off x="1280160" y="2834640"/>
            <a:ext cx="4937760" cy="274320"/>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Versión de Java</a:t>
            </a:r>
            <a:endParaRPr lang="en-US" sz="1300" dirty="0"/>
          </a:p>
        </p:txBody>
      </p:sp>
      <p:sp>
        <p:nvSpPr>
          <p:cNvPr id="14" name="Text 12"/>
          <p:cNvSpPr/>
          <p:nvPr/>
        </p:nvSpPr>
        <p:spPr>
          <a:xfrm>
            <a:off x="1280160" y="3108960"/>
            <a:ext cx="4937760" cy="274320"/>
          </a:xfrm>
          <a:prstGeom prst="rect">
            <a:avLst/>
          </a:prstGeom>
          <a:noFill/>
          <a:ln/>
        </p:spPr>
        <p:txBody>
          <a:bodyPr wrap="square" lIns="0" tIns="0" rIns="0" bIns="0" rtlCol="0" anchor="ctr"/>
          <a:lstStyle/>
          <a:p>
            <a:pPr indent="0" marL="0">
              <a:buNone/>
            </a:pPr>
            <a:r>
              <a:rPr lang="en-US" sz="900" b="1" dirty="0">
                <a:solidFill>
                  <a:srgbClr val="DC2626"/>
                </a:solidFill>
                <a:latin typeface="Calibri" pitchFamily="34" charset="0"/>
                <a:ea typeface="Calibri" pitchFamily="34" charset="-122"/>
                <a:cs typeface="Calibri" pitchFamily="34" charset="-120"/>
              </a:rPr>
              <a:t>antes  </a:t>
            </a:r>
            <a:pPr indent="0" marL="0">
              <a:buNone/>
            </a:pPr>
            <a:r>
              <a:rPr lang="en-US" sz="1000" dirty="0">
                <a:solidFill>
                  <a:srgbClr val="475569"/>
                </a:solidFill>
                <a:latin typeface="Consolas" pitchFamily="34" charset="0"/>
                <a:ea typeface="Consolas" pitchFamily="34" charset="-122"/>
                <a:cs typeface="Consolas" pitchFamily="34" charset="-120"/>
              </a:rPr>
              <a:t>&lt;java.version&gt;25&lt;/java.version&gt;</a:t>
            </a:r>
            <a:endParaRPr lang="en-US" sz="1000" dirty="0"/>
          </a:p>
        </p:txBody>
      </p:sp>
      <p:sp>
        <p:nvSpPr>
          <p:cNvPr id="15" name="Text 13"/>
          <p:cNvSpPr/>
          <p:nvPr/>
        </p:nvSpPr>
        <p:spPr>
          <a:xfrm>
            <a:off x="1280160" y="3383280"/>
            <a:ext cx="4937760" cy="274320"/>
          </a:xfrm>
          <a:prstGeom prst="rect">
            <a:avLst/>
          </a:prstGeom>
          <a:noFill/>
          <a:ln/>
        </p:spPr>
        <p:txBody>
          <a:bodyPr wrap="square" lIns="0" tIns="0" rIns="0" bIns="0" rtlCol="0" anchor="ctr"/>
          <a:lstStyle/>
          <a:p>
            <a:pPr indent="0" marL="0">
              <a:buNone/>
            </a:pPr>
            <a:r>
              <a:rPr lang="en-US" sz="900" b="1" dirty="0">
                <a:solidFill>
                  <a:srgbClr val="10B981"/>
                </a:solidFill>
                <a:latin typeface="Calibri" pitchFamily="34" charset="0"/>
                <a:ea typeface="Calibri" pitchFamily="34" charset="-122"/>
                <a:cs typeface="Calibri" pitchFamily="34" charset="-120"/>
              </a:rPr>
              <a:t>ahora  </a:t>
            </a:r>
            <a:pPr indent="0" marL="0">
              <a:buNone/>
            </a:pPr>
            <a:r>
              <a:rPr lang="en-US" sz="1000" dirty="0">
                <a:solidFill>
                  <a:srgbClr val="1E293B"/>
                </a:solidFill>
                <a:latin typeface="Consolas" pitchFamily="34" charset="0"/>
                <a:ea typeface="Consolas" pitchFamily="34" charset="-122"/>
                <a:cs typeface="Consolas" pitchFamily="34" charset="-120"/>
              </a:rPr>
              <a:t>&lt;java.version&gt;21&lt;/java.version&gt;</a:t>
            </a:r>
            <a:endParaRPr lang="en-US" sz="1000" dirty="0"/>
          </a:p>
        </p:txBody>
      </p:sp>
      <p:sp>
        <p:nvSpPr>
          <p:cNvPr id="16" name="Shape 14"/>
          <p:cNvSpPr/>
          <p:nvPr/>
        </p:nvSpPr>
        <p:spPr>
          <a:xfrm>
            <a:off x="548640" y="3886200"/>
            <a:ext cx="5852160" cy="1051560"/>
          </a:xfrm>
          <a:prstGeom prst="roundRect">
            <a:avLst>
              <a:gd name="adj" fmla="val 6957"/>
            </a:avLst>
          </a:prstGeom>
          <a:solidFill>
            <a:srgbClr val="FFFFFF"/>
          </a:solidFill>
          <a:ln w="12700">
            <a:solidFill>
              <a:srgbClr val="E2E8F0"/>
            </a:solidFill>
            <a:prstDash val="solid"/>
          </a:ln>
          <a:effectLst>
            <a:outerShdw sx="100000" sy="100000" kx="0" ky="0" algn="bl" rotWithShape="0" blurRad="76200" dist="25400" dir="2700000">
              <a:srgbClr val="0F172A">
                <a:alpha val="8000"/>
              </a:srgbClr>
            </a:outerShdw>
          </a:effectLst>
        </p:spPr>
      </p:sp>
      <p:sp>
        <p:nvSpPr>
          <p:cNvPr id="17" name="Shape 15"/>
          <p:cNvSpPr/>
          <p:nvPr/>
        </p:nvSpPr>
        <p:spPr>
          <a:xfrm>
            <a:off x="731520" y="4206240"/>
            <a:ext cx="411480" cy="411480"/>
          </a:xfrm>
          <a:prstGeom prst="ellipse">
            <a:avLst/>
          </a:prstGeom>
          <a:solidFill>
            <a:srgbClr val="065A82"/>
          </a:solidFill>
          <a:ln/>
        </p:spPr>
      </p:sp>
      <p:sp>
        <p:nvSpPr>
          <p:cNvPr id="18" name="Text 16"/>
          <p:cNvSpPr/>
          <p:nvPr/>
        </p:nvSpPr>
        <p:spPr>
          <a:xfrm>
            <a:off x="731520" y="420624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9" name="Text 17"/>
          <p:cNvSpPr/>
          <p:nvPr/>
        </p:nvSpPr>
        <p:spPr>
          <a:xfrm>
            <a:off x="1280160" y="4023360"/>
            <a:ext cx="4937760" cy="274320"/>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Nombre de paquete</a:t>
            </a:r>
            <a:endParaRPr lang="en-US" sz="1300" dirty="0"/>
          </a:p>
        </p:txBody>
      </p:sp>
      <p:sp>
        <p:nvSpPr>
          <p:cNvPr id="20" name="Text 18"/>
          <p:cNvSpPr/>
          <p:nvPr/>
        </p:nvSpPr>
        <p:spPr>
          <a:xfrm>
            <a:off x="1280160" y="4297680"/>
            <a:ext cx="4937760" cy="274320"/>
          </a:xfrm>
          <a:prstGeom prst="rect">
            <a:avLst/>
          </a:prstGeom>
          <a:noFill/>
          <a:ln/>
        </p:spPr>
        <p:txBody>
          <a:bodyPr wrap="square" lIns="0" tIns="0" rIns="0" bIns="0" rtlCol="0" anchor="ctr"/>
          <a:lstStyle/>
          <a:p>
            <a:pPr indent="0" marL="0">
              <a:buNone/>
            </a:pPr>
            <a:r>
              <a:rPr lang="en-US" sz="900" b="1" dirty="0">
                <a:solidFill>
                  <a:srgbClr val="DC2626"/>
                </a:solidFill>
                <a:latin typeface="Calibri" pitchFamily="34" charset="0"/>
                <a:ea typeface="Calibri" pitchFamily="34" charset="-122"/>
                <a:cs typeface="Calibri" pitchFamily="34" charset="-120"/>
              </a:rPr>
              <a:t>antes  </a:t>
            </a:r>
            <a:pPr indent="0" marL="0">
              <a:buNone/>
            </a:pPr>
            <a:r>
              <a:rPr lang="en-US" sz="1000" dirty="0">
                <a:solidFill>
                  <a:srgbClr val="475569"/>
                </a:solidFill>
                <a:latin typeface="Consolas" pitchFamily="34" charset="0"/>
                <a:ea typeface="Consolas" pitchFamily="34" charset="-122"/>
                <a:cs typeface="Consolas" pitchFamily="34" charset="-120"/>
              </a:rPr>
              <a:t>com.projectods</a:t>
            </a:r>
            <a:endParaRPr lang="en-US" sz="1000" dirty="0"/>
          </a:p>
        </p:txBody>
      </p:sp>
      <p:sp>
        <p:nvSpPr>
          <p:cNvPr id="21" name="Text 19"/>
          <p:cNvSpPr/>
          <p:nvPr/>
        </p:nvSpPr>
        <p:spPr>
          <a:xfrm>
            <a:off x="1280160" y="4572000"/>
            <a:ext cx="4937760" cy="274320"/>
          </a:xfrm>
          <a:prstGeom prst="rect">
            <a:avLst/>
          </a:prstGeom>
          <a:noFill/>
          <a:ln/>
        </p:spPr>
        <p:txBody>
          <a:bodyPr wrap="square" lIns="0" tIns="0" rIns="0" bIns="0" rtlCol="0" anchor="ctr"/>
          <a:lstStyle/>
          <a:p>
            <a:pPr indent="0" marL="0">
              <a:buNone/>
            </a:pPr>
            <a:r>
              <a:rPr lang="en-US" sz="900" b="1" dirty="0">
                <a:solidFill>
                  <a:srgbClr val="10B981"/>
                </a:solidFill>
                <a:latin typeface="Calibri" pitchFamily="34" charset="0"/>
                <a:ea typeface="Calibri" pitchFamily="34" charset="-122"/>
                <a:cs typeface="Calibri" pitchFamily="34" charset="-120"/>
              </a:rPr>
              <a:t>ahora  </a:t>
            </a:r>
            <a:pPr indent="0" marL="0">
              <a:buNone/>
            </a:pPr>
            <a:r>
              <a:rPr lang="en-US" sz="1000" dirty="0">
                <a:solidFill>
                  <a:srgbClr val="1E293B"/>
                </a:solidFill>
                <a:latin typeface="Consolas" pitchFamily="34" charset="0"/>
                <a:ea typeface="Consolas" pitchFamily="34" charset="-122"/>
                <a:cs typeface="Consolas" pitchFamily="34" charset="-120"/>
              </a:rPr>
              <a:t>com.odsProject.odsProject.database.jooq</a:t>
            </a:r>
            <a:endParaRPr lang="en-US" sz="1000" dirty="0"/>
          </a:p>
        </p:txBody>
      </p:sp>
      <p:sp>
        <p:nvSpPr>
          <p:cNvPr id="22" name="Shape 20"/>
          <p:cNvSpPr/>
          <p:nvPr/>
        </p:nvSpPr>
        <p:spPr>
          <a:xfrm>
            <a:off x="548640" y="5074920"/>
            <a:ext cx="5852160" cy="1051560"/>
          </a:xfrm>
          <a:prstGeom prst="roundRect">
            <a:avLst>
              <a:gd name="adj" fmla="val 6957"/>
            </a:avLst>
          </a:prstGeom>
          <a:solidFill>
            <a:srgbClr val="FFFFFF"/>
          </a:solidFill>
          <a:ln w="12700">
            <a:solidFill>
              <a:srgbClr val="E2E8F0"/>
            </a:solidFill>
            <a:prstDash val="solid"/>
          </a:ln>
          <a:effectLst>
            <a:outerShdw sx="100000" sy="100000" kx="0" ky="0" algn="bl" rotWithShape="0" blurRad="76200" dist="25400" dir="2700000">
              <a:srgbClr val="0F172A">
                <a:alpha val="8000"/>
              </a:srgbClr>
            </a:outerShdw>
          </a:effectLst>
        </p:spPr>
      </p:sp>
      <p:sp>
        <p:nvSpPr>
          <p:cNvPr id="23" name="Shape 21"/>
          <p:cNvSpPr/>
          <p:nvPr/>
        </p:nvSpPr>
        <p:spPr>
          <a:xfrm>
            <a:off x="731520" y="5394960"/>
            <a:ext cx="411480" cy="411480"/>
          </a:xfrm>
          <a:prstGeom prst="ellipse">
            <a:avLst/>
          </a:prstGeom>
          <a:solidFill>
            <a:srgbClr val="065A82"/>
          </a:solidFill>
          <a:ln/>
        </p:spPr>
      </p:sp>
      <p:sp>
        <p:nvSpPr>
          <p:cNvPr id="24" name="Text 22"/>
          <p:cNvSpPr/>
          <p:nvPr/>
        </p:nvSpPr>
        <p:spPr>
          <a:xfrm>
            <a:off x="731520" y="539496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5" name="Text 23"/>
          <p:cNvSpPr/>
          <p:nvPr/>
        </p:nvSpPr>
        <p:spPr>
          <a:xfrm>
            <a:off x="1280160" y="5212080"/>
            <a:ext cx="4937760" cy="274320"/>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Ruta de salida</a:t>
            </a:r>
            <a:endParaRPr lang="en-US" sz="1300" dirty="0"/>
          </a:p>
        </p:txBody>
      </p:sp>
      <p:sp>
        <p:nvSpPr>
          <p:cNvPr id="26" name="Text 24"/>
          <p:cNvSpPr/>
          <p:nvPr/>
        </p:nvSpPr>
        <p:spPr>
          <a:xfrm>
            <a:off x="1280160" y="5486400"/>
            <a:ext cx="4937760" cy="274320"/>
          </a:xfrm>
          <a:prstGeom prst="rect">
            <a:avLst/>
          </a:prstGeom>
          <a:noFill/>
          <a:ln/>
        </p:spPr>
        <p:txBody>
          <a:bodyPr wrap="square" lIns="0" tIns="0" rIns="0" bIns="0" rtlCol="0" anchor="ctr"/>
          <a:lstStyle/>
          <a:p>
            <a:pPr indent="0" marL="0">
              <a:buNone/>
            </a:pPr>
            <a:r>
              <a:rPr lang="en-US" sz="900" b="1" dirty="0">
                <a:solidFill>
                  <a:srgbClr val="DC2626"/>
                </a:solidFill>
                <a:latin typeface="Calibri" pitchFamily="34" charset="0"/>
                <a:ea typeface="Calibri" pitchFamily="34" charset="-122"/>
                <a:cs typeface="Calibri" pitchFamily="34" charset="-120"/>
              </a:rPr>
              <a:t>antes  </a:t>
            </a:r>
            <a:pPr indent="0" marL="0">
              <a:buNone/>
            </a:pPr>
            <a:r>
              <a:rPr lang="en-US" sz="1000" dirty="0">
                <a:solidFill>
                  <a:srgbClr val="475569"/>
                </a:solidFill>
                <a:latin typeface="Consolas" pitchFamily="34" charset="0"/>
                <a:ea typeface="Consolas" pitchFamily="34" charset="-122"/>
                <a:cs typeface="Consolas" pitchFamily="34" charset="-120"/>
              </a:rPr>
              <a:t>directorio inválido</a:t>
            </a:r>
            <a:endParaRPr lang="en-US" sz="1000" dirty="0"/>
          </a:p>
        </p:txBody>
      </p:sp>
      <p:sp>
        <p:nvSpPr>
          <p:cNvPr id="27" name="Text 25"/>
          <p:cNvSpPr/>
          <p:nvPr/>
        </p:nvSpPr>
        <p:spPr>
          <a:xfrm>
            <a:off x="1280160" y="5760720"/>
            <a:ext cx="4937760" cy="274320"/>
          </a:xfrm>
          <a:prstGeom prst="rect">
            <a:avLst/>
          </a:prstGeom>
          <a:noFill/>
          <a:ln/>
        </p:spPr>
        <p:txBody>
          <a:bodyPr wrap="square" lIns="0" tIns="0" rIns="0" bIns="0" rtlCol="0" anchor="ctr"/>
          <a:lstStyle/>
          <a:p>
            <a:pPr indent="0" marL="0">
              <a:buNone/>
            </a:pPr>
            <a:r>
              <a:rPr lang="en-US" sz="900" b="1" dirty="0">
                <a:solidFill>
                  <a:srgbClr val="10B981"/>
                </a:solidFill>
                <a:latin typeface="Calibri" pitchFamily="34" charset="0"/>
                <a:ea typeface="Calibri" pitchFamily="34" charset="-122"/>
                <a:cs typeface="Calibri" pitchFamily="34" charset="-120"/>
              </a:rPr>
              <a:t>ahora  </a:t>
            </a:r>
            <a:pPr indent="0" marL="0">
              <a:buNone/>
            </a:pPr>
            <a:r>
              <a:rPr lang="en-US" sz="1000" dirty="0">
                <a:solidFill>
                  <a:srgbClr val="1E293B"/>
                </a:solidFill>
                <a:latin typeface="Consolas" pitchFamily="34" charset="0"/>
                <a:ea typeface="Consolas" pitchFamily="34" charset="-122"/>
                <a:cs typeface="Consolas" pitchFamily="34" charset="-120"/>
              </a:rPr>
              <a:t>&lt;directory&gt;src/main/java&lt;/directory&gt;</a:t>
            </a:r>
            <a:endParaRPr lang="en-US" sz="1000" dirty="0"/>
          </a:p>
        </p:txBody>
      </p:sp>
      <p:sp>
        <p:nvSpPr>
          <p:cNvPr id="28" name="Shape 26"/>
          <p:cNvSpPr/>
          <p:nvPr/>
        </p:nvSpPr>
        <p:spPr>
          <a:xfrm>
            <a:off x="6766560" y="2331720"/>
            <a:ext cx="4846320" cy="4023360"/>
          </a:xfrm>
          <a:prstGeom prst="roundRect">
            <a:avLst>
              <a:gd name="adj" fmla="val 2273"/>
            </a:avLst>
          </a:prstGeom>
          <a:solidFill>
            <a:srgbClr val="21295C"/>
          </a:solidFill>
          <a:ln/>
          <a:effectLst>
            <a:outerShdw sx="100000" sy="100000" kx="0" ky="0" algn="bl" rotWithShape="0" blurRad="152400" dist="38100" dir="5400000">
              <a:srgbClr val="0F172A">
                <a:alpha val="10000"/>
              </a:srgbClr>
            </a:outerShdw>
          </a:effectLst>
        </p:spPr>
      </p:sp>
      <p:sp>
        <p:nvSpPr>
          <p:cNvPr id="29" name="Text 27"/>
          <p:cNvSpPr/>
          <p:nvPr/>
        </p:nvSpPr>
        <p:spPr>
          <a:xfrm>
            <a:off x="6995160" y="2468880"/>
            <a:ext cx="4572000" cy="274320"/>
          </a:xfrm>
          <a:prstGeom prst="rect">
            <a:avLst/>
          </a:prstGeom>
          <a:noFill/>
          <a:ln/>
        </p:spPr>
        <p:txBody>
          <a:bodyPr wrap="square" lIns="0" tIns="0" rIns="0" bIns="0" rtlCol="0" anchor="ctr"/>
          <a:lstStyle/>
          <a:p>
            <a:pPr indent="0" marL="0">
              <a:buNone/>
            </a:pPr>
            <a:r>
              <a:rPr lang="en-US" sz="1000" b="1" spc="300" kern="0" dirty="0">
                <a:solidFill>
                  <a:srgbClr val="F59E0B"/>
                </a:solidFill>
                <a:latin typeface="Calibri" pitchFamily="34" charset="0"/>
                <a:ea typeface="Calibri" pitchFamily="34" charset="-122"/>
                <a:cs typeface="Calibri" pitchFamily="34" charset="-120"/>
              </a:rPr>
              <a:t>RESULTADO</a:t>
            </a:r>
            <a:endParaRPr lang="en-US" sz="1000" dirty="0"/>
          </a:p>
        </p:txBody>
      </p:sp>
      <p:sp>
        <p:nvSpPr>
          <p:cNvPr id="30" name="Text 28"/>
          <p:cNvSpPr/>
          <p:nvPr/>
        </p:nvSpPr>
        <p:spPr>
          <a:xfrm>
            <a:off x="6995160" y="2743200"/>
            <a:ext cx="4572000" cy="91440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jOOQ genera código</a:t>
            </a:r>
            <a:endParaRPr lang="en-US" sz="2200" dirty="0"/>
          </a:p>
          <a:p>
            <a:pPr indent="0" marL="0">
              <a:buNone/>
            </a:pPr>
            <a:r>
              <a:rPr lang="en-US" sz="2200" b="1" dirty="0">
                <a:solidFill>
                  <a:srgbClr val="FFFFFF"/>
                </a:solidFill>
                <a:latin typeface="Cambria" pitchFamily="34" charset="0"/>
                <a:ea typeface="Cambria" pitchFamily="34" charset="-122"/>
                <a:cs typeface="Cambria" pitchFamily="34" charset="-120"/>
              </a:rPr>
              <a:t>automáticamente</a:t>
            </a:r>
            <a:endParaRPr lang="en-US" sz="2200" dirty="0"/>
          </a:p>
        </p:txBody>
      </p:sp>
      <p:pic>
        <p:nvPicPr>
          <p:cNvPr id="31" name="Image 0" descr="/home/claude/assets/jooq_structure.png">    </p:cNvPr>
          <p:cNvPicPr>
            <a:picLocks noChangeAspect="1"/>
          </p:cNvPicPr>
          <p:nvPr/>
        </p:nvPicPr>
        <p:blipFill>
          <a:blip r:embed="rId1"/>
          <a:srcRect l="0" r="0" t="0" b="0"/>
          <a:stretch/>
        </p:blipFill>
        <p:spPr>
          <a:xfrm>
            <a:off x="6995160" y="3703320"/>
            <a:ext cx="4434840" cy="1463040"/>
          </a:xfrm>
          <a:prstGeom prst="rect">
            <a:avLst/>
          </a:prstGeom>
        </p:spPr>
      </p:pic>
      <p:sp>
        <p:nvSpPr>
          <p:cNvPr id="32" name="Text 29"/>
          <p:cNvSpPr/>
          <p:nvPr/>
        </p:nvSpPr>
        <p:spPr>
          <a:xfrm>
            <a:off x="6995160" y="5349240"/>
            <a:ext cx="4572000" cy="822960"/>
          </a:xfrm>
          <a:prstGeom prst="rect">
            <a:avLst/>
          </a:prstGeom>
          <a:noFill/>
          <a:ln/>
        </p:spPr>
        <p:txBody>
          <a:bodyPr wrap="square" lIns="0" tIns="0" rIns="0" bIns="0" rtlCol="0" anchor="ctr"/>
          <a:lstStyle/>
          <a:p>
            <a:pPr indent="0" marL="0">
              <a:buNone/>
            </a:pPr>
            <a:r>
              <a:rPr lang="en-US" sz="1100" i="1" dirty="0">
                <a:solidFill>
                  <a:srgbClr val="CADCFC"/>
                </a:solidFill>
                <a:latin typeface="Calibri" pitchFamily="34" charset="0"/>
                <a:ea typeface="Calibri" pitchFamily="34" charset="-122"/>
                <a:cs typeface="Calibri" pitchFamily="34" charset="-120"/>
              </a:rPr>
              <a:t>Para cada una de las 19 BD se generan:</a:t>
            </a:r>
            <a:endParaRPr lang="en-US" sz="1200" dirty="0"/>
          </a:p>
          <a:p>
            <a:pPr indent="0" marL="0">
              <a:buNone/>
            </a:pPr>
            <a:r>
              <a:rPr lang="en-US" sz="600" dirty="0">
                <a:solidFill>
                  <a:srgbClr val="000000"/>
                </a:solidFill>
                <a:latin typeface="Calibri" pitchFamily="34" charset="0"/>
                <a:ea typeface="Calibri" pitchFamily="34" charset="-122"/>
                <a:cs typeface="Calibri" pitchFamily="34" charset="-120"/>
              </a:rPr>
              <a:t>  </a:t>
            </a:r>
            <a:endParaRPr lang="en-US" sz="1200" dirty="0"/>
          </a:p>
          <a:p>
            <a:pPr indent="0" marL="0">
              <a:buNone/>
            </a:pPr>
            <a:r>
              <a:rPr lang="en-US" sz="1200" b="1" dirty="0">
                <a:solidFill>
                  <a:srgbClr val="FFFFFF"/>
                </a:solidFill>
                <a:latin typeface="Consolas" pitchFamily="34" charset="0"/>
                <a:ea typeface="Consolas" pitchFamily="34" charset="-122"/>
                <a:cs typeface="Consolas" pitchFamily="34" charset="-120"/>
              </a:rPr>
              <a:t>Tables  </a:t>
            </a:r>
            <a:pPr indent="0" marL="0">
              <a:buNone/>
            </a:pPr>
            <a:r>
              <a:rPr lang="en-US" sz="1200" dirty="0">
                <a:solidFill>
                  <a:srgbClr val="1C7293"/>
                </a:solidFill>
                <a:latin typeface="Calibri" pitchFamily="34" charset="0"/>
                <a:ea typeface="Calibri" pitchFamily="34" charset="-122"/>
                <a:cs typeface="Calibri" pitchFamily="34" charset="-120"/>
              </a:rPr>
              <a:t>·  </a:t>
            </a:r>
            <a:pPr indent="0" marL="0">
              <a:buNone/>
            </a:pPr>
            <a:r>
              <a:rPr lang="en-US" sz="1200" b="1" dirty="0">
                <a:solidFill>
                  <a:srgbClr val="FFFFFF"/>
                </a:solidFill>
                <a:latin typeface="Consolas" pitchFamily="34" charset="0"/>
                <a:ea typeface="Consolas" pitchFamily="34" charset="-122"/>
                <a:cs typeface="Consolas" pitchFamily="34" charset="-120"/>
              </a:rPr>
              <a:t>Records  </a:t>
            </a:r>
            <a:pPr indent="0" marL="0">
              <a:buNone/>
            </a:pPr>
            <a:r>
              <a:rPr lang="en-US" sz="1200" dirty="0">
                <a:solidFill>
                  <a:srgbClr val="1C7293"/>
                </a:solidFill>
                <a:latin typeface="Calibri" pitchFamily="34" charset="0"/>
                <a:ea typeface="Calibri" pitchFamily="34" charset="-122"/>
                <a:cs typeface="Calibri" pitchFamily="34" charset="-120"/>
              </a:rPr>
              <a:t>·  </a:t>
            </a:r>
            <a:pPr indent="0" marL="0">
              <a:buNone/>
            </a:pPr>
            <a:r>
              <a:rPr lang="en-US" sz="1200" b="1" dirty="0">
                <a:solidFill>
                  <a:srgbClr val="FFFFFF"/>
                </a:solidFill>
                <a:latin typeface="Consolas" pitchFamily="34" charset="0"/>
                <a:ea typeface="Consolas" pitchFamily="34" charset="-122"/>
                <a:cs typeface="Consolas" pitchFamily="34" charset="-120"/>
              </a:rPr>
              <a:t>POJOs</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48640" y="411480"/>
            <a:ext cx="11064240" cy="274320"/>
          </a:xfrm>
          <a:prstGeom prst="rect">
            <a:avLst/>
          </a:prstGeom>
          <a:noFill/>
          <a:ln/>
        </p:spPr>
        <p:txBody>
          <a:bodyPr wrap="square" lIns="0" tIns="0" rIns="0" bIns="0" rtlCol="0" anchor="ctr"/>
          <a:lstStyle/>
          <a:p>
            <a:pPr indent="0" marL="0">
              <a:buNone/>
            </a:pPr>
            <a:r>
              <a:rPr lang="en-US" sz="1100" b="1" spc="300" kern="0" dirty="0">
                <a:solidFill>
                  <a:srgbClr val="F59E0B"/>
                </a:solidFill>
                <a:latin typeface="Calibri" pitchFamily="34" charset="0"/>
                <a:ea typeface="Calibri" pitchFamily="34" charset="-122"/>
                <a:cs typeface="Calibri" pitchFamily="34" charset="-120"/>
              </a:rPr>
              <a:t>DIAPOSITIVA 4E  ·  VISIÓN GLOBAL DEL AVANCE</a:t>
            </a:r>
            <a:endParaRPr lang="en-US" sz="1100" dirty="0"/>
          </a:p>
        </p:txBody>
      </p:sp>
      <p:sp>
        <p:nvSpPr>
          <p:cNvPr id="3" name="Text 1"/>
          <p:cNvSpPr/>
          <p:nvPr/>
        </p:nvSpPr>
        <p:spPr>
          <a:xfrm>
            <a:off x="548640" y="713232"/>
            <a:ext cx="11064240" cy="731520"/>
          </a:xfrm>
          <a:prstGeom prst="rect">
            <a:avLst/>
          </a:prstGeom>
          <a:noFill/>
          <a:ln/>
        </p:spPr>
        <p:txBody>
          <a:bodyPr wrap="square" lIns="0" tIns="0" rIns="0" bIns="0" rtlCol="0" anchor="ctr"/>
          <a:lstStyle/>
          <a:p>
            <a:pPr indent="0" marL="0">
              <a:buNone/>
            </a:pPr>
            <a:r>
              <a:rPr lang="en-US" sz="3200" b="1" dirty="0">
                <a:solidFill>
                  <a:srgbClr val="21295C"/>
                </a:solidFill>
                <a:latin typeface="Cambria" pitchFamily="34" charset="0"/>
                <a:ea typeface="Cambria" pitchFamily="34" charset="-122"/>
                <a:cs typeface="Cambria" pitchFamily="34" charset="-120"/>
              </a:rPr>
              <a:t>Mapa de lo construido hasta hoy</a:t>
            </a:r>
            <a:endParaRPr lang="en-US" sz="3200" dirty="0"/>
          </a:p>
        </p:txBody>
      </p:sp>
      <p:sp>
        <p:nvSpPr>
          <p:cNvPr id="4" name="Text 2"/>
          <p:cNvSpPr/>
          <p:nvPr/>
        </p:nvSpPr>
        <p:spPr>
          <a:xfrm>
            <a:off x="548640" y="6537960"/>
            <a:ext cx="11064240" cy="22860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Práctica Profesional  ·  Avance I  ·  Kevin Campos González  ·  UTN</a:t>
            </a:r>
            <a:endParaRPr lang="en-US" sz="900" dirty="0"/>
          </a:p>
        </p:txBody>
      </p:sp>
      <p:pic>
        <p:nvPicPr>
          <p:cNvPr id="5" name="Image 0" descr="/home/claude/assets/timeline.png">    </p:cNvPr>
          <p:cNvPicPr>
            <a:picLocks noChangeAspect="1"/>
          </p:cNvPicPr>
          <p:nvPr/>
        </p:nvPicPr>
        <p:blipFill>
          <a:blip r:embed="rId1"/>
          <a:srcRect l="0" r="0" t="0" b="0"/>
          <a:stretch/>
        </p:blipFill>
        <p:spPr>
          <a:xfrm>
            <a:off x="548640" y="1691640"/>
            <a:ext cx="11064240" cy="1280160"/>
          </a:xfrm>
          <a:prstGeom prst="rect">
            <a:avLst/>
          </a:prstGeom>
        </p:spPr>
      </p:pic>
      <p:sp>
        <p:nvSpPr>
          <p:cNvPr id="6" name="Shape 3"/>
          <p:cNvSpPr/>
          <p:nvPr/>
        </p:nvSpPr>
        <p:spPr>
          <a:xfrm>
            <a:off x="548640" y="3200400"/>
            <a:ext cx="5486400" cy="3108960"/>
          </a:xfrm>
          <a:prstGeom prst="roundRect">
            <a:avLst>
              <a:gd name="adj" fmla="val 2941"/>
            </a:avLst>
          </a:prstGeom>
          <a:solidFill>
            <a:srgbClr val="ECFDF5"/>
          </a:solidFill>
          <a:ln w="12700">
            <a:solidFill>
              <a:srgbClr val="10B981"/>
            </a:solidFill>
            <a:prstDash val="solid"/>
          </a:ln>
          <a:effectLst>
            <a:outerShdw sx="100000" sy="100000" kx="0" ky="0" algn="bl" rotWithShape="0" blurRad="76200" dist="25400" dir="2700000">
              <a:srgbClr val="0F172A">
                <a:alpha val="8000"/>
              </a:srgbClr>
            </a:outerShdw>
          </a:effectLst>
        </p:spPr>
      </p:sp>
      <p:sp>
        <p:nvSpPr>
          <p:cNvPr id="7" name="Text 4"/>
          <p:cNvSpPr/>
          <p:nvPr/>
        </p:nvSpPr>
        <p:spPr>
          <a:xfrm>
            <a:off x="777240" y="3337560"/>
            <a:ext cx="5029200" cy="274320"/>
          </a:xfrm>
          <a:prstGeom prst="rect">
            <a:avLst/>
          </a:prstGeom>
          <a:noFill/>
          <a:ln/>
        </p:spPr>
        <p:txBody>
          <a:bodyPr wrap="square" lIns="0" tIns="0" rIns="0" bIns="0" rtlCol="0" anchor="ctr"/>
          <a:lstStyle/>
          <a:p>
            <a:pPr indent="0" marL="0">
              <a:buNone/>
            </a:pPr>
            <a:r>
              <a:rPr lang="en-US" sz="1000" b="1" spc="300" kern="0" dirty="0">
                <a:solidFill>
                  <a:srgbClr val="10B981"/>
                </a:solidFill>
                <a:latin typeface="Calibri" pitchFamily="34" charset="0"/>
                <a:ea typeface="Calibri" pitchFamily="34" charset="-122"/>
                <a:cs typeface="Calibri" pitchFamily="34" charset="-120"/>
              </a:rPr>
              <a:t>YA CONSTRUIDO  ·  AVANCE I</a:t>
            </a:r>
            <a:endParaRPr lang="en-US" sz="1000" dirty="0"/>
          </a:p>
        </p:txBody>
      </p:sp>
      <p:sp>
        <p:nvSpPr>
          <p:cNvPr id="8" name="Text 5"/>
          <p:cNvSpPr/>
          <p:nvPr/>
        </p:nvSpPr>
        <p:spPr>
          <a:xfrm>
            <a:off x="777240" y="3611880"/>
            <a:ext cx="5029200" cy="2606040"/>
          </a:xfrm>
          <a:prstGeom prst="rect">
            <a:avLst/>
          </a:prstGeom>
          <a:noFill/>
          <a:ln/>
        </p:spPr>
        <p:txBody>
          <a:bodyPr wrap="square" lIns="0" tIns="0" rIns="0" bIns="0" rtlCol="0" anchor="t"/>
          <a:lstStyle/>
          <a:p>
            <a:pPr indent="0" marL="0">
              <a:buNone/>
            </a:pPr>
            <a:r>
              <a:rPr lang="en-US" sz="1400" b="1" dirty="0">
                <a:solidFill>
                  <a:srgbClr val="10B981"/>
                </a:solidFill>
                <a:latin typeface="Calibri" pitchFamily="34" charset="0"/>
                <a:ea typeface="Calibri" pitchFamily="34" charset="-122"/>
                <a:cs typeface="Calibri" pitchFamily="34" charset="-120"/>
              </a:rPr>
              <a:t>✓  </a:t>
            </a:r>
            <a:pPr indent="0" marL="0">
              <a:buNone/>
            </a:pPr>
            <a:r>
              <a:rPr lang="en-US" sz="1200" b="1" dirty="0">
                <a:solidFill>
                  <a:srgbClr val="1E293B"/>
                </a:solidFill>
                <a:latin typeface="Calibri" pitchFamily="34" charset="0"/>
                <a:ea typeface="Calibri" pitchFamily="34" charset="-122"/>
                <a:cs typeface="Calibri" pitchFamily="34" charset="-120"/>
              </a:rPr>
              <a:t>Diseño completo de 19 bases de datos</a:t>
            </a:r>
            <a:endParaRPr lang="en-US" sz="1200" dirty="0"/>
          </a:p>
          <a:p>
            <a:pPr indent="0" marL="0">
              <a:spcAft>
                <a:spcPts val="800"/>
              </a:spcAft>
              <a:buNone/>
            </a:pPr>
            <a:r>
              <a:rPr lang="en-US" sz="1100" dirty="0">
                <a:solidFill>
                  <a:srgbClr val="64748B"/>
                </a:solidFill>
                <a:latin typeface="Calibri" pitchFamily="34" charset="0"/>
                <a:ea typeface="Calibri" pitchFamily="34" charset="-122"/>
                <a:cs typeface="Calibri" pitchFamily="34" charset="-120"/>
              </a:rPr>
              <a:t>       ods_login, ods_master y ods01 → ods17</a:t>
            </a:r>
            <a:endParaRPr lang="en-US" sz="1200" dirty="0"/>
          </a:p>
          <a:p>
            <a:pPr indent="0" marL="0">
              <a:buNone/>
            </a:pPr>
            <a:r>
              <a:rPr lang="en-US" sz="1400" b="1" dirty="0">
                <a:solidFill>
                  <a:srgbClr val="10B981"/>
                </a:solidFill>
                <a:latin typeface="Calibri" pitchFamily="34" charset="0"/>
                <a:ea typeface="Calibri" pitchFamily="34" charset="-122"/>
                <a:cs typeface="Calibri" pitchFamily="34" charset="-120"/>
              </a:rPr>
              <a:t>✓  </a:t>
            </a:r>
            <a:pPr indent="0" marL="0">
              <a:buNone/>
            </a:pPr>
            <a:r>
              <a:rPr lang="en-US" sz="1200" b="1" dirty="0">
                <a:solidFill>
                  <a:srgbClr val="1E293B"/>
                </a:solidFill>
                <a:latin typeface="Calibri" pitchFamily="34" charset="0"/>
                <a:ea typeface="Calibri" pitchFamily="34" charset="-122"/>
                <a:cs typeface="Calibri" pitchFamily="34" charset="-120"/>
              </a:rPr>
              <a:t>Catálogo institucional sembrado</a:t>
            </a:r>
            <a:endParaRPr lang="en-US" sz="1200" dirty="0"/>
          </a:p>
          <a:p>
            <a:pPr indent="0" marL="0">
              <a:spcAft>
                <a:spcPts val="800"/>
              </a:spcAft>
              <a:buNone/>
            </a:pPr>
            <a:r>
              <a:rPr lang="en-US" sz="1100" dirty="0">
                <a:solidFill>
                  <a:srgbClr val="64748B"/>
                </a:solidFill>
                <a:latin typeface="Calibri" pitchFamily="34" charset="0"/>
                <a:ea typeface="Calibri" pitchFamily="34" charset="-122"/>
                <a:cs typeface="Calibri" pitchFamily="34" charset="-120"/>
              </a:rPr>
              <a:t>       17 ODS + 239 indicadores oficiales de la Agenda 2030</a:t>
            </a:r>
            <a:endParaRPr lang="en-US" sz="1200" dirty="0"/>
          </a:p>
          <a:p>
            <a:pPr indent="0" marL="0">
              <a:buNone/>
            </a:pPr>
            <a:r>
              <a:rPr lang="en-US" sz="1400" b="1" dirty="0">
                <a:solidFill>
                  <a:srgbClr val="10B981"/>
                </a:solidFill>
                <a:latin typeface="Calibri" pitchFamily="34" charset="0"/>
                <a:ea typeface="Calibri" pitchFamily="34" charset="-122"/>
                <a:cs typeface="Calibri" pitchFamily="34" charset="-120"/>
              </a:rPr>
              <a:t>✓  </a:t>
            </a:r>
            <a:pPr indent="0" marL="0">
              <a:buNone/>
            </a:pPr>
            <a:r>
              <a:rPr lang="en-US" sz="1200" b="1" dirty="0">
                <a:solidFill>
                  <a:srgbClr val="1E293B"/>
                </a:solidFill>
                <a:latin typeface="Calibri" pitchFamily="34" charset="0"/>
                <a:ea typeface="Calibri" pitchFamily="34" charset="-122"/>
                <a:cs typeface="Calibri" pitchFamily="34" charset="-120"/>
              </a:rPr>
              <a:t>Integridad referencial activa (InnoDB + FKs)</a:t>
            </a:r>
            <a:endParaRPr lang="en-US" sz="1200" dirty="0"/>
          </a:p>
          <a:p>
            <a:pPr indent="0" marL="0">
              <a:spcAft>
                <a:spcPts val="800"/>
              </a:spcAft>
              <a:buNone/>
            </a:pPr>
            <a:r>
              <a:rPr lang="en-US" sz="1100" dirty="0">
                <a:solidFill>
                  <a:srgbClr val="64748B"/>
                </a:solidFill>
                <a:latin typeface="Calibri" pitchFamily="34" charset="0"/>
                <a:ea typeface="Calibri" pitchFamily="34" charset="-122"/>
                <a:cs typeface="Calibri" pitchFamily="34" charset="-120"/>
              </a:rPr>
              <a:t>       FK inter-schema verificadas vía INFORMATION_SCHEMA</a:t>
            </a:r>
            <a:endParaRPr lang="en-US" sz="1200" dirty="0"/>
          </a:p>
          <a:p>
            <a:pPr indent="0" marL="0">
              <a:buNone/>
            </a:pPr>
            <a:r>
              <a:rPr lang="en-US" sz="1400" b="1" dirty="0">
                <a:solidFill>
                  <a:srgbClr val="10B981"/>
                </a:solidFill>
                <a:latin typeface="Calibri" pitchFamily="34" charset="0"/>
                <a:ea typeface="Calibri" pitchFamily="34" charset="-122"/>
                <a:cs typeface="Calibri" pitchFamily="34" charset="-120"/>
              </a:rPr>
              <a:t>✓  </a:t>
            </a:r>
            <a:pPr indent="0" marL="0">
              <a:spcAft>
                <a:spcPts val="800"/>
              </a:spcAft>
              <a:buNone/>
            </a:pPr>
            <a:r>
              <a:rPr lang="en-US" sz="1200" b="1" dirty="0">
                <a:solidFill>
                  <a:srgbClr val="1E293B"/>
                </a:solidFill>
                <a:latin typeface="Calibri" pitchFamily="34" charset="0"/>
                <a:ea typeface="Calibri" pitchFamily="34" charset="-122"/>
                <a:cs typeface="Calibri" pitchFamily="34" charset="-120"/>
              </a:rPr>
              <a:t>Script maestro 00_run_all.sql funcional</a:t>
            </a:r>
            <a:endParaRPr lang="en-US" sz="1200" dirty="0"/>
          </a:p>
          <a:p>
            <a:pPr indent="0" marL="0">
              <a:buNone/>
            </a:pPr>
            <a:r>
              <a:rPr lang="en-US" sz="1400" b="1" dirty="0">
                <a:solidFill>
                  <a:srgbClr val="10B981"/>
                </a:solidFill>
                <a:latin typeface="Calibri" pitchFamily="34" charset="0"/>
                <a:ea typeface="Calibri" pitchFamily="34" charset="-122"/>
                <a:cs typeface="Calibri" pitchFamily="34" charset="-120"/>
              </a:rPr>
              <a:t>✓  </a:t>
            </a:r>
            <a:pPr indent="0" marL="0">
              <a:buNone/>
            </a:pPr>
            <a:r>
              <a:rPr lang="en-US" sz="1200" b="1" dirty="0">
                <a:solidFill>
                  <a:srgbClr val="1E293B"/>
                </a:solidFill>
                <a:latin typeface="Calibri" pitchFamily="34" charset="0"/>
                <a:ea typeface="Calibri" pitchFamily="34" charset="-122"/>
                <a:cs typeface="Calibri" pitchFamily="34" charset="-120"/>
              </a:rPr>
              <a:t>Generación de POJOs / Records / Tables con jOOQ</a:t>
            </a:r>
            <a:endParaRPr lang="en-US" sz="1200" dirty="0"/>
          </a:p>
        </p:txBody>
      </p:sp>
      <p:sp>
        <p:nvSpPr>
          <p:cNvPr id="9" name="Shape 6"/>
          <p:cNvSpPr/>
          <p:nvPr/>
        </p:nvSpPr>
        <p:spPr>
          <a:xfrm>
            <a:off x="6217920" y="3200400"/>
            <a:ext cx="5486400" cy="3108960"/>
          </a:xfrm>
          <a:prstGeom prst="roundRect">
            <a:avLst>
              <a:gd name="adj" fmla="val 2941"/>
            </a:avLst>
          </a:prstGeom>
          <a:solidFill>
            <a:srgbClr val="EFF6FF"/>
          </a:solidFill>
          <a:ln w="12700">
            <a:solidFill>
              <a:srgbClr val="60A5FA"/>
            </a:solidFill>
            <a:prstDash val="solid"/>
          </a:ln>
          <a:effectLst>
            <a:outerShdw sx="100000" sy="100000" kx="0" ky="0" algn="bl" rotWithShape="0" blurRad="76200" dist="25400" dir="2700000">
              <a:srgbClr val="0F172A">
                <a:alpha val="8000"/>
              </a:srgbClr>
            </a:outerShdw>
          </a:effectLst>
        </p:spPr>
      </p:sp>
      <p:sp>
        <p:nvSpPr>
          <p:cNvPr id="10" name="Text 7"/>
          <p:cNvSpPr/>
          <p:nvPr/>
        </p:nvSpPr>
        <p:spPr>
          <a:xfrm>
            <a:off x="6446520" y="3337560"/>
            <a:ext cx="5029200" cy="274320"/>
          </a:xfrm>
          <a:prstGeom prst="rect">
            <a:avLst/>
          </a:prstGeom>
          <a:noFill/>
          <a:ln/>
        </p:spPr>
        <p:txBody>
          <a:bodyPr wrap="square" lIns="0" tIns="0" rIns="0" bIns="0" rtlCol="0" anchor="ctr"/>
          <a:lstStyle/>
          <a:p>
            <a:pPr indent="0" marL="0">
              <a:buNone/>
            </a:pPr>
            <a:r>
              <a:rPr lang="en-US" sz="1000" b="1" spc="300" kern="0" dirty="0">
                <a:solidFill>
                  <a:srgbClr val="2563EB"/>
                </a:solidFill>
                <a:latin typeface="Calibri" pitchFamily="34" charset="0"/>
                <a:ea typeface="Calibri" pitchFamily="34" charset="-122"/>
                <a:cs typeface="Calibri" pitchFamily="34" charset="-120"/>
              </a:rPr>
              <a:t>PRÓXIMO  ·  AVANCE II</a:t>
            </a:r>
            <a:endParaRPr lang="en-US" sz="1000" dirty="0"/>
          </a:p>
        </p:txBody>
      </p:sp>
      <p:sp>
        <p:nvSpPr>
          <p:cNvPr id="11" name="Text 8"/>
          <p:cNvSpPr/>
          <p:nvPr/>
        </p:nvSpPr>
        <p:spPr>
          <a:xfrm>
            <a:off x="6446520" y="3611880"/>
            <a:ext cx="5029200" cy="2606040"/>
          </a:xfrm>
          <a:prstGeom prst="rect">
            <a:avLst/>
          </a:prstGeom>
          <a:noFill/>
          <a:ln/>
        </p:spPr>
        <p:txBody>
          <a:bodyPr wrap="square" lIns="0" tIns="0" rIns="0" bIns="0" rtlCol="0" anchor="t"/>
          <a:lstStyle/>
          <a:p>
            <a:pPr indent="0" marL="0">
              <a:buNone/>
            </a:pPr>
            <a:r>
              <a:rPr lang="en-US" sz="1400" b="1" dirty="0">
                <a:solidFill>
                  <a:srgbClr val="2563EB"/>
                </a:solidFill>
                <a:latin typeface="Calibri" pitchFamily="34" charset="0"/>
                <a:ea typeface="Calibri" pitchFamily="34" charset="-122"/>
                <a:cs typeface="Calibri" pitchFamily="34" charset="-120"/>
              </a:rPr>
              <a:t>→  </a:t>
            </a:r>
            <a:pPr indent="0" marL="0">
              <a:buNone/>
            </a:pPr>
            <a:r>
              <a:rPr lang="en-US" sz="1200" b="1" dirty="0">
                <a:solidFill>
                  <a:srgbClr val="1E293B"/>
                </a:solidFill>
                <a:latin typeface="Calibri" pitchFamily="34" charset="0"/>
                <a:ea typeface="Calibri" pitchFamily="34" charset="-122"/>
                <a:cs typeface="Calibri" pitchFamily="34" charset="-120"/>
              </a:rPr>
              <a:t>Interfaz base IOdsBaseRepository.java</a:t>
            </a:r>
            <a:endParaRPr lang="en-US" sz="1200" dirty="0"/>
          </a:p>
          <a:p>
            <a:pPr indent="0" marL="0">
              <a:spcAft>
                <a:spcPts val="800"/>
              </a:spcAft>
              <a:buNone/>
            </a:pPr>
            <a:r>
              <a:rPr lang="en-US" sz="1100" dirty="0">
                <a:solidFill>
                  <a:srgbClr val="64748B"/>
                </a:solidFill>
                <a:latin typeface="Calibri" pitchFamily="34" charset="0"/>
                <a:ea typeface="Calibri" pitchFamily="34" charset="-122"/>
                <a:cs typeface="Calibri" pitchFamily="34" charset="-120"/>
              </a:rPr>
              <a:t>       Métodos comunes para los 17 repositorios ODS</a:t>
            </a:r>
            <a:endParaRPr lang="en-US" sz="1200" dirty="0"/>
          </a:p>
          <a:p>
            <a:pPr indent="0" marL="0">
              <a:buNone/>
            </a:pPr>
            <a:r>
              <a:rPr lang="en-US" sz="1400" b="1" dirty="0">
                <a:solidFill>
                  <a:srgbClr val="2563EB"/>
                </a:solidFill>
                <a:latin typeface="Calibri" pitchFamily="34" charset="0"/>
                <a:ea typeface="Calibri" pitchFamily="34" charset="-122"/>
                <a:cs typeface="Calibri" pitchFamily="34" charset="-120"/>
              </a:rPr>
              <a:t>→  </a:t>
            </a:r>
            <a:pPr indent="0" marL="0">
              <a:buNone/>
            </a:pPr>
            <a:r>
              <a:rPr lang="en-US" sz="1200" b="1" dirty="0">
                <a:solidFill>
                  <a:srgbClr val="1E293B"/>
                </a:solidFill>
                <a:latin typeface="Calibri" pitchFamily="34" charset="0"/>
                <a:ea typeface="Calibri" pitchFamily="34" charset="-122"/>
                <a:cs typeface="Calibri" pitchFamily="34" charset="-120"/>
              </a:rPr>
              <a:t>ILoginRepository.java</a:t>
            </a:r>
            <a:endParaRPr lang="en-US" sz="1200" dirty="0"/>
          </a:p>
          <a:p>
            <a:pPr indent="0" marL="0">
              <a:spcAft>
                <a:spcPts val="800"/>
              </a:spcAft>
              <a:buNone/>
            </a:pPr>
            <a:r>
              <a:rPr lang="en-US" sz="1100" dirty="0">
                <a:solidFill>
                  <a:srgbClr val="64748B"/>
                </a:solidFill>
                <a:latin typeface="Calibri" pitchFamily="34" charset="0"/>
                <a:ea typeface="Calibri" pitchFamily="34" charset="-122"/>
                <a:cs typeface="Calibri" pitchFamily="34" charset="-120"/>
              </a:rPr>
              <a:t>       Capa de acceso a datos para el sistema de autenticación</a:t>
            </a:r>
            <a:endParaRPr lang="en-US" sz="1200" dirty="0"/>
          </a:p>
          <a:p>
            <a:pPr indent="0" marL="0">
              <a:buNone/>
            </a:pPr>
            <a:r>
              <a:rPr lang="en-US" sz="1400" b="1" dirty="0">
                <a:solidFill>
                  <a:srgbClr val="2563EB"/>
                </a:solidFill>
                <a:latin typeface="Calibri" pitchFamily="34" charset="0"/>
                <a:ea typeface="Calibri" pitchFamily="34" charset="-122"/>
                <a:cs typeface="Calibri" pitchFamily="34" charset="-120"/>
              </a:rPr>
              <a:t>→  </a:t>
            </a:r>
            <a:pPr indent="0" marL="0">
              <a:spcAft>
                <a:spcPts val="800"/>
              </a:spcAft>
              <a:buNone/>
            </a:pPr>
            <a:r>
              <a:rPr lang="en-US" sz="1200" b="1" dirty="0">
                <a:solidFill>
                  <a:srgbClr val="1E293B"/>
                </a:solidFill>
                <a:latin typeface="Calibri" pitchFamily="34" charset="0"/>
                <a:ea typeface="Calibri" pitchFamily="34" charset="-122"/>
                <a:cs typeface="Calibri" pitchFamily="34" charset="-120"/>
              </a:rPr>
              <a:t>Capa de servicios y controladores REST</a:t>
            </a:r>
            <a:endParaRPr lang="en-US" sz="1200" dirty="0"/>
          </a:p>
          <a:p>
            <a:pPr indent="0" marL="0">
              <a:buNone/>
            </a:pPr>
            <a:r>
              <a:rPr lang="en-US" sz="1400" b="1" dirty="0">
                <a:solidFill>
                  <a:srgbClr val="2563EB"/>
                </a:solidFill>
                <a:latin typeface="Calibri" pitchFamily="34" charset="0"/>
                <a:ea typeface="Calibri" pitchFamily="34" charset="-122"/>
                <a:cs typeface="Calibri" pitchFamily="34" charset="-120"/>
              </a:rPr>
              <a:t>→  </a:t>
            </a:r>
            <a:pPr indent="0" marL="0">
              <a:spcAft>
                <a:spcPts val="800"/>
              </a:spcAft>
              <a:buNone/>
            </a:pPr>
            <a:r>
              <a:rPr lang="en-US" sz="1200" b="1" dirty="0">
                <a:solidFill>
                  <a:srgbClr val="1E293B"/>
                </a:solidFill>
                <a:latin typeface="Calibri" pitchFamily="34" charset="0"/>
                <a:ea typeface="Calibri" pitchFamily="34" charset="-122"/>
                <a:cs typeface="Calibri" pitchFamily="34" charset="-120"/>
              </a:rPr>
              <a:t>Implementación de seguridad con JWT</a:t>
            </a:r>
            <a:endParaRPr lang="en-US" sz="1200" dirty="0"/>
          </a:p>
          <a:p>
            <a:pPr indent="0" marL="0">
              <a:buNone/>
            </a:pPr>
            <a:r>
              <a:rPr lang="en-US" sz="1400" b="1" dirty="0">
                <a:solidFill>
                  <a:srgbClr val="2563EB"/>
                </a:solidFill>
                <a:latin typeface="Calibri" pitchFamily="34" charset="0"/>
                <a:ea typeface="Calibri" pitchFamily="34" charset="-122"/>
                <a:cs typeface="Calibri" pitchFamily="34" charset="-120"/>
              </a:rPr>
              <a:t>→  </a:t>
            </a:r>
            <a:pPr indent="0" marL="0">
              <a:buNone/>
            </a:pPr>
            <a:r>
              <a:rPr lang="en-US" sz="1200" b="1" dirty="0">
                <a:solidFill>
                  <a:srgbClr val="1E293B"/>
                </a:solidFill>
                <a:latin typeface="Calibri" pitchFamily="34" charset="0"/>
                <a:ea typeface="Calibri" pitchFamily="34" charset="-122"/>
                <a:cs typeface="Calibri" pitchFamily="34" charset="-120"/>
              </a:rPr>
              <a:t>Motor de evaluación de fórmulas (exp4j)</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48640" y="411480"/>
            <a:ext cx="11064240" cy="274320"/>
          </a:xfrm>
          <a:prstGeom prst="rect">
            <a:avLst/>
          </a:prstGeom>
          <a:noFill/>
          <a:ln/>
        </p:spPr>
        <p:txBody>
          <a:bodyPr wrap="square" lIns="0" tIns="0" rIns="0" bIns="0" rtlCol="0" anchor="ctr"/>
          <a:lstStyle/>
          <a:p>
            <a:pPr indent="0" marL="0">
              <a:buNone/>
            </a:pPr>
            <a:r>
              <a:rPr lang="en-US" sz="1100" b="1" spc="300" kern="0" dirty="0">
                <a:solidFill>
                  <a:srgbClr val="F59E0B"/>
                </a:solidFill>
                <a:latin typeface="Calibri" pitchFamily="34" charset="0"/>
                <a:ea typeface="Calibri" pitchFamily="34" charset="-122"/>
                <a:cs typeface="Calibri" pitchFamily="34" charset="-120"/>
              </a:rPr>
              <a:t>DIAPOSITIVA 5  ·  CUMPLIMIENTO DEL PLAN</a:t>
            </a:r>
            <a:endParaRPr lang="en-US" sz="1100" dirty="0"/>
          </a:p>
        </p:txBody>
      </p:sp>
      <p:sp>
        <p:nvSpPr>
          <p:cNvPr id="3" name="Text 1"/>
          <p:cNvSpPr/>
          <p:nvPr/>
        </p:nvSpPr>
        <p:spPr>
          <a:xfrm>
            <a:off x="548640" y="713232"/>
            <a:ext cx="11064240" cy="731520"/>
          </a:xfrm>
          <a:prstGeom prst="rect">
            <a:avLst/>
          </a:prstGeom>
          <a:noFill/>
          <a:ln/>
        </p:spPr>
        <p:txBody>
          <a:bodyPr wrap="square" lIns="0" tIns="0" rIns="0" bIns="0" rtlCol="0" anchor="ctr"/>
          <a:lstStyle/>
          <a:p>
            <a:pPr indent="0" marL="0">
              <a:buNone/>
            </a:pPr>
            <a:r>
              <a:rPr lang="en-US" sz="3200" b="1" dirty="0">
                <a:solidFill>
                  <a:srgbClr val="21295C"/>
                </a:solidFill>
                <a:latin typeface="Cambria" pitchFamily="34" charset="0"/>
                <a:ea typeface="Cambria" pitchFamily="34" charset="-122"/>
                <a:cs typeface="Cambria" pitchFamily="34" charset="-120"/>
              </a:rPr>
              <a:t>Cronograma propuesto vs ejecutado</a:t>
            </a:r>
            <a:endParaRPr lang="en-US" sz="3200" dirty="0"/>
          </a:p>
        </p:txBody>
      </p:sp>
      <p:sp>
        <p:nvSpPr>
          <p:cNvPr id="4" name="Text 2"/>
          <p:cNvSpPr/>
          <p:nvPr/>
        </p:nvSpPr>
        <p:spPr>
          <a:xfrm>
            <a:off x="548640" y="6537960"/>
            <a:ext cx="11064240" cy="22860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Práctica Profesional  ·  Avance I  ·  Kevin Campos González  ·  UTN</a:t>
            </a:r>
            <a:endParaRPr lang="en-US" sz="900" dirty="0"/>
          </a:p>
        </p:txBody>
      </p:sp>
      <p:sp>
        <p:nvSpPr>
          <p:cNvPr id="5" name="Shape 3"/>
          <p:cNvSpPr/>
          <p:nvPr/>
        </p:nvSpPr>
        <p:spPr>
          <a:xfrm>
            <a:off x="5166360" y="1783080"/>
            <a:ext cx="1828800" cy="640080"/>
          </a:xfrm>
          <a:prstGeom prst="roundRect">
            <a:avLst>
              <a:gd name="adj" fmla="val 14286"/>
            </a:avLst>
          </a:prstGeom>
          <a:solidFill>
            <a:srgbClr val="10B981"/>
          </a:solidFill>
          <a:ln/>
        </p:spPr>
      </p:sp>
      <p:sp>
        <p:nvSpPr>
          <p:cNvPr id="6" name="Text 4"/>
          <p:cNvSpPr/>
          <p:nvPr/>
        </p:nvSpPr>
        <p:spPr>
          <a:xfrm>
            <a:off x="5166360" y="1783080"/>
            <a:ext cx="1828800" cy="6400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100% de cumplimiento</a:t>
            </a:r>
            <a:endParaRPr lang="en-US" sz="1200" dirty="0"/>
          </a:p>
        </p:txBody>
      </p:sp>
      <p:sp>
        <p:nvSpPr>
          <p:cNvPr id="7" name="Text 5"/>
          <p:cNvSpPr/>
          <p:nvPr/>
        </p:nvSpPr>
        <p:spPr>
          <a:xfrm>
            <a:off x="548640" y="2697480"/>
            <a:ext cx="5212080" cy="320040"/>
          </a:xfrm>
          <a:prstGeom prst="rect">
            <a:avLst/>
          </a:prstGeom>
          <a:noFill/>
          <a:ln/>
        </p:spPr>
        <p:txBody>
          <a:bodyPr wrap="square" lIns="0" tIns="0" rIns="0" bIns="0" rtlCol="0" anchor="ctr"/>
          <a:lstStyle/>
          <a:p>
            <a:pPr algn="ctr" indent="0" marL="0">
              <a:buNone/>
            </a:pPr>
            <a:r>
              <a:rPr lang="en-US" sz="1400" b="1" spc="200" kern="0" dirty="0">
                <a:solidFill>
                  <a:srgbClr val="21295C"/>
                </a:solidFill>
                <a:latin typeface="Cambria" pitchFamily="34" charset="0"/>
                <a:ea typeface="Cambria" pitchFamily="34" charset="-122"/>
                <a:cs typeface="Cambria" pitchFamily="34" charset="-120"/>
              </a:rPr>
              <a:t>PROPUESTO</a:t>
            </a:r>
            <a:endParaRPr lang="en-US" sz="14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3108960"/>
          <a:ext cx="5212080" cy="914400"/>
        </p:xfrm>
        <a:graphic>
          <a:graphicData uri="http://schemas.openxmlformats.org/drawingml/2006/table">
            <a:tbl>
              <a:tblPr/>
              <a:tblGrid>
                <a:gridCol w="1737360"/>
                <a:gridCol w="2103120"/>
                <a:gridCol w="1371600"/>
              </a:tblGrid>
              <a:tr h="384048">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Día</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65A82"/>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Horas</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65A82"/>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Modalidad</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65A82"/>
                    </a:solidFill>
                  </a:tcPr>
                </a:tc>
              </a:tr>
              <a:tr h="384048">
                <a:tc>
                  <a:txBody>
                    <a:bodyPr/>
                    <a:lstStyle/>
                    <a:p>
                      <a:pPr algn="ctr" indent="0" marL="0">
                        <a:buNone/>
                      </a:pPr>
                      <a:r>
                        <a:rPr lang="en-US" sz="1100" dirty="0">
                          <a:solidFill>
                            <a:srgbClr val="1E293B"/>
                          </a:solidFill>
                          <a:latin typeface="Calibri" pitchFamily="34" charset="0"/>
                          <a:ea typeface="Calibri" pitchFamily="34" charset="-122"/>
                          <a:cs typeface="Calibri" pitchFamily="34" charset="-120"/>
                        </a:rPr>
                        <a:t>Lunes</a:t>
                      </a:r>
                      <a:endParaRPr lang="en-US" sz="11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100" dirty="0">
                          <a:solidFill>
                            <a:srgbClr val="1E293B"/>
                          </a:solidFill>
                          <a:latin typeface="Calibri" pitchFamily="34" charset="0"/>
                          <a:ea typeface="Calibri" pitchFamily="34" charset="-122"/>
                          <a:cs typeface="Calibri" pitchFamily="34" charset="-120"/>
                        </a:rPr>
                        <a:t>8am – 12md</a:t>
                      </a:r>
                      <a:endParaRPr lang="en-US" sz="11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100" dirty="0">
                          <a:solidFill>
                            <a:srgbClr val="1E293B"/>
                          </a:solidFill>
                          <a:latin typeface="Calibri" pitchFamily="34" charset="0"/>
                          <a:ea typeface="Calibri" pitchFamily="34" charset="-122"/>
                          <a:cs typeface="Calibri" pitchFamily="34" charset="-120"/>
                        </a:rPr>
                        <a:t>Virtual</a:t>
                      </a:r>
                      <a:endParaRPr lang="en-US" sz="11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384048">
                <a:tc>
                  <a:txBody>
                    <a:bodyPr/>
                    <a:lstStyle/>
                    <a:p>
                      <a:pPr algn="ctr" indent="0" marL="0">
                        <a:buNone/>
                      </a:pPr>
                      <a:r>
                        <a:rPr lang="en-US" sz="1100" dirty="0">
                          <a:solidFill>
                            <a:srgbClr val="1E293B"/>
                          </a:solidFill>
                          <a:latin typeface="Calibri" pitchFamily="34" charset="0"/>
                          <a:ea typeface="Calibri" pitchFamily="34" charset="-122"/>
                          <a:cs typeface="Calibri" pitchFamily="34" charset="-120"/>
                        </a:rPr>
                        <a:t>Martes</a:t>
                      </a:r>
                      <a:endParaRPr lang="en-US" sz="11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100" dirty="0">
                          <a:solidFill>
                            <a:srgbClr val="1E293B"/>
                          </a:solidFill>
                          <a:latin typeface="Calibri" pitchFamily="34" charset="0"/>
                          <a:ea typeface="Calibri" pitchFamily="34" charset="-122"/>
                          <a:cs typeface="Calibri" pitchFamily="34" charset="-120"/>
                        </a:rPr>
                        <a:t>8am – 12md</a:t>
                      </a:r>
                      <a:endParaRPr lang="en-US" sz="11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100" dirty="0">
                          <a:solidFill>
                            <a:srgbClr val="1E293B"/>
                          </a:solidFill>
                          <a:latin typeface="Calibri" pitchFamily="34" charset="0"/>
                          <a:ea typeface="Calibri" pitchFamily="34" charset="-122"/>
                          <a:cs typeface="Calibri" pitchFamily="34" charset="-120"/>
                        </a:rPr>
                        <a:t>Virtual</a:t>
                      </a:r>
                      <a:endParaRPr lang="en-US" sz="11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384048">
                <a:tc>
                  <a:txBody>
                    <a:bodyPr/>
                    <a:lstStyle/>
                    <a:p>
                      <a:pPr algn="ctr" indent="0" marL="0">
                        <a:buNone/>
                      </a:pPr>
                      <a:r>
                        <a:rPr lang="en-US" sz="1100" dirty="0">
                          <a:solidFill>
                            <a:srgbClr val="1E293B"/>
                          </a:solidFill>
                          <a:latin typeface="Calibri" pitchFamily="34" charset="0"/>
                          <a:ea typeface="Calibri" pitchFamily="34" charset="-122"/>
                          <a:cs typeface="Calibri" pitchFamily="34" charset="-120"/>
                        </a:rPr>
                        <a:t>Miércoles</a:t>
                      </a:r>
                      <a:endParaRPr lang="en-US" sz="11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100" dirty="0">
                          <a:solidFill>
                            <a:srgbClr val="1E293B"/>
                          </a:solidFill>
                          <a:latin typeface="Calibri" pitchFamily="34" charset="0"/>
                          <a:ea typeface="Calibri" pitchFamily="34" charset="-122"/>
                          <a:cs typeface="Calibri" pitchFamily="34" charset="-120"/>
                        </a:rPr>
                        <a:t>8am – 12md</a:t>
                      </a:r>
                      <a:endParaRPr lang="en-US" sz="11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100" dirty="0">
                          <a:solidFill>
                            <a:srgbClr val="1E293B"/>
                          </a:solidFill>
                          <a:latin typeface="Calibri" pitchFamily="34" charset="0"/>
                          <a:ea typeface="Calibri" pitchFamily="34" charset="-122"/>
                          <a:cs typeface="Calibri" pitchFamily="34" charset="-120"/>
                        </a:rPr>
                        <a:t>Virtual</a:t>
                      </a:r>
                      <a:endParaRPr lang="en-US" sz="11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384048">
                <a:tc>
                  <a:txBody>
                    <a:bodyPr/>
                    <a:lstStyle/>
                    <a:p>
                      <a:pPr algn="ctr" indent="0" marL="0">
                        <a:buNone/>
                      </a:pPr>
                      <a:r>
                        <a:rPr lang="en-US" sz="1100" dirty="0">
                          <a:solidFill>
                            <a:srgbClr val="1E293B"/>
                          </a:solidFill>
                          <a:latin typeface="Calibri" pitchFamily="34" charset="0"/>
                          <a:ea typeface="Calibri" pitchFamily="34" charset="-122"/>
                          <a:cs typeface="Calibri" pitchFamily="34" charset="-120"/>
                        </a:rPr>
                        <a:t>Jueves</a:t>
                      </a:r>
                      <a:endParaRPr lang="en-US" sz="11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100" dirty="0">
                          <a:solidFill>
                            <a:srgbClr val="1E293B"/>
                          </a:solidFill>
                          <a:latin typeface="Calibri" pitchFamily="34" charset="0"/>
                          <a:ea typeface="Calibri" pitchFamily="34" charset="-122"/>
                          <a:cs typeface="Calibri" pitchFamily="34" charset="-120"/>
                        </a:rPr>
                        <a:t>8am – 12md</a:t>
                      </a:r>
                      <a:endParaRPr lang="en-US" sz="11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100" dirty="0">
                          <a:solidFill>
                            <a:srgbClr val="1E293B"/>
                          </a:solidFill>
                          <a:latin typeface="Calibri" pitchFamily="34" charset="0"/>
                          <a:ea typeface="Calibri" pitchFamily="34" charset="-122"/>
                          <a:cs typeface="Calibri" pitchFamily="34" charset="-120"/>
                        </a:rPr>
                        <a:t>Virtual</a:t>
                      </a:r>
                      <a:endParaRPr lang="en-US" sz="11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384048">
                <a:tc>
                  <a:txBody>
                    <a:bodyPr/>
                    <a:lstStyle/>
                    <a:p>
                      <a:pPr algn="ctr" indent="0" marL="0">
                        <a:buNone/>
                      </a:pPr>
                      <a:r>
                        <a:rPr lang="en-US" sz="1100" dirty="0">
                          <a:solidFill>
                            <a:srgbClr val="1E293B"/>
                          </a:solidFill>
                          <a:latin typeface="Calibri" pitchFamily="34" charset="0"/>
                          <a:ea typeface="Calibri" pitchFamily="34" charset="-122"/>
                          <a:cs typeface="Calibri" pitchFamily="34" charset="-120"/>
                        </a:rPr>
                        <a:t>Viernes</a:t>
                      </a:r>
                      <a:endParaRPr lang="en-US" sz="11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100" dirty="0">
                          <a:solidFill>
                            <a:srgbClr val="1E293B"/>
                          </a:solidFill>
                          <a:latin typeface="Calibri" pitchFamily="34" charset="0"/>
                          <a:ea typeface="Calibri" pitchFamily="34" charset="-122"/>
                          <a:cs typeface="Calibri" pitchFamily="34" charset="-120"/>
                        </a:rPr>
                        <a:t>8am – 12md</a:t>
                      </a:r>
                      <a:endParaRPr lang="en-US" sz="11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100" dirty="0">
                          <a:solidFill>
                            <a:srgbClr val="1E293B"/>
                          </a:solidFill>
                          <a:latin typeface="Calibri" pitchFamily="34" charset="0"/>
                          <a:ea typeface="Calibri" pitchFamily="34" charset="-122"/>
                          <a:cs typeface="Calibri" pitchFamily="34" charset="-120"/>
                        </a:rPr>
                        <a:t>Virtual</a:t>
                      </a:r>
                      <a:endParaRPr lang="en-US" sz="11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384048">
                <a:tc>
                  <a:txBody>
                    <a:bodyPr/>
                    <a:lstStyle/>
                    <a:p>
                      <a:pPr algn="ctr" indent="0" marL="0">
                        <a:buNone/>
                      </a:pPr>
                      <a:r>
                        <a:rPr lang="en-US" sz="1200" b="1" dirty="0">
                          <a:solidFill>
                            <a:srgbClr val="21295C"/>
                          </a:solidFill>
                          <a:latin typeface="Calibri" pitchFamily="34" charset="0"/>
                          <a:ea typeface="Calibri" pitchFamily="34" charset="-122"/>
                          <a:cs typeface="Calibri" pitchFamily="34" charset="-120"/>
                        </a:rPr>
                        <a:t>TOTAL SEMANAL</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algn="ctr" indent="0" marL="0">
                        <a:buNone/>
                      </a:pPr>
                      <a:r>
                        <a:rPr lang="en-US" sz="1200" b="1" dirty="0">
                          <a:solidFill>
                            <a:srgbClr val="21295C"/>
                          </a:solidFill>
                          <a:latin typeface="Calibri" pitchFamily="34" charset="0"/>
                          <a:ea typeface="Calibri" pitchFamily="34" charset="-122"/>
                          <a:cs typeface="Calibri" pitchFamily="34" charset="-120"/>
                        </a:rPr>
                        <a:t>20 horas</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algn="ctr" indent="0" marL="0">
                        <a:buNone/>
                      </a:pPr>
                      <a:r>
                        <a:rPr lang="en-US" sz="1200" b="1" dirty="0">
                          <a:solidFill>
                            <a:srgbClr val="21295C"/>
                          </a:solidFill>
                          <a:latin typeface="Calibri" pitchFamily="34" charset="0"/>
                          <a:ea typeface="Calibri" pitchFamily="34" charset="-122"/>
                          <a:cs typeface="Calibri" pitchFamily="34" charset="-120"/>
                        </a:rPr>
                        <a:t>Virtual</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r>
            </a:tbl>
          </a:graphicData>
        </a:graphic>
      </p:graphicFrame>
      <p:sp>
        <p:nvSpPr>
          <p:cNvPr id="9" name="Text 6"/>
          <p:cNvSpPr/>
          <p:nvPr/>
        </p:nvSpPr>
        <p:spPr>
          <a:xfrm>
            <a:off x="6400800" y="2697480"/>
            <a:ext cx="5212080" cy="320040"/>
          </a:xfrm>
          <a:prstGeom prst="rect">
            <a:avLst/>
          </a:prstGeom>
          <a:noFill/>
          <a:ln/>
        </p:spPr>
        <p:txBody>
          <a:bodyPr wrap="square" lIns="0" tIns="0" rIns="0" bIns="0" rtlCol="0" anchor="ctr"/>
          <a:lstStyle/>
          <a:p>
            <a:pPr algn="ctr" indent="0" marL="0">
              <a:buNone/>
            </a:pPr>
            <a:r>
              <a:rPr lang="en-US" sz="1400" b="1" spc="200" kern="0" dirty="0">
                <a:solidFill>
                  <a:srgbClr val="21295C"/>
                </a:solidFill>
                <a:latin typeface="Cambria" pitchFamily="34" charset="0"/>
                <a:ea typeface="Cambria" pitchFamily="34" charset="-122"/>
                <a:cs typeface="Cambria" pitchFamily="34" charset="-120"/>
              </a:rPr>
              <a:t>EJECUTADO</a:t>
            </a:r>
            <a:endParaRPr lang="en-US" sz="1400" dirty="0"/>
          </a:p>
        </p:txBody>
      </p:sp>
      <p:graphicFrame>
        <p:nvGraphicFramePr>
          <p:cNvPr id="19" name="Table 1"/>
          <p:cNvGraphicFramePr>
            <a:graphicFrameLocks noGrp="1"/>
          </p:cNvGraphicFramePr>
          <p:nvPr>
            <p:extLst>
              <p:ext uri="{D42A27DB-BD31-4B8C-83A1-F6EECF244321}">
                <p14:modId xmlns:p14="http://schemas.microsoft.com/office/powerpoint/2010/main" val="1579011935"/>
              </p:ext>
            </p:extLst>
          </p:nvPr>
        </p:nvGraphicFramePr>
        <p:xfrm>
          <a:off x="6400800" y="3108960"/>
          <a:ext cx="5212080" cy="914400"/>
        </p:xfrm>
        <a:graphic>
          <a:graphicData uri="http://schemas.openxmlformats.org/drawingml/2006/table">
            <a:tbl>
              <a:tblPr/>
              <a:tblGrid>
                <a:gridCol w="1737360"/>
                <a:gridCol w="2103120"/>
                <a:gridCol w="1371600"/>
              </a:tblGrid>
              <a:tr h="384048">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Día</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65A82"/>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Horas</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65A82"/>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Modalidad</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65A82"/>
                    </a:solidFill>
                  </a:tcPr>
                </a:tc>
              </a:tr>
              <a:tr h="384048">
                <a:tc>
                  <a:txBody>
                    <a:bodyPr/>
                    <a:lstStyle/>
                    <a:p>
                      <a:pPr algn="ctr" indent="0" marL="0">
                        <a:buNone/>
                      </a:pPr>
                      <a:r>
                        <a:rPr lang="en-US" sz="1100" dirty="0">
                          <a:solidFill>
                            <a:srgbClr val="1E293B"/>
                          </a:solidFill>
                          <a:latin typeface="Calibri" pitchFamily="34" charset="0"/>
                          <a:ea typeface="Calibri" pitchFamily="34" charset="-122"/>
                          <a:cs typeface="Calibri" pitchFamily="34" charset="-120"/>
                        </a:rPr>
                        <a:t>Lunes</a:t>
                      </a:r>
                      <a:endParaRPr lang="en-US" sz="11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100" dirty="0">
                          <a:solidFill>
                            <a:srgbClr val="1E293B"/>
                          </a:solidFill>
                          <a:latin typeface="Calibri" pitchFamily="34" charset="0"/>
                          <a:ea typeface="Calibri" pitchFamily="34" charset="-122"/>
                          <a:cs typeface="Calibri" pitchFamily="34" charset="-120"/>
                        </a:rPr>
                        <a:t>8am – 12md</a:t>
                      </a:r>
                      <a:endParaRPr lang="en-US" sz="11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100" dirty="0">
                          <a:solidFill>
                            <a:srgbClr val="1E293B"/>
                          </a:solidFill>
                          <a:latin typeface="Calibri" pitchFamily="34" charset="0"/>
                          <a:ea typeface="Calibri" pitchFamily="34" charset="-122"/>
                          <a:cs typeface="Calibri" pitchFamily="34" charset="-120"/>
                        </a:rPr>
                        <a:t>Virtual</a:t>
                      </a:r>
                      <a:endParaRPr lang="en-US" sz="11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384048">
                <a:tc>
                  <a:txBody>
                    <a:bodyPr/>
                    <a:lstStyle/>
                    <a:p>
                      <a:pPr algn="ctr" indent="0" marL="0">
                        <a:buNone/>
                      </a:pPr>
                      <a:r>
                        <a:rPr lang="en-US" sz="1100" dirty="0">
                          <a:solidFill>
                            <a:srgbClr val="1E293B"/>
                          </a:solidFill>
                          <a:latin typeface="Calibri" pitchFamily="34" charset="0"/>
                          <a:ea typeface="Calibri" pitchFamily="34" charset="-122"/>
                          <a:cs typeface="Calibri" pitchFamily="34" charset="-120"/>
                        </a:rPr>
                        <a:t>Martes</a:t>
                      </a:r>
                      <a:endParaRPr lang="en-US" sz="11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100" dirty="0">
                          <a:solidFill>
                            <a:srgbClr val="1E293B"/>
                          </a:solidFill>
                          <a:latin typeface="Calibri" pitchFamily="34" charset="0"/>
                          <a:ea typeface="Calibri" pitchFamily="34" charset="-122"/>
                          <a:cs typeface="Calibri" pitchFamily="34" charset="-120"/>
                        </a:rPr>
                        <a:t>8am – 12md</a:t>
                      </a:r>
                      <a:endParaRPr lang="en-US" sz="11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100" dirty="0">
                          <a:solidFill>
                            <a:srgbClr val="1E293B"/>
                          </a:solidFill>
                          <a:latin typeface="Calibri" pitchFamily="34" charset="0"/>
                          <a:ea typeface="Calibri" pitchFamily="34" charset="-122"/>
                          <a:cs typeface="Calibri" pitchFamily="34" charset="-120"/>
                        </a:rPr>
                        <a:t>Virtual</a:t>
                      </a:r>
                      <a:endParaRPr lang="en-US" sz="11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384048">
                <a:tc>
                  <a:txBody>
                    <a:bodyPr/>
                    <a:lstStyle/>
                    <a:p>
                      <a:pPr algn="ctr" indent="0" marL="0">
                        <a:buNone/>
                      </a:pPr>
                      <a:r>
                        <a:rPr lang="en-US" sz="1100" dirty="0">
                          <a:solidFill>
                            <a:srgbClr val="1E293B"/>
                          </a:solidFill>
                          <a:latin typeface="Calibri" pitchFamily="34" charset="0"/>
                          <a:ea typeface="Calibri" pitchFamily="34" charset="-122"/>
                          <a:cs typeface="Calibri" pitchFamily="34" charset="-120"/>
                        </a:rPr>
                        <a:t>Miércoles</a:t>
                      </a:r>
                      <a:endParaRPr lang="en-US" sz="11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100" dirty="0">
                          <a:solidFill>
                            <a:srgbClr val="1E293B"/>
                          </a:solidFill>
                          <a:latin typeface="Calibri" pitchFamily="34" charset="0"/>
                          <a:ea typeface="Calibri" pitchFamily="34" charset="-122"/>
                          <a:cs typeface="Calibri" pitchFamily="34" charset="-120"/>
                        </a:rPr>
                        <a:t>8am – 12md</a:t>
                      </a:r>
                      <a:endParaRPr lang="en-US" sz="11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100" dirty="0">
                          <a:solidFill>
                            <a:srgbClr val="1E293B"/>
                          </a:solidFill>
                          <a:latin typeface="Calibri" pitchFamily="34" charset="0"/>
                          <a:ea typeface="Calibri" pitchFamily="34" charset="-122"/>
                          <a:cs typeface="Calibri" pitchFamily="34" charset="-120"/>
                        </a:rPr>
                        <a:t>Virtual</a:t>
                      </a:r>
                      <a:endParaRPr lang="en-US" sz="11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384048">
                <a:tc>
                  <a:txBody>
                    <a:bodyPr/>
                    <a:lstStyle/>
                    <a:p>
                      <a:pPr algn="ctr" indent="0" marL="0">
                        <a:buNone/>
                      </a:pPr>
                      <a:r>
                        <a:rPr lang="en-US" sz="1100" dirty="0">
                          <a:solidFill>
                            <a:srgbClr val="1E293B"/>
                          </a:solidFill>
                          <a:latin typeface="Calibri" pitchFamily="34" charset="0"/>
                          <a:ea typeface="Calibri" pitchFamily="34" charset="-122"/>
                          <a:cs typeface="Calibri" pitchFamily="34" charset="-120"/>
                        </a:rPr>
                        <a:t>Jueves</a:t>
                      </a:r>
                      <a:endParaRPr lang="en-US" sz="11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100" dirty="0">
                          <a:solidFill>
                            <a:srgbClr val="1E293B"/>
                          </a:solidFill>
                          <a:latin typeface="Calibri" pitchFamily="34" charset="0"/>
                          <a:ea typeface="Calibri" pitchFamily="34" charset="-122"/>
                          <a:cs typeface="Calibri" pitchFamily="34" charset="-120"/>
                        </a:rPr>
                        <a:t>8am – 12md</a:t>
                      </a:r>
                      <a:endParaRPr lang="en-US" sz="11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100" dirty="0">
                          <a:solidFill>
                            <a:srgbClr val="1E293B"/>
                          </a:solidFill>
                          <a:latin typeface="Calibri" pitchFamily="34" charset="0"/>
                          <a:ea typeface="Calibri" pitchFamily="34" charset="-122"/>
                          <a:cs typeface="Calibri" pitchFamily="34" charset="-120"/>
                        </a:rPr>
                        <a:t>Virtual</a:t>
                      </a:r>
                      <a:endParaRPr lang="en-US" sz="11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384048">
                <a:tc>
                  <a:txBody>
                    <a:bodyPr/>
                    <a:lstStyle/>
                    <a:p>
                      <a:pPr algn="ctr" indent="0" marL="0">
                        <a:buNone/>
                      </a:pPr>
                      <a:r>
                        <a:rPr lang="en-US" sz="1100" dirty="0">
                          <a:solidFill>
                            <a:srgbClr val="1E293B"/>
                          </a:solidFill>
                          <a:latin typeface="Calibri" pitchFamily="34" charset="0"/>
                          <a:ea typeface="Calibri" pitchFamily="34" charset="-122"/>
                          <a:cs typeface="Calibri" pitchFamily="34" charset="-120"/>
                        </a:rPr>
                        <a:t>Viernes</a:t>
                      </a:r>
                      <a:endParaRPr lang="en-US" sz="11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100" dirty="0">
                          <a:solidFill>
                            <a:srgbClr val="1E293B"/>
                          </a:solidFill>
                          <a:latin typeface="Calibri" pitchFamily="34" charset="0"/>
                          <a:ea typeface="Calibri" pitchFamily="34" charset="-122"/>
                          <a:cs typeface="Calibri" pitchFamily="34" charset="-120"/>
                        </a:rPr>
                        <a:t>8am – 12md</a:t>
                      </a:r>
                      <a:endParaRPr lang="en-US" sz="11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100" dirty="0">
                          <a:solidFill>
                            <a:srgbClr val="1E293B"/>
                          </a:solidFill>
                          <a:latin typeface="Calibri" pitchFamily="34" charset="0"/>
                          <a:ea typeface="Calibri" pitchFamily="34" charset="-122"/>
                          <a:cs typeface="Calibri" pitchFamily="34" charset="-120"/>
                        </a:rPr>
                        <a:t>Virtual</a:t>
                      </a:r>
                      <a:endParaRPr lang="en-US" sz="11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384048">
                <a:tc>
                  <a:txBody>
                    <a:bodyPr/>
                    <a:lstStyle/>
                    <a:p>
                      <a:pPr algn="ctr" indent="0" marL="0">
                        <a:buNone/>
                      </a:pPr>
                      <a:r>
                        <a:rPr lang="en-US" sz="1200" b="1" dirty="0">
                          <a:solidFill>
                            <a:srgbClr val="21295C"/>
                          </a:solidFill>
                          <a:latin typeface="Calibri" pitchFamily="34" charset="0"/>
                          <a:ea typeface="Calibri" pitchFamily="34" charset="-122"/>
                          <a:cs typeface="Calibri" pitchFamily="34" charset="-120"/>
                        </a:rPr>
                        <a:t>TOTAL SEMANAL</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algn="ctr" indent="0" marL="0">
                        <a:buNone/>
                      </a:pPr>
                      <a:r>
                        <a:rPr lang="en-US" sz="1200" b="1" dirty="0">
                          <a:solidFill>
                            <a:srgbClr val="21295C"/>
                          </a:solidFill>
                          <a:latin typeface="Calibri" pitchFamily="34" charset="0"/>
                          <a:ea typeface="Calibri" pitchFamily="34" charset="-122"/>
                          <a:cs typeface="Calibri" pitchFamily="34" charset="-120"/>
                        </a:rPr>
                        <a:t>20 horas</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algn="ctr" indent="0" marL="0">
                        <a:buNone/>
                      </a:pPr>
                      <a:r>
                        <a:rPr lang="en-US" sz="1200" b="1" dirty="0">
                          <a:solidFill>
                            <a:srgbClr val="21295C"/>
                          </a:solidFill>
                          <a:latin typeface="Calibri" pitchFamily="34" charset="0"/>
                          <a:ea typeface="Calibri" pitchFamily="34" charset="-122"/>
                          <a:cs typeface="Calibri" pitchFamily="34" charset="-120"/>
                        </a:rPr>
                        <a:t>Virtual</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r>
            </a:tbl>
          </a:graphicData>
        </a:graphic>
      </p:graphicFrame>
      <p:sp>
        <p:nvSpPr>
          <p:cNvPr id="11" name="Text 7"/>
          <p:cNvSpPr/>
          <p:nvPr/>
        </p:nvSpPr>
        <p:spPr>
          <a:xfrm>
            <a:off x="548640" y="5760720"/>
            <a:ext cx="11064240" cy="640080"/>
          </a:xfrm>
          <a:prstGeom prst="rect">
            <a:avLst/>
          </a:prstGeom>
          <a:noFill/>
          <a:ln/>
        </p:spPr>
        <p:txBody>
          <a:bodyPr wrap="square" lIns="0" tIns="0" rIns="0" bIns="0" rtlCol="0" anchor="ctr"/>
          <a:lstStyle/>
          <a:p>
            <a:pPr indent="0" marL="0">
              <a:buNone/>
            </a:pPr>
            <a:r>
              <a:rPr lang="en-US" sz="1200" b="1" dirty="0">
                <a:solidFill>
                  <a:srgbClr val="21295C"/>
                </a:solidFill>
                <a:latin typeface="Calibri" pitchFamily="34" charset="0"/>
                <a:ea typeface="Calibri" pitchFamily="34" charset="-122"/>
                <a:cs typeface="Calibri" pitchFamily="34" charset="-120"/>
              </a:rPr>
              <a:t>Análisis  </a:t>
            </a:r>
            <a:pPr indent="0" marL="0">
              <a:buNone/>
            </a:pPr>
            <a:r>
              <a:rPr lang="en-US" sz="1200" i="1" dirty="0">
                <a:solidFill>
                  <a:srgbClr val="475569"/>
                </a:solidFill>
                <a:latin typeface="Calibri" pitchFamily="34" charset="0"/>
                <a:ea typeface="Calibri" pitchFamily="34" charset="-122"/>
                <a:cs typeface="Calibri" pitchFamily="34" charset="-120"/>
              </a:rPr>
              <a:t>—  El cronograma ejecutado coincide exactamente con el cronograma propuesto en las 4 semanas del avance. Se reportaron 20 horas semanales registradas en cada bitácora firmada por el coordinador, con cumplimiento del 100% en todas las actividades planeadas y las no planeadas (matriz de InnoDB, ods16, configuración jOOQ).</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48640" y="411480"/>
            <a:ext cx="11064240" cy="274320"/>
          </a:xfrm>
          <a:prstGeom prst="rect">
            <a:avLst/>
          </a:prstGeom>
          <a:noFill/>
          <a:ln/>
        </p:spPr>
        <p:txBody>
          <a:bodyPr wrap="square" lIns="0" tIns="0" rIns="0" bIns="0" rtlCol="0" anchor="ctr"/>
          <a:lstStyle/>
          <a:p>
            <a:pPr indent="0" marL="0">
              <a:buNone/>
            </a:pPr>
            <a:r>
              <a:rPr lang="en-US" sz="1100" b="1" spc="300" kern="0" dirty="0">
                <a:solidFill>
                  <a:srgbClr val="F59E0B"/>
                </a:solidFill>
                <a:latin typeface="Calibri" pitchFamily="34" charset="0"/>
                <a:ea typeface="Calibri" pitchFamily="34" charset="-122"/>
                <a:cs typeface="Calibri" pitchFamily="34" charset="-120"/>
              </a:rPr>
              <a:t>DIAPOSITIVA 6  ·  REFLEXIÓN DEL PERIODO</a:t>
            </a:r>
            <a:endParaRPr lang="en-US" sz="1100" dirty="0"/>
          </a:p>
        </p:txBody>
      </p:sp>
      <p:sp>
        <p:nvSpPr>
          <p:cNvPr id="3" name="Text 1"/>
          <p:cNvSpPr/>
          <p:nvPr/>
        </p:nvSpPr>
        <p:spPr>
          <a:xfrm>
            <a:off x="548640" y="713232"/>
            <a:ext cx="11064240" cy="731520"/>
          </a:xfrm>
          <a:prstGeom prst="rect">
            <a:avLst/>
          </a:prstGeom>
          <a:noFill/>
          <a:ln/>
        </p:spPr>
        <p:txBody>
          <a:bodyPr wrap="square" lIns="0" tIns="0" rIns="0" bIns="0" rtlCol="0" anchor="ctr"/>
          <a:lstStyle/>
          <a:p>
            <a:pPr indent="0" marL="0">
              <a:buNone/>
            </a:pPr>
            <a:r>
              <a:rPr lang="en-US" sz="3200" b="1" dirty="0">
                <a:solidFill>
                  <a:srgbClr val="21295C"/>
                </a:solidFill>
                <a:latin typeface="Cambria" pitchFamily="34" charset="0"/>
                <a:ea typeface="Cambria" pitchFamily="34" charset="-122"/>
                <a:cs typeface="Cambria" pitchFamily="34" charset="-120"/>
              </a:rPr>
              <a:t>Comentario personal</a:t>
            </a:r>
            <a:endParaRPr lang="en-US" sz="3200" dirty="0"/>
          </a:p>
        </p:txBody>
      </p:sp>
      <p:sp>
        <p:nvSpPr>
          <p:cNvPr id="4" name="Text 2"/>
          <p:cNvSpPr/>
          <p:nvPr/>
        </p:nvSpPr>
        <p:spPr>
          <a:xfrm>
            <a:off x="548640" y="6537960"/>
            <a:ext cx="11064240" cy="22860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Práctica Profesional  ·  Avance I  ·  Kevin Campos González  ·  UTN</a:t>
            </a:r>
            <a:endParaRPr lang="en-US" sz="900" dirty="0"/>
          </a:p>
        </p:txBody>
      </p:sp>
      <p:sp>
        <p:nvSpPr>
          <p:cNvPr id="5" name="Shape 3"/>
          <p:cNvSpPr/>
          <p:nvPr/>
        </p:nvSpPr>
        <p:spPr>
          <a:xfrm>
            <a:off x="548640" y="1783080"/>
            <a:ext cx="11064240" cy="2103120"/>
          </a:xfrm>
          <a:prstGeom prst="roundRect">
            <a:avLst>
              <a:gd name="adj" fmla="val 4348"/>
            </a:avLst>
          </a:prstGeom>
          <a:solidFill>
            <a:srgbClr val="21295C"/>
          </a:solidFill>
          <a:ln/>
          <a:effectLst>
            <a:outerShdw sx="100000" sy="100000" kx="0" ky="0" algn="bl" rotWithShape="0" blurRad="152400" dist="38100" dir="5400000">
              <a:srgbClr val="0F172A">
                <a:alpha val="10000"/>
              </a:srgbClr>
            </a:outerShdw>
          </a:effectLst>
        </p:spPr>
      </p:sp>
      <p:sp>
        <p:nvSpPr>
          <p:cNvPr id="6" name="Text 4"/>
          <p:cNvSpPr/>
          <p:nvPr/>
        </p:nvSpPr>
        <p:spPr>
          <a:xfrm>
            <a:off x="731520" y="1691640"/>
            <a:ext cx="914400" cy="914400"/>
          </a:xfrm>
          <a:prstGeom prst="rect">
            <a:avLst/>
          </a:prstGeom>
          <a:noFill/>
          <a:ln/>
        </p:spPr>
        <p:txBody>
          <a:bodyPr wrap="square" lIns="0" tIns="0" rIns="0" bIns="0" rtlCol="0" anchor="ctr"/>
          <a:lstStyle/>
          <a:p>
            <a:pPr indent="0" marL="0">
              <a:buNone/>
            </a:pPr>
            <a:r>
              <a:rPr lang="en-US" sz="9000" b="1" dirty="0">
                <a:solidFill>
                  <a:srgbClr val="F59E0B"/>
                </a:solidFill>
                <a:latin typeface="Cambria" pitchFamily="34" charset="0"/>
                <a:ea typeface="Cambria" pitchFamily="34" charset="-122"/>
                <a:cs typeface="Cambria" pitchFamily="34" charset="-120"/>
              </a:rPr>
              <a:t>“</a:t>
            </a:r>
            <a:endParaRPr lang="en-US" sz="9000" dirty="0"/>
          </a:p>
        </p:txBody>
      </p:sp>
      <p:sp>
        <p:nvSpPr>
          <p:cNvPr id="7" name="Text 5"/>
          <p:cNvSpPr/>
          <p:nvPr/>
        </p:nvSpPr>
        <p:spPr>
          <a:xfrm>
            <a:off x="1463040" y="1965960"/>
            <a:ext cx="10058400" cy="1783080"/>
          </a:xfrm>
          <a:prstGeom prst="rect">
            <a:avLst/>
          </a:prstGeom>
          <a:noFill/>
          <a:ln/>
        </p:spPr>
        <p:txBody>
          <a:bodyPr wrap="square" lIns="0" tIns="0" rIns="0" bIns="0" rtlCol="0" anchor="ctr"/>
          <a:lstStyle/>
          <a:p>
            <a:pPr indent="0" marL="0">
              <a:buNone/>
            </a:pPr>
            <a:r>
              <a:rPr lang="en-US" sz="1600" i="1" dirty="0">
                <a:solidFill>
                  <a:srgbClr val="FFFFFF"/>
                </a:solidFill>
                <a:latin typeface="Cambria" pitchFamily="34" charset="0"/>
                <a:ea typeface="Cambria" pitchFamily="34" charset="-122"/>
                <a:cs typeface="Cambria" pitchFamily="34" charset="-120"/>
              </a:rPr>
              <a:t>Las primeras cuatro semanas me enseñaron que en un proyecto institucional el diseño de la base de datos es la decisión más cara de cambiar. Cada hora invertida en revisar la propuesta antes de codificar evitó horas de retrabajo después.</a:t>
            </a:r>
            <a:endParaRPr lang="en-US" sz="1600" dirty="0"/>
          </a:p>
        </p:txBody>
      </p:sp>
      <p:sp>
        <p:nvSpPr>
          <p:cNvPr id="8" name="Shape 6"/>
          <p:cNvSpPr/>
          <p:nvPr/>
        </p:nvSpPr>
        <p:spPr>
          <a:xfrm>
            <a:off x="548640" y="4069080"/>
            <a:ext cx="5349240" cy="1097280"/>
          </a:xfrm>
          <a:prstGeom prst="roundRect">
            <a:avLst>
              <a:gd name="adj" fmla="val 6667"/>
            </a:avLst>
          </a:prstGeom>
          <a:solidFill>
            <a:srgbClr val="FFFFFF"/>
          </a:solidFill>
          <a:ln w="12700">
            <a:solidFill>
              <a:srgbClr val="E2E8F0"/>
            </a:solidFill>
            <a:prstDash val="solid"/>
          </a:ln>
          <a:effectLst>
            <a:outerShdw sx="100000" sy="100000" kx="0" ky="0" algn="bl" rotWithShape="0" blurRad="76200" dist="25400" dir="2700000">
              <a:srgbClr val="0F172A">
                <a:alpha val="8000"/>
              </a:srgbClr>
            </a:outerShdw>
          </a:effectLst>
        </p:spPr>
      </p:sp>
      <p:sp>
        <p:nvSpPr>
          <p:cNvPr id="9" name="Shape 7"/>
          <p:cNvSpPr/>
          <p:nvPr/>
        </p:nvSpPr>
        <p:spPr>
          <a:xfrm>
            <a:off x="731520" y="4297680"/>
            <a:ext cx="640080" cy="640080"/>
          </a:xfrm>
          <a:prstGeom prst="ellipse">
            <a:avLst/>
          </a:prstGeom>
          <a:solidFill>
            <a:srgbClr val="065A82"/>
          </a:solidFill>
          <a:ln/>
        </p:spPr>
      </p:sp>
      <p:sp>
        <p:nvSpPr>
          <p:cNvPr id="10" name="Text 8"/>
          <p:cNvSpPr/>
          <p:nvPr/>
        </p:nvSpPr>
        <p:spPr>
          <a:xfrm>
            <a:off x="731520" y="429768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11" name="Text 9"/>
          <p:cNvSpPr/>
          <p:nvPr/>
        </p:nvSpPr>
        <p:spPr>
          <a:xfrm>
            <a:off x="1508760" y="4206240"/>
            <a:ext cx="4206240" cy="320040"/>
          </a:xfrm>
          <a:prstGeom prst="rect">
            <a:avLst/>
          </a:prstGeom>
          <a:noFill/>
          <a:ln/>
        </p:spPr>
        <p:txBody>
          <a:bodyPr wrap="square" lIns="0" tIns="0" rIns="0" bIns="0" rtlCol="0" anchor="ctr"/>
          <a:lstStyle/>
          <a:p>
            <a:pPr indent="0" marL="0">
              <a:buNone/>
            </a:pPr>
            <a:r>
              <a:rPr lang="en-US" sz="1400" b="1" dirty="0">
                <a:solidFill>
                  <a:srgbClr val="21295C"/>
                </a:solidFill>
                <a:latin typeface="Calibri" pitchFamily="34" charset="0"/>
                <a:ea typeface="Calibri" pitchFamily="34" charset="-122"/>
                <a:cs typeface="Calibri" pitchFamily="34" charset="-120"/>
              </a:rPr>
              <a:t>Diseño antes que código</a:t>
            </a:r>
            <a:endParaRPr lang="en-US" sz="1400" dirty="0"/>
          </a:p>
        </p:txBody>
      </p:sp>
      <p:sp>
        <p:nvSpPr>
          <p:cNvPr id="12" name="Text 10"/>
          <p:cNvSpPr/>
          <p:nvPr/>
        </p:nvSpPr>
        <p:spPr>
          <a:xfrm>
            <a:off x="1508760" y="4526280"/>
            <a:ext cx="4206240" cy="594360"/>
          </a:xfrm>
          <a:prstGeom prst="rect">
            <a:avLst/>
          </a:prstGeom>
          <a:noFill/>
          <a:ln/>
        </p:spPr>
        <p:txBody>
          <a:bodyPr wrap="square" lIns="0" tIns="0" rIns="0" bIns="0" rtlCol="0" anchor="ctr"/>
          <a:lstStyle/>
          <a:p>
            <a:pPr indent="0" marL="0">
              <a:buNone/>
            </a:pPr>
            <a:r>
              <a:rPr lang="en-US" sz="1050" dirty="0">
                <a:solidFill>
                  <a:srgbClr val="475569"/>
                </a:solidFill>
                <a:latin typeface="Calibri" pitchFamily="34" charset="0"/>
                <a:ea typeface="Calibri" pitchFamily="34" charset="-122"/>
                <a:cs typeface="Calibri" pitchFamily="34" charset="-120"/>
              </a:rPr>
              <a:t>Detectar inconsistencias en la propuesta original de BD y crear un documento comparativo antes de empezar a codificar evitó retrabajo en las semanas siguientes.</a:t>
            </a:r>
            <a:endParaRPr lang="en-US" sz="1050" dirty="0"/>
          </a:p>
        </p:txBody>
      </p:sp>
      <p:sp>
        <p:nvSpPr>
          <p:cNvPr id="13" name="Shape 11"/>
          <p:cNvSpPr/>
          <p:nvPr/>
        </p:nvSpPr>
        <p:spPr>
          <a:xfrm>
            <a:off x="6263640" y="4069080"/>
            <a:ext cx="5349240" cy="1097280"/>
          </a:xfrm>
          <a:prstGeom prst="roundRect">
            <a:avLst>
              <a:gd name="adj" fmla="val 6667"/>
            </a:avLst>
          </a:prstGeom>
          <a:solidFill>
            <a:srgbClr val="FFFFFF"/>
          </a:solidFill>
          <a:ln w="12700">
            <a:solidFill>
              <a:srgbClr val="E2E8F0"/>
            </a:solidFill>
            <a:prstDash val="solid"/>
          </a:ln>
          <a:effectLst>
            <a:outerShdw sx="100000" sy="100000" kx="0" ky="0" algn="bl" rotWithShape="0" blurRad="76200" dist="25400" dir="2700000">
              <a:srgbClr val="0F172A">
                <a:alpha val="8000"/>
              </a:srgbClr>
            </a:outerShdw>
          </a:effectLst>
        </p:spPr>
      </p:sp>
      <p:sp>
        <p:nvSpPr>
          <p:cNvPr id="14" name="Shape 12"/>
          <p:cNvSpPr/>
          <p:nvPr/>
        </p:nvSpPr>
        <p:spPr>
          <a:xfrm>
            <a:off x="6446520" y="4297680"/>
            <a:ext cx="640080" cy="640080"/>
          </a:xfrm>
          <a:prstGeom prst="ellipse">
            <a:avLst/>
          </a:prstGeom>
          <a:solidFill>
            <a:srgbClr val="065A82"/>
          </a:solidFill>
          <a:ln/>
        </p:spPr>
      </p:sp>
      <p:sp>
        <p:nvSpPr>
          <p:cNvPr id="15" name="Text 13"/>
          <p:cNvSpPr/>
          <p:nvPr/>
        </p:nvSpPr>
        <p:spPr>
          <a:xfrm>
            <a:off x="6446520" y="429768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16" name="Text 14"/>
          <p:cNvSpPr/>
          <p:nvPr/>
        </p:nvSpPr>
        <p:spPr>
          <a:xfrm>
            <a:off x="7223760" y="4206240"/>
            <a:ext cx="4206240" cy="320040"/>
          </a:xfrm>
          <a:prstGeom prst="rect">
            <a:avLst/>
          </a:prstGeom>
          <a:noFill/>
          <a:ln/>
        </p:spPr>
        <p:txBody>
          <a:bodyPr wrap="square" lIns="0" tIns="0" rIns="0" bIns="0" rtlCol="0" anchor="ctr"/>
          <a:lstStyle/>
          <a:p>
            <a:pPr indent="0" marL="0">
              <a:buNone/>
            </a:pPr>
            <a:r>
              <a:rPr lang="en-US" sz="1400" b="1" dirty="0">
                <a:solidFill>
                  <a:srgbClr val="21295C"/>
                </a:solidFill>
                <a:latin typeface="Calibri" pitchFamily="34" charset="0"/>
                <a:ea typeface="Calibri" pitchFamily="34" charset="-122"/>
                <a:cs typeface="Calibri" pitchFamily="34" charset="-120"/>
              </a:rPr>
              <a:t>Diagnóstico técnico riguroso</a:t>
            </a:r>
            <a:endParaRPr lang="en-US" sz="1400" dirty="0"/>
          </a:p>
        </p:txBody>
      </p:sp>
      <p:sp>
        <p:nvSpPr>
          <p:cNvPr id="17" name="Text 15"/>
          <p:cNvSpPr/>
          <p:nvPr/>
        </p:nvSpPr>
        <p:spPr>
          <a:xfrm>
            <a:off x="7223760" y="4526280"/>
            <a:ext cx="4206240" cy="594360"/>
          </a:xfrm>
          <a:prstGeom prst="rect">
            <a:avLst/>
          </a:prstGeom>
          <a:noFill/>
          <a:ln/>
        </p:spPr>
        <p:txBody>
          <a:bodyPr wrap="square" lIns="0" tIns="0" rIns="0" bIns="0" rtlCol="0" anchor="ctr"/>
          <a:lstStyle/>
          <a:p>
            <a:pPr indent="0" marL="0">
              <a:buNone/>
            </a:pPr>
            <a:r>
              <a:rPr lang="en-US" sz="1050" dirty="0">
                <a:solidFill>
                  <a:srgbClr val="475569"/>
                </a:solidFill>
                <a:latin typeface="Calibri" pitchFamily="34" charset="0"/>
                <a:ea typeface="Calibri" pitchFamily="34" charset="-122"/>
                <a:cs typeface="Calibri" pitchFamily="34" charset="-120"/>
              </a:rPr>
              <a:t>Resolver la configuración de jOOQ exigió aislar tres errores distintos en pom.xml: versión de Java, nombre de paquete y ruta de salida. Cada uno se atendió por separado.</a:t>
            </a:r>
            <a:endParaRPr lang="en-US" sz="1050" dirty="0"/>
          </a:p>
        </p:txBody>
      </p:sp>
      <p:sp>
        <p:nvSpPr>
          <p:cNvPr id="18" name="Shape 16"/>
          <p:cNvSpPr/>
          <p:nvPr/>
        </p:nvSpPr>
        <p:spPr>
          <a:xfrm>
            <a:off x="548640" y="5303520"/>
            <a:ext cx="5349240" cy="1097280"/>
          </a:xfrm>
          <a:prstGeom prst="roundRect">
            <a:avLst>
              <a:gd name="adj" fmla="val 6667"/>
            </a:avLst>
          </a:prstGeom>
          <a:solidFill>
            <a:srgbClr val="FFFFFF"/>
          </a:solidFill>
          <a:ln w="12700">
            <a:solidFill>
              <a:srgbClr val="E2E8F0"/>
            </a:solidFill>
            <a:prstDash val="solid"/>
          </a:ln>
          <a:effectLst>
            <a:outerShdw sx="100000" sy="100000" kx="0" ky="0" algn="bl" rotWithShape="0" blurRad="76200" dist="25400" dir="2700000">
              <a:srgbClr val="0F172A">
                <a:alpha val="8000"/>
              </a:srgbClr>
            </a:outerShdw>
          </a:effectLst>
        </p:spPr>
      </p:sp>
      <p:sp>
        <p:nvSpPr>
          <p:cNvPr id="19" name="Shape 17"/>
          <p:cNvSpPr/>
          <p:nvPr/>
        </p:nvSpPr>
        <p:spPr>
          <a:xfrm>
            <a:off x="731520" y="5532120"/>
            <a:ext cx="640080" cy="640080"/>
          </a:xfrm>
          <a:prstGeom prst="ellipse">
            <a:avLst/>
          </a:prstGeom>
          <a:solidFill>
            <a:srgbClr val="065A82"/>
          </a:solidFill>
          <a:ln/>
        </p:spPr>
      </p:sp>
      <p:sp>
        <p:nvSpPr>
          <p:cNvPr id="20" name="Text 18"/>
          <p:cNvSpPr/>
          <p:nvPr/>
        </p:nvSpPr>
        <p:spPr>
          <a:xfrm>
            <a:off x="731520" y="553212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21" name="Text 19"/>
          <p:cNvSpPr/>
          <p:nvPr/>
        </p:nvSpPr>
        <p:spPr>
          <a:xfrm>
            <a:off x="1508760" y="5440680"/>
            <a:ext cx="4206240" cy="320040"/>
          </a:xfrm>
          <a:prstGeom prst="rect">
            <a:avLst/>
          </a:prstGeom>
          <a:noFill/>
          <a:ln/>
        </p:spPr>
        <p:txBody>
          <a:bodyPr wrap="square" lIns="0" tIns="0" rIns="0" bIns="0" rtlCol="0" anchor="ctr"/>
          <a:lstStyle/>
          <a:p>
            <a:pPr indent="0" marL="0">
              <a:buNone/>
            </a:pPr>
            <a:r>
              <a:rPr lang="en-US" sz="1400" b="1" dirty="0">
                <a:solidFill>
                  <a:srgbClr val="21295C"/>
                </a:solidFill>
                <a:latin typeface="Calibri" pitchFamily="34" charset="0"/>
                <a:ea typeface="Calibri" pitchFamily="34" charset="-122"/>
                <a:cs typeface="Calibri" pitchFamily="34" charset="-120"/>
              </a:rPr>
              <a:t>Patrones replicables</a:t>
            </a:r>
            <a:endParaRPr lang="en-US" sz="1400" dirty="0"/>
          </a:p>
        </p:txBody>
      </p:sp>
      <p:sp>
        <p:nvSpPr>
          <p:cNvPr id="22" name="Text 20"/>
          <p:cNvSpPr/>
          <p:nvPr/>
        </p:nvSpPr>
        <p:spPr>
          <a:xfrm>
            <a:off x="1508760" y="5760720"/>
            <a:ext cx="4206240" cy="594360"/>
          </a:xfrm>
          <a:prstGeom prst="rect">
            <a:avLst/>
          </a:prstGeom>
          <a:noFill/>
          <a:ln/>
        </p:spPr>
        <p:txBody>
          <a:bodyPr wrap="square" lIns="0" tIns="0" rIns="0" bIns="0" rtlCol="0" anchor="ctr"/>
          <a:lstStyle/>
          <a:p>
            <a:pPr indent="0" marL="0">
              <a:buNone/>
            </a:pPr>
            <a:r>
              <a:rPr lang="en-US" sz="1050" dirty="0">
                <a:solidFill>
                  <a:srgbClr val="475569"/>
                </a:solidFill>
                <a:latin typeface="Calibri" pitchFamily="34" charset="0"/>
                <a:ea typeface="Calibri" pitchFamily="34" charset="-122"/>
                <a:cs typeface="Calibri" pitchFamily="34" charset="-120"/>
              </a:rPr>
              <a:t>Definir un único patrón de tablas (proyecto_indicadores, parámetros, mediciones, auditoría) permitió escalar de 4 a 17 bases ODS manteniendo consistencia.</a:t>
            </a:r>
            <a:endParaRPr lang="en-US" sz="1050" dirty="0"/>
          </a:p>
        </p:txBody>
      </p:sp>
      <p:sp>
        <p:nvSpPr>
          <p:cNvPr id="23" name="Shape 21"/>
          <p:cNvSpPr/>
          <p:nvPr/>
        </p:nvSpPr>
        <p:spPr>
          <a:xfrm>
            <a:off x="6263640" y="5303520"/>
            <a:ext cx="5349240" cy="1097280"/>
          </a:xfrm>
          <a:prstGeom prst="roundRect">
            <a:avLst>
              <a:gd name="adj" fmla="val 6667"/>
            </a:avLst>
          </a:prstGeom>
          <a:solidFill>
            <a:srgbClr val="FFFFFF"/>
          </a:solidFill>
          <a:ln w="12700">
            <a:solidFill>
              <a:srgbClr val="E2E8F0"/>
            </a:solidFill>
            <a:prstDash val="solid"/>
          </a:ln>
          <a:effectLst>
            <a:outerShdw sx="100000" sy="100000" kx="0" ky="0" algn="bl" rotWithShape="0" blurRad="76200" dist="25400" dir="2700000">
              <a:srgbClr val="0F172A">
                <a:alpha val="8000"/>
              </a:srgbClr>
            </a:outerShdw>
          </a:effectLst>
        </p:spPr>
      </p:sp>
      <p:sp>
        <p:nvSpPr>
          <p:cNvPr id="24" name="Shape 22"/>
          <p:cNvSpPr/>
          <p:nvPr/>
        </p:nvSpPr>
        <p:spPr>
          <a:xfrm>
            <a:off x="6446520" y="5532120"/>
            <a:ext cx="640080" cy="640080"/>
          </a:xfrm>
          <a:prstGeom prst="ellipse">
            <a:avLst/>
          </a:prstGeom>
          <a:solidFill>
            <a:srgbClr val="065A82"/>
          </a:solidFill>
          <a:ln/>
        </p:spPr>
      </p:sp>
      <p:sp>
        <p:nvSpPr>
          <p:cNvPr id="25" name="Text 23"/>
          <p:cNvSpPr/>
          <p:nvPr/>
        </p:nvSpPr>
        <p:spPr>
          <a:xfrm>
            <a:off x="6446520" y="553212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4</a:t>
            </a:r>
            <a:endParaRPr lang="en-US" sz="2200" dirty="0"/>
          </a:p>
        </p:txBody>
      </p:sp>
      <p:sp>
        <p:nvSpPr>
          <p:cNvPr id="26" name="Text 24"/>
          <p:cNvSpPr/>
          <p:nvPr/>
        </p:nvSpPr>
        <p:spPr>
          <a:xfrm>
            <a:off x="7223760" y="5440680"/>
            <a:ext cx="4206240" cy="320040"/>
          </a:xfrm>
          <a:prstGeom prst="rect">
            <a:avLst/>
          </a:prstGeom>
          <a:noFill/>
          <a:ln/>
        </p:spPr>
        <p:txBody>
          <a:bodyPr wrap="square" lIns="0" tIns="0" rIns="0" bIns="0" rtlCol="0" anchor="ctr"/>
          <a:lstStyle/>
          <a:p>
            <a:pPr indent="0" marL="0">
              <a:buNone/>
            </a:pPr>
            <a:r>
              <a:rPr lang="en-US" sz="1400" b="1" dirty="0">
                <a:solidFill>
                  <a:srgbClr val="21295C"/>
                </a:solidFill>
                <a:latin typeface="Calibri" pitchFamily="34" charset="0"/>
                <a:ea typeface="Calibri" pitchFamily="34" charset="-122"/>
                <a:cs typeface="Calibri" pitchFamily="34" charset="-120"/>
              </a:rPr>
              <a:t>Trabajo institucional</a:t>
            </a:r>
            <a:endParaRPr lang="en-US" sz="1400" dirty="0"/>
          </a:p>
        </p:txBody>
      </p:sp>
      <p:sp>
        <p:nvSpPr>
          <p:cNvPr id="27" name="Text 25"/>
          <p:cNvSpPr/>
          <p:nvPr/>
        </p:nvSpPr>
        <p:spPr>
          <a:xfrm>
            <a:off x="7223760" y="5760720"/>
            <a:ext cx="4206240" cy="594360"/>
          </a:xfrm>
          <a:prstGeom prst="rect">
            <a:avLst/>
          </a:prstGeom>
          <a:noFill/>
          <a:ln/>
        </p:spPr>
        <p:txBody>
          <a:bodyPr wrap="square" lIns="0" tIns="0" rIns="0" bIns="0" rtlCol="0" anchor="ctr"/>
          <a:lstStyle/>
          <a:p>
            <a:pPr indent="0" marL="0">
              <a:buNone/>
            </a:pPr>
            <a:r>
              <a:rPr lang="en-US" sz="1050" dirty="0">
                <a:solidFill>
                  <a:srgbClr val="475569"/>
                </a:solidFill>
                <a:latin typeface="Calibri" pitchFamily="34" charset="0"/>
                <a:ea typeface="Calibri" pitchFamily="34" charset="-122"/>
                <a:cs typeface="Calibri" pitchFamily="34" charset="-120"/>
              </a:rPr>
              <a:t>Las reuniones de coordinación con el supervisor y el seguimiento semanal vía bitácora firmada fortalecieron la disciplina de planificación y rendición de cuentas.</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48640" y="411480"/>
            <a:ext cx="11064240" cy="274320"/>
          </a:xfrm>
          <a:prstGeom prst="rect">
            <a:avLst/>
          </a:prstGeom>
          <a:noFill/>
          <a:ln/>
        </p:spPr>
        <p:txBody>
          <a:bodyPr wrap="square" lIns="0" tIns="0" rIns="0" bIns="0" rtlCol="0" anchor="ctr"/>
          <a:lstStyle/>
          <a:p>
            <a:pPr indent="0" marL="0">
              <a:buNone/>
            </a:pPr>
            <a:r>
              <a:rPr lang="en-US" sz="1100" b="1" spc="300" kern="0" dirty="0">
                <a:solidFill>
                  <a:srgbClr val="F59E0B"/>
                </a:solidFill>
                <a:latin typeface="Calibri" pitchFamily="34" charset="0"/>
                <a:ea typeface="Calibri" pitchFamily="34" charset="-122"/>
                <a:cs typeface="Calibri" pitchFamily="34" charset="-120"/>
              </a:rPr>
              <a:t>DIAPOSITIVA 7  ·  APORTE DIFERENCIAL</a:t>
            </a:r>
            <a:endParaRPr lang="en-US" sz="1100" dirty="0"/>
          </a:p>
        </p:txBody>
      </p:sp>
      <p:sp>
        <p:nvSpPr>
          <p:cNvPr id="3" name="Text 1"/>
          <p:cNvSpPr/>
          <p:nvPr/>
        </p:nvSpPr>
        <p:spPr>
          <a:xfrm>
            <a:off x="548640" y="713232"/>
            <a:ext cx="11064240" cy="731520"/>
          </a:xfrm>
          <a:prstGeom prst="rect">
            <a:avLst/>
          </a:prstGeom>
          <a:noFill/>
          <a:ln/>
        </p:spPr>
        <p:txBody>
          <a:bodyPr wrap="square" lIns="0" tIns="0" rIns="0" bIns="0" rtlCol="0" anchor="ctr"/>
          <a:lstStyle/>
          <a:p>
            <a:pPr indent="0" marL="0">
              <a:buNone/>
            </a:pPr>
            <a:r>
              <a:rPr lang="en-US" sz="2700" b="1" dirty="0">
                <a:solidFill>
                  <a:srgbClr val="21295C"/>
                </a:solidFill>
                <a:latin typeface="Cambria" pitchFamily="34" charset="0"/>
                <a:ea typeface="Cambria" pitchFamily="34" charset="-122"/>
                <a:cs typeface="Cambria" pitchFamily="34" charset="-120"/>
              </a:rPr>
              <a:t>Tres actividades que diferencian la práctica del puesto laboral</a:t>
            </a:r>
            <a:endParaRPr lang="en-US" sz="2700" dirty="0"/>
          </a:p>
        </p:txBody>
      </p:sp>
      <p:sp>
        <p:nvSpPr>
          <p:cNvPr id="4" name="Text 2"/>
          <p:cNvSpPr/>
          <p:nvPr/>
        </p:nvSpPr>
        <p:spPr>
          <a:xfrm>
            <a:off x="548640" y="6537960"/>
            <a:ext cx="11064240" cy="22860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Práctica Profesional  ·  Avance I  ·  Kevin Campos González  ·  UTN</a:t>
            </a:r>
            <a:endParaRPr lang="en-US" sz="900" dirty="0"/>
          </a:p>
        </p:txBody>
      </p:sp>
      <p:sp>
        <p:nvSpPr>
          <p:cNvPr id="5" name="Shape 3"/>
          <p:cNvSpPr/>
          <p:nvPr/>
        </p:nvSpPr>
        <p:spPr>
          <a:xfrm>
            <a:off x="548640" y="1783080"/>
            <a:ext cx="11064240" cy="1417320"/>
          </a:xfrm>
          <a:prstGeom prst="roundRect">
            <a:avLst>
              <a:gd name="adj" fmla="val 6452"/>
            </a:avLst>
          </a:prstGeom>
          <a:solidFill>
            <a:srgbClr val="FFFFFF"/>
          </a:solidFill>
          <a:ln w="12700">
            <a:solidFill>
              <a:srgbClr val="E2E8F0"/>
            </a:solidFill>
            <a:prstDash val="solid"/>
          </a:ln>
          <a:effectLst>
            <a:outerShdw sx="100000" sy="100000" kx="0" ky="0" algn="bl" rotWithShape="0" blurRad="76200" dist="25400" dir="2700000">
              <a:srgbClr val="0F172A">
                <a:alpha val="8000"/>
              </a:srgbClr>
            </a:outerShdw>
          </a:effectLst>
        </p:spPr>
      </p:sp>
      <p:sp>
        <p:nvSpPr>
          <p:cNvPr id="6" name="Text 4"/>
          <p:cNvSpPr/>
          <p:nvPr/>
        </p:nvSpPr>
        <p:spPr>
          <a:xfrm>
            <a:off x="777240" y="1920240"/>
            <a:ext cx="1371600" cy="1188720"/>
          </a:xfrm>
          <a:prstGeom prst="rect">
            <a:avLst/>
          </a:prstGeom>
          <a:noFill/>
          <a:ln/>
        </p:spPr>
        <p:txBody>
          <a:bodyPr wrap="square" lIns="0" tIns="0" rIns="0" bIns="0" rtlCol="0" anchor="ctr"/>
          <a:lstStyle/>
          <a:p>
            <a:pPr indent="0" marL="0">
              <a:buNone/>
            </a:pPr>
            <a:r>
              <a:rPr lang="en-US" sz="6800" b="1" dirty="0">
                <a:solidFill>
                  <a:srgbClr val="065A82"/>
                </a:solidFill>
                <a:latin typeface="Cambria" pitchFamily="34" charset="0"/>
                <a:ea typeface="Cambria" pitchFamily="34" charset="-122"/>
                <a:cs typeface="Cambria" pitchFamily="34" charset="-120"/>
              </a:rPr>
              <a:t>01</a:t>
            </a:r>
            <a:endParaRPr lang="en-US" sz="6800" dirty="0"/>
          </a:p>
        </p:txBody>
      </p:sp>
      <p:sp>
        <p:nvSpPr>
          <p:cNvPr id="7" name="Text 5"/>
          <p:cNvSpPr/>
          <p:nvPr/>
        </p:nvSpPr>
        <p:spPr>
          <a:xfrm>
            <a:off x="2240280" y="1947672"/>
            <a:ext cx="9144000" cy="411480"/>
          </a:xfrm>
          <a:prstGeom prst="rect">
            <a:avLst/>
          </a:prstGeom>
          <a:noFill/>
          <a:ln/>
        </p:spPr>
        <p:txBody>
          <a:bodyPr wrap="square" lIns="0" tIns="0" rIns="0" bIns="0" rtlCol="0" anchor="ctr"/>
          <a:lstStyle/>
          <a:p>
            <a:pPr indent="0" marL="0">
              <a:buNone/>
            </a:pPr>
            <a:r>
              <a:rPr lang="en-US" sz="1700" b="1" dirty="0">
                <a:solidFill>
                  <a:srgbClr val="21295C"/>
                </a:solidFill>
                <a:latin typeface="Cambria" pitchFamily="34" charset="0"/>
                <a:ea typeface="Cambria" pitchFamily="34" charset="-122"/>
                <a:cs typeface="Cambria" pitchFamily="34" charset="-120"/>
              </a:rPr>
              <a:t>Diseño desde cero de un sistema multi-schema</a:t>
            </a:r>
            <a:endParaRPr lang="en-US" sz="1700" dirty="0"/>
          </a:p>
        </p:txBody>
      </p:sp>
      <p:sp>
        <p:nvSpPr>
          <p:cNvPr id="8" name="Text 6"/>
          <p:cNvSpPr/>
          <p:nvPr/>
        </p:nvSpPr>
        <p:spPr>
          <a:xfrm>
            <a:off x="2240280" y="2377440"/>
            <a:ext cx="9144000" cy="777240"/>
          </a:xfrm>
          <a:prstGeom prst="rect">
            <a:avLst/>
          </a:prstGeom>
          <a:noFill/>
          <a:ln/>
        </p:spPr>
        <p:txBody>
          <a:bodyPr wrap="square" lIns="0" tIns="0" rIns="0" bIns="0" rtlCol="0" anchor="ctr"/>
          <a:lstStyle/>
          <a:p>
            <a:pPr indent="0" marL="0">
              <a:buNone/>
            </a:pPr>
            <a:r>
              <a:rPr lang="en-US" sz="1200" dirty="0">
                <a:solidFill>
                  <a:srgbClr val="475569"/>
                </a:solidFill>
                <a:latin typeface="Calibri" pitchFamily="34" charset="0"/>
                <a:ea typeface="Calibri" pitchFamily="34" charset="-122"/>
                <a:cs typeface="Calibri" pitchFamily="34" charset="-120"/>
              </a:rPr>
              <a:t>En un puesto operativo típico el desarrollador trabaja sobre una base existente. En la práctica diseñé desde cero la arquitectura completa: 19 bases relacionadas, llaves foráneas entre schemas y catálogo institucional con los 239 indicadores oficiales de la Agenda 2030.</a:t>
            </a:r>
            <a:endParaRPr lang="en-US" sz="1200" dirty="0"/>
          </a:p>
        </p:txBody>
      </p:sp>
      <p:sp>
        <p:nvSpPr>
          <p:cNvPr id="9" name="Shape 7"/>
          <p:cNvSpPr/>
          <p:nvPr/>
        </p:nvSpPr>
        <p:spPr>
          <a:xfrm>
            <a:off x="548640" y="3337560"/>
            <a:ext cx="11064240" cy="1417320"/>
          </a:xfrm>
          <a:prstGeom prst="roundRect">
            <a:avLst>
              <a:gd name="adj" fmla="val 6452"/>
            </a:avLst>
          </a:prstGeom>
          <a:solidFill>
            <a:srgbClr val="FFFFFF"/>
          </a:solidFill>
          <a:ln w="12700">
            <a:solidFill>
              <a:srgbClr val="E2E8F0"/>
            </a:solidFill>
            <a:prstDash val="solid"/>
          </a:ln>
          <a:effectLst>
            <a:outerShdw sx="100000" sy="100000" kx="0" ky="0" algn="bl" rotWithShape="0" blurRad="76200" dist="25400" dir="2700000">
              <a:srgbClr val="0F172A">
                <a:alpha val="8000"/>
              </a:srgbClr>
            </a:outerShdw>
          </a:effectLst>
        </p:spPr>
      </p:sp>
      <p:sp>
        <p:nvSpPr>
          <p:cNvPr id="10" name="Text 8"/>
          <p:cNvSpPr/>
          <p:nvPr/>
        </p:nvSpPr>
        <p:spPr>
          <a:xfrm>
            <a:off x="777240" y="3474720"/>
            <a:ext cx="1371600" cy="1188720"/>
          </a:xfrm>
          <a:prstGeom prst="rect">
            <a:avLst/>
          </a:prstGeom>
          <a:noFill/>
          <a:ln/>
        </p:spPr>
        <p:txBody>
          <a:bodyPr wrap="square" lIns="0" tIns="0" rIns="0" bIns="0" rtlCol="0" anchor="ctr"/>
          <a:lstStyle/>
          <a:p>
            <a:pPr indent="0" marL="0">
              <a:buNone/>
            </a:pPr>
            <a:r>
              <a:rPr lang="en-US" sz="6800" b="1" dirty="0">
                <a:solidFill>
                  <a:srgbClr val="1C7293"/>
                </a:solidFill>
                <a:latin typeface="Cambria" pitchFamily="34" charset="0"/>
                <a:ea typeface="Cambria" pitchFamily="34" charset="-122"/>
                <a:cs typeface="Cambria" pitchFamily="34" charset="-120"/>
              </a:rPr>
              <a:t>02</a:t>
            </a:r>
            <a:endParaRPr lang="en-US" sz="6800" dirty="0"/>
          </a:p>
        </p:txBody>
      </p:sp>
      <p:sp>
        <p:nvSpPr>
          <p:cNvPr id="11" name="Text 9"/>
          <p:cNvSpPr/>
          <p:nvPr/>
        </p:nvSpPr>
        <p:spPr>
          <a:xfrm>
            <a:off x="2240280" y="3502152"/>
            <a:ext cx="9144000" cy="411480"/>
          </a:xfrm>
          <a:prstGeom prst="rect">
            <a:avLst/>
          </a:prstGeom>
          <a:noFill/>
          <a:ln/>
        </p:spPr>
        <p:txBody>
          <a:bodyPr wrap="square" lIns="0" tIns="0" rIns="0" bIns="0" rtlCol="0" anchor="ctr"/>
          <a:lstStyle/>
          <a:p>
            <a:pPr indent="0" marL="0">
              <a:buNone/>
            </a:pPr>
            <a:r>
              <a:rPr lang="en-US" sz="1700" b="1" dirty="0">
                <a:solidFill>
                  <a:srgbClr val="21295C"/>
                </a:solidFill>
                <a:latin typeface="Cambria" pitchFamily="34" charset="0"/>
                <a:ea typeface="Cambria" pitchFamily="34" charset="-122"/>
                <a:cs typeface="Cambria" pitchFamily="34" charset="-120"/>
              </a:rPr>
              <a:t>Toma de decisiones técnicas sin código preexistente</a:t>
            </a:r>
            <a:endParaRPr lang="en-US" sz="1700" dirty="0"/>
          </a:p>
        </p:txBody>
      </p:sp>
      <p:sp>
        <p:nvSpPr>
          <p:cNvPr id="12" name="Text 10"/>
          <p:cNvSpPr/>
          <p:nvPr/>
        </p:nvSpPr>
        <p:spPr>
          <a:xfrm>
            <a:off x="2240280" y="3931920"/>
            <a:ext cx="9144000" cy="777240"/>
          </a:xfrm>
          <a:prstGeom prst="rect">
            <a:avLst/>
          </a:prstGeom>
          <a:noFill/>
          <a:ln/>
        </p:spPr>
        <p:txBody>
          <a:bodyPr wrap="square" lIns="0" tIns="0" rIns="0" bIns="0" rtlCol="0" anchor="ctr"/>
          <a:lstStyle/>
          <a:p>
            <a:pPr indent="0" marL="0">
              <a:buNone/>
            </a:pPr>
            <a:r>
              <a:rPr lang="en-US" sz="1200" dirty="0">
                <a:solidFill>
                  <a:srgbClr val="475569"/>
                </a:solidFill>
                <a:latin typeface="Calibri" pitchFamily="34" charset="0"/>
                <a:ea typeface="Calibri" pitchFamily="34" charset="-122"/>
                <a:cs typeface="Calibri" pitchFamily="34" charset="-120"/>
              </a:rPr>
              <a:t>Decidí motor InnoDB para FKs inter-schema, patrón uniforme de tablas para los 17 ODS y configuración de generación de POJOs / Records / Tables vía jOOQ. Esto va más allá del soporte habitual: requiere fundamentar cada elección y documentarla.</a:t>
            </a:r>
            <a:endParaRPr lang="en-US" sz="1200" dirty="0"/>
          </a:p>
        </p:txBody>
      </p:sp>
      <p:sp>
        <p:nvSpPr>
          <p:cNvPr id="13" name="Shape 11"/>
          <p:cNvSpPr/>
          <p:nvPr/>
        </p:nvSpPr>
        <p:spPr>
          <a:xfrm>
            <a:off x="548640" y="4892040"/>
            <a:ext cx="11064240" cy="1417320"/>
          </a:xfrm>
          <a:prstGeom prst="roundRect">
            <a:avLst>
              <a:gd name="adj" fmla="val 6452"/>
            </a:avLst>
          </a:prstGeom>
          <a:solidFill>
            <a:srgbClr val="FFFFFF"/>
          </a:solidFill>
          <a:ln w="12700">
            <a:solidFill>
              <a:srgbClr val="E2E8F0"/>
            </a:solidFill>
            <a:prstDash val="solid"/>
          </a:ln>
          <a:effectLst>
            <a:outerShdw sx="100000" sy="100000" kx="0" ky="0" algn="bl" rotWithShape="0" blurRad="76200" dist="25400" dir="2700000">
              <a:srgbClr val="0F172A">
                <a:alpha val="8000"/>
              </a:srgbClr>
            </a:outerShdw>
          </a:effectLst>
        </p:spPr>
      </p:sp>
      <p:sp>
        <p:nvSpPr>
          <p:cNvPr id="14" name="Text 12"/>
          <p:cNvSpPr/>
          <p:nvPr/>
        </p:nvSpPr>
        <p:spPr>
          <a:xfrm>
            <a:off x="777240" y="5029200"/>
            <a:ext cx="1371600" cy="1188720"/>
          </a:xfrm>
          <a:prstGeom prst="rect">
            <a:avLst/>
          </a:prstGeom>
          <a:noFill/>
          <a:ln/>
        </p:spPr>
        <p:txBody>
          <a:bodyPr wrap="square" lIns="0" tIns="0" rIns="0" bIns="0" rtlCol="0" anchor="ctr"/>
          <a:lstStyle/>
          <a:p>
            <a:pPr indent="0" marL="0">
              <a:buNone/>
            </a:pPr>
            <a:r>
              <a:rPr lang="en-US" sz="6800" b="1" dirty="0">
                <a:solidFill>
                  <a:srgbClr val="21295C"/>
                </a:solidFill>
                <a:latin typeface="Cambria" pitchFamily="34" charset="0"/>
                <a:ea typeface="Cambria" pitchFamily="34" charset="-122"/>
                <a:cs typeface="Cambria" pitchFamily="34" charset="-120"/>
              </a:rPr>
              <a:t>03</a:t>
            </a:r>
            <a:endParaRPr lang="en-US" sz="6800" dirty="0"/>
          </a:p>
        </p:txBody>
      </p:sp>
      <p:sp>
        <p:nvSpPr>
          <p:cNvPr id="15" name="Text 13"/>
          <p:cNvSpPr/>
          <p:nvPr/>
        </p:nvSpPr>
        <p:spPr>
          <a:xfrm>
            <a:off x="2240280" y="5056632"/>
            <a:ext cx="9144000" cy="411480"/>
          </a:xfrm>
          <a:prstGeom prst="rect">
            <a:avLst/>
          </a:prstGeom>
          <a:noFill/>
          <a:ln/>
        </p:spPr>
        <p:txBody>
          <a:bodyPr wrap="square" lIns="0" tIns="0" rIns="0" bIns="0" rtlCol="0" anchor="ctr"/>
          <a:lstStyle/>
          <a:p>
            <a:pPr indent="0" marL="0">
              <a:buNone/>
            </a:pPr>
            <a:r>
              <a:rPr lang="en-US" sz="1700" b="1" dirty="0">
                <a:solidFill>
                  <a:srgbClr val="21295C"/>
                </a:solidFill>
                <a:latin typeface="Cambria" pitchFamily="34" charset="0"/>
                <a:ea typeface="Cambria" pitchFamily="34" charset="-122"/>
                <a:cs typeface="Cambria" pitchFamily="34" charset="-120"/>
              </a:rPr>
              <a:t>Vinculación directa con la Agenda 2030 de la ONU</a:t>
            </a:r>
            <a:endParaRPr lang="en-US" sz="1700" dirty="0"/>
          </a:p>
        </p:txBody>
      </p:sp>
      <p:sp>
        <p:nvSpPr>
          <p:cNvPr id="16" name="Text 14"/>
          <p:cNvSpPr/>
          <p:nvPr/>
        </p:nvSpPr>
        <p:spPr>
          <a:xfrm>
            <a:off x="2240280" y="5486400"/>
            <a:ext cx="9144000" cy="777240"/>
          </a:xfrm>
          <a:prstGeom prst="rect">
            <a:avLst/>
          </a:prstGeom>
          <a:noFill/>
          <a:ln/>
        </p:spPr>
        <p:txBody>
          <a:bodyPr wrap="square" lIns="0" tIns="0" rIns="0" bIns="0" rtlCol="0" anchor="ctr"/>
          <a:lstStyle/>
          <a:p>
            <a:pPr indent="0" marL="0">
              <a:buNone/>
            </a:pPr>
            <a:r>
              <a:rPr lang="en-US" sz="1200" dirty="0">
                <a:solidFill>
                  <a:srgbClr val="475569"/>
                </a:solidFill>
                <a:latin typeface="Calibri" pitchFamily="34" charset="0"/>
                <a:ea typeface="Calibri" pitchFamily="34" charset="-122"/>
                <a:cs typeface="Calibri" pitchFamily="34" charset="-120"/>
              </a:rPr>
              <a:t>El sistema no es un proyecto comercial estándar: traduce instrumentos internacionales (indicadores oficiales de los 17 ODS) en una plataforma usable por la UTN. Esa traducción institución → norma global es un ejercicio académico que no se da en un puesto regular.</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2743200" y="2743200"/>
            <a:ext cx="6400800" cy="6400800"/>
          </a:xfrm>
          <a:prstGeom prst="ellipse">
            <a:avLst/>
          </a:prstGeom>
          <a:solidFill>
            <a:srgbClr val="065A82">
              <a:alpha val="25000"/>
            </a:srgbClr>
          </a:solidFill>
          <a:ln/>
        </p:spPr>
      </p:sp>
      <p:sp>
        <p:nvSpPr>
          <p:cNvPr id="3" name="Shape 1"/>
          <p:cNvSpPr/>
          <p:nvPr/>
        </p:nvSpPr>
        <p:spPr>
          <a:xfrm>
            <a:off x="9144000" y="-1828800"/>
            <a:ext cx="5486400" cy="5486400"/>
          </a:xfrm>
          <a:prstGeom prst="ellipse">
            <a:avLst/>
          </a:prstGeom>
          <a:solidFill>
            <a:srgbClr val="1C7293">
              <a:alpha val="20000"/>
            </a:srgbClr>
          </a:solidFill>
          <a:ln/>
        </p:spPr>
      </p:sp>
      <p:sp>
        <p:nvSpPr>
          <p:cNvPr id="4" name="Text 2"/>
          <p:cNvSpPr/>
          <p:nvPr/>
        </p:nvSpPr>
        <p:spPr>
          <a:xfrm>
            <a:off x="640080" y="2194560"/>
            <a:ext cx="10972800" cy="1645920"/>
          </a:xfrm>
          <a:prstGeom prst="rect">
            <a:avLst/>
          </a:prstGeom>
          <a:noFill/>
          <a:ln/>
        </p:spPr>
        <p:txBody>
          <a:bodyPr wrap="square" lIns="0" tIns="0" rIns="0" bIns="0" rtlCol="0" anchor="ctr"/>
          <a:lstStyle/>
          <a:p>
            <a:pPr algn="ctr" indent="0" marL="0">
              <a:buNone/>
            </a:pPr>
            <a:r>
              <a:rPr lang="en-US" sz="13000" b="1" spc="800" kern="0" dirty="0">
                <a:solidFill>
                  <a:srgbClr val="FFFFFF"/>
                </a:solidFill>
                <a:latin typeface="Cambria" pitchFamily="34" charset="0"/>
                <a:ea typeface="Cambria" pitchFamily="34" charset="-122"/>
                <a:cs typeface="Cambria" pitchFamily="34" charset="-120"/>
              </a:rPr>
              <a:t>GRACIAS</a:t>
            </a:r>
            <a:endParaRPr lang="en-US" sz="13000" dirty="0"/>
          </a:p>
        </p:txBody>
      </p:sp>
      <p:sp>
        <p:nvSpPr>
          <p:cNvPr id="5" name="Shape 3"/>
          <p:cNvSpPr/>
          <p:nvPr/>
        </p:nvSpPr>
        <p:spPr>
          <a:xfrm>
            <a:off x="5852160" y="4023360"/>
            <a:ext cx="457200" cy="45720"/>
          </a:xfrm>
          <a:prstGeom prst="rect">
            <a:avLst/>
          </a:prstGeom>
          <a:solidFill>
            <a:srgbClr val="F59E0B"/>
          </a:solidFill>
          <a:ln/>
        </p:spPr>
      </p:sp>
      <p:sp>
        <p:nvSpPr>
          <p:cNvPr id="6" name="Text 4"/>
          <p:cNvSpPr/>
          <p:nvPr/>
        </p:nvSpPr>
        <p:spPr>
          <a:xfrm>
            <a:off x="640080" y="4160520"/>
            <a:ext cx="10972800" cy="365760"/>
          </a:xfrm>
          <a:prstGeom prst="rect">
            <a:avLst/>
          </a:prstGeom>
          <a:noFill/>
          <a:ln/>
        </p:spPr>
        <p:txBody>
          <a:bodyPr wrap="square" lIns="0" tIns="0" rIns="0" bIns="0" rtlCol="0" anchor="ctr"/>
          <a:lstStyle/>
          <a:p>
            <a:pPr algn="ctr" indent="0" marL="0">
              <a:buNone/>
            </a:pPr>
            <a:r>
              <a:rPr lang="en-US" sz="1600" i="1" dirty="0">
                <a:solidFill>
                  <a:srgbClr val="CADCFC"/>
                </a:solidFill>
                <a:latin typeface="Calibri" pitchFamily="34" charset="0"/>
                <a:ea typeface="Calibri" pitchFamily="34" charset="-122"/>
                <a:cs typeface="Calibri" pitchFamily="34" charset="-120"/>
              </a:rPr>
              <a:t>Avance I  ·  Sistema ODS Agenda 2030  ·  UTN</a:t>
            </a:r>
            <a:endParaRPr lang="en-US" sz="1600" dirty="0"/>
          </a:p>
        </p:txBody>
      </p:sp>
      <p:sp>
        <p:nvSpPr>
          <p:cNvPr id="7" name="Text 5"/>
          <p:cNvSpPr/>
          <p:nvPr/>
        </p:nvSpPr>
        <p:spPr>
          <a:xfrm>
            <a:off x="640080" y="5486400"/>
            <a:ext cx="1097280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Kevin Campos González</a:t>
            </a:r>
            <a:endParaRPr lang="en-US" sz="1600" dirty="0"/>
          </a:p>
        </p:txBody>
      </p:sp>
      <p:sp>
        <p:nvSpPr>
          <p:cNvPr id="8" name="Text 6"/>
          <p:cNvSpPr/>
          <p:nvPr/>
        </p:nvSpPr>
        <p:spPr>
          <a:xfrm>
            <a:off x="640080" y="5852160"/>
            <a:ext cx="10972800" cy="274320"/>
          </a:xfrm>
          <a:prstGeom prst="rect">
            <a:avLst/>
          </a:prstGeom>
          <a:noFill/>
          <a:ln/>
        </p:spPr>
        <p:txBody>
          <a:bodyPr wrap="square" lIns="0" tIns="0" rIns="0" bIns="0" rtlCol="0" anchor="ctr"/>
          <a:lstStyle/>
          <a:p>
            <a:pPr algn="ctr" indent="0" marL="0">
              <a:buNone/>
            </a:pPr>
            <a:r>
              <a:rPr lang="en-US" sz="1100" dirty="0">
                <a:solidFill>
                  <a:srgbClr val="CADCFC"/>
                </a:solidFill>
                <a:latin typeface="Calibri" pitchFamily="34" charset="0"/>
                <a:ea typeface="Calibri" pitchFamily="34" charset="-122"/>
                <a:cs typeface="Calibri" pitchFamily="34" charset="-120"/>
              </a:rPr>
              <a:t>Bachillerato en Ingeniería del Software  ·  Universidad Técnica Nacional</a:t>
            </a:r>
            <a:endParaRPr lang="en-US" sz="1100" dirty="0"/>
          </a:p>
        </p:txBody>
      </p:sp>
      <p:sp>
        <p:nvSpPr>
          <p:cNvPr id="9" name="Text 7"/>
          <p:cNvSpPr/>
          <p:nvPr/>
        </p:nvSpPr>
        <p:spPr>
          <a:xfrm>
            <a:off x="640080" y="6172200"/>
            <a:ext cx="10972800" cy="274320"/>
          </a:xfrm>
          <a:prstGeom prst="rect">
            <a:avLst/>
          </a:prstGeom>
          <a:noFill/>
          <a:ln/>
        </p:spPr>
        <p:txBody>
          <a:bodyPr wrap="square" lIns="0" tIns="0" rIns="0" bIns="0" rtlCol="0" anchor="ctr"/>
          <a:lstStyle/>
          <a:p>
            <a:pPr algn="ctr" indent="0" marL="0">
              <a:buNone/>
            </a:pPr>
            <a:r>
              <a:rPr lang="en-US" sz="1000" dirty="0">
                <a:solidFill>
                  <a:srgbClr val="94A3B8"/>
                </a:solidFill>
                <a:latin typeface="Calibri" pitchFamily="34" charset="0"/>
                <a:ea typeface="Calibri" pitchFamily="34" charset="-122"/>
                <a:cs typeface="Calibri" pitchFamily="34" charset="-120"/>
              </a:rPr>
              <a:t>12 / 06 / 2026</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Universidad Técnica Nacional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Práctica Profesional - Avance I - Sistema ODS Agenda 2030</dc:title>
  <dc:subject>PptxGenJS Presentation</dc:subject>
  <dc:creator>Kevin Campos González</dc:creator>
  <cp:lastModifiedBy>Kevin Campos González</cp:lastModifiedBy>
  <cp:revision>1</cp:revision>
  <dcterms:created xsi:type="dcterms:W3CDTF">2026-06-16T01:54:40Z</dcterms:created>
  <dcterms:modified xsi:type="dcterms:W3CDTF">2026-06-16T01:54:40Z</dcterms:modified>
</cp:coreProperties>
</file>