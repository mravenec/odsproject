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120640"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20640" y="0"/>
            <a:ext cx="4023360"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54096" cy="68580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
            <a:ext cx="7315200" cy="274320"/>
          </a:xfrm>
          <a:prstGeom prst="rect">
            <a:avLst/>
          </a:prstGeom>
          <a:noFill/>
        </p:spPr>
        <p:txBody>
          <a:bodyPr wrap="square" lIns="0" rIns="0" tIns="0" bIns="0" anchor="t">
            <a:spAutoFit/>
          </a:bodyPr>
          <a:lstStyle/>
          <a:p>
            <a:pPr algn="l"/>
            <a:r>
              <a:rPr sz="1300" b="0">
                <a:solidFill>
                  <a:srgbClr val="CADCFC"/>
                </a:solidFill>
                <a:latin typeface="Calibri"/>
              </a:rPr>
              <a:t>UNIVERSIDAD TÉCNICA NACIONAL</a:t>
            </a:r>
          </a:p>
        </p:txBody>
      </p:sp>
      <p:sp>
        <p:nvSpPr>
          <p:cNvPr id="7" name="TextBox 6"/>
          <p:cNvSpPr txBox="1"/>
          <p:nvPr/>
        </p:nvSpPr>
        <p:spPr>
          <a:xfrm>
            <a:off x="640080" y="822960"/>
            <a:ext cx="7315200" cy="274320"/>
          </a:xfrm>
          <a:prstGeom prst="rect">
            <a:avLst/>
          </a:prstGeom>
          <a:noFill/>
        </p:spPr>
        <p:txBody>
          <a:bodyPr wrap="square" lIns="0" rIns="0" tIns="0" bIns="0" anchor="t">
            <a:spAutoFit/>
          </a:bodyPr>
          <a:lstStyle/>
          <a:p>
            <a:pPr algn="l"/>
            <a:r>
              <a:rPr sz="1100" b="0">
                <a:solidFill>
                  <a:srgbClr val="CADCFC"/>
                </a:solidFill>
                <a:latin typeface="Calibri"/>
              </a:rPr>
              <a:t>Bachillerato en Ingeniería del Software  ·  Sede Central</a:t>
            </a:r>
          </a:p>
        </p:txBody>
      </p:sp>
      <p:sp>
        <p:nvSpPr>
          <p:cNvPr id="8" name="Rectangle 7"/>
          <p:cNvSpPr/>
          <p:nvPr/>
        </p:nvSpPr>
        <p:spPr>
          <a:xfrm>
            <a:off x="640080" y="1188720"/>
            <a:ext cx="128016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17320"/>
            <a:ext cx="7315200" cy="274320"/>
          </a:xfrm>
          <a:prstGeom prst="rect">
            <a:avLst/>
          </a:prstGeom>
          <a:noFill/>
        </p:spPr>
        <p:txBody>
          <a:bodyPr wrap="square" lIns="0" rIns="0" tIns="0" bIns="0" anchor="t">
            <a:spAutoFit/>
          </a:bodyPr>
          <a:lstStyle/>
          <a:p>
            <a:pPr algn="l"/>
            <a:r>
              <a:rPr sz="1200" b="0">
                <a:solidFill>
                  <a:srgbClr val="CADCFC"/>
                </a:solidFill>
                <a:latin typeface="Calibri"/>
              </a:rPr>
              <a:t>PRESENTACIÓN FINAL DE RESULTADOS</a:t>
            </a:r>
          </a:p>
        </p:txBody>
      </p:sp>
      <p:sp>
        <p:nvSpPr>
          <p:cNvPr id="10" name="TextBox 9"/>
          <p:cNvSpPr txBox="1"/>
          <p:nvPr/>
        </p:nvSpPr>
        <p:spPr>
          <a:xfrm>
            <a:off x="640080" y="1874519"/>
            <a:ext cx="7315200" cy="566928"/>
          </a:xfrm>
          <a:prstGeom prst="rect">
            <a:avLst/>
          </a:prstGeom>
          <a:noFill/>
        </p:spPr>
        <p:txBody>
          <a:bodyPr wrap="square" lIns="0" rIns="0" tIns="0" bIns="0" anchor="t">
            <a:spAutoFit/>
          </a:bodyPr>
          <a:lstStyle/>
          <a:p>
            <a:pPr algn="l"/>
            <a:r>
              <a:rPr sz="4000" b="1">
                <a:solidFill>
                  <a:srgbClr val="FFFFFF"/>
                </a:solidFill>
                <a:latin typeface="Cambria"/>
              </a:rPr>
              <a:t>Sistema ODS</a:t>
            </a:r>
          </a:p>
        </p:txBody>
      </p:sp>
      <p:sp>
        <p:nvSpPr>
          <p:cNvPr id="11" name="TextBox 10"/>
          <p:cNvSpPr txBox="1"/>
          <p:nvPr/>
        </p:nvSpPr>
        <p:spPr>
          <a:xfrm>
            <a:off x="640080" y="2468880"/>
            <a:ext cx="7315200" cy="566928"/>
          </a:xfrm>
          <a:prstGeom prst="rect">
            <a:avLst/>
          </a:prstGeom>
          <a:noFill/>
        </p:spPr>
        <p:txBody>
          <a:bodyPr wrap="square" lIns="0" rIns="0" tIns="0" bIns="0" anchor="t">
            <a:spAutoFit/>
          </a:bodyPr>
          <a:lstStyle/>
          <a:p>
            <a:pPr algn="l"/>
            <a:r>
              <a:rPr sz="4000" b="1">
                <a:solidFill>
                  <a:srgbClr val="FFFFFF"/>
                </a:solidFill>
                <a:latin typeface="Cambria"/>
              </a:rPr>
              <a:t>Agenda 2030</a:t>
            </a:r>
          </a:p>
        </p:txBody>
      </p:sp>
      <p:sp>
        <p:nvSpPr>
          <p:cNvPr id="12" name="TextBox 11"/>
          <p:cNvSpPr txBox="1"/>
          <p:nvPr/>
        </p:nvSpPr>
        <p:spPr>
          <a:xfrm>
            <a:off x="640080" y="3127248"/>
            <a:ext cx="4206240" cy="822960"/>
          </a:xfrm>
          <a:prstGeom prst="rect">
            <a:avLst/>
          </a:prstGeom>
          <a:noFill/>
        </p:spPr>
        <p:txBody>
          <a:bodyPr wrap="square" lIns="0" rIns="0" tIns="0" bIns="0" anchor="t">
            <a:spAutoFit/>
          </a:bodyPr>
          <a:lstStyle/>
          <a:p>
            <a:pPr algn="l">
              <a:lnSpc>
                <a:spcPct val="118000"/>
              </a:lnSpc>
            </a:pPr>
            <a:r>
              <a:rPr sz="1300" b="0">
                <a:solidFill>
                  <a:srgbClr val="CADCFC"/>
                </a:solidFill>
                <a:latin typeface="Calibri"/>
              </a:rPr>
              <a:t>Plataforma institucional para el registro,</a:t>
            </a:r>
          </a:p>
          <a:p>
            <a:pPr algn="l">
              <a:lnSpc>
                <a:spcPct val="118000"/>
              </a:lnSpc>
            </a:pPr>
            <a:r>
              <a:rPr sz="1300" b="0">
                <a:solidFill>
                  <a:srgbClr val="CADCFC"/>
                </a:solidFill>
                <a:latin typeface="Calibri"/>
              </a:rPr>
              <a:t>evaluación y reporte de proyectos alineados</a:t>
            </a:r>
          </a:p>
          <a:p>
            <a:pPr algn="l">
              <a:lnSpc>
                <a:spcPct val="118000"/>
              </a:lnSpc>
            </a:pPr>
            <a:r>
              <a:rPr sz="1300" b="0">
                <a:solidFill>
                  <a:srgbClr val="CADCFC"/>
                </a:solidFill>
                <a:latin typeface="Calibri"/>
              </a:rPr>
              <a:t>a los 17 Objetivos de Desarrollo Sostenible</a:t>
            </a:r>
          </a:p>
        </p:txBody>
      </p:sp>
      <p:sp>
        <p:nvSpPr>
          <p:cNvPr id="13" name="Rounded Rectangle 12"/>
          <p:cNvSpPr/>
          <p:nvPr/>
        </p:nvSpPr>
        <p:spPr>
          <a:xfrm>
            <a:off x="640080" y="4041648"/>
            <a:ext cx="2331720" cy="36576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33087"/>
            <a:ext cx="2331720" cy="219456"/>
          </a:xfrm>
          <a:prstGeom prst="rect">
            <a:avLst/>
          </a:prstGeom>
          <a:noFill/>
        </p:spPr>
        <p:txBody>
          <a:bodyPr wrap="square" lIns="0" rIns="0" tIns="0" bIns="0" anchor="t">
            <a:spAutoFit/>
          </a:bodyPr>
          <a:lstStyle/>
          <a:p>
            <a:pPr algn="ctr"/>
            <a:r>
              <a:rPr sz="1200" b="1">
                <a:solidFill>
                  <a:srgbClr val="21295C"/>
                </a:solidFill>
                <a:latin typeface="Calibri"/>
              </a:rPr>
              <a:t>PRÁCTICA PROFESIONAL</a:t>
            </a:r>
          </a:p>
        </p:txBody>
      </p:sp>
      <p:sp>
        <p:nvSpPr>
          <p:cNvPr id="15" name="TextBox 14"/>
          <p:cNvSpPr txBox="1"/>
          <p:nvPr/>
        </p:nvSpPr>
        <p:spPr>
          <a:xfrm>
            <a:off x="640080" y="4617720"/>
            <a:ext cx="7315200" cy="320040"/>
          </a:xfrm>
          <a:prstGeom prst="rect">
            <a:avLst/>
          </a:prstGeom>
          <a:noFill/>
        </p:spPr>
        <p:txBody>
          <a:bodyPr wrap="square" lIns="0" rIns="0" tIns="0" bIns="0" anchor="t">
            <a:spAutoFit/>
          </a:bodyPr>
          <a:lstStyle/>
          <a:p>
            <a:pPr algn="l"/>
            <a:r>
              <a:rPr sz="1600" b="1">
                <a:solidFill>
                  <a:srgbClr val="FFFFFF"/>
                </a:solidFill>
                <a:latin typeface="Calibri"/>
              </a:rPr>
              <a:t>Kevin Campos González</a:t>
            </a:r>
          </a:p>
        </p:txBody>
      </p:sp>
      <p:sp>
        <p:nvSpPr>
          <p:cNvPr id="16" name="TextBox 15"/>
          <p:cNvSpPr txBox="1"/>
          <p:nvPr/>
        </p:nvSpPr>
        <p:spPr>
          <a:xfrm>
            <a:off x="640080" y="4956048"/>
            <a:ext cx="7315200" cy="228600"/>
          </a:xfrm>
          <a:prstGeom prst="rect">
            <a:avLst/>
          </a:prstGeom>
          <a:noFill/>
        </p:spPr>
        <p:txBody>
          <a:bodyPr wrap="square" lIns="0" rIns="0" tIns="0" bIns="0" anchor="t">
            <a:spAutoFit/>
          </a:bodyPr>
          <a:lstStyle/>
          <a:p>
            <a:pPr algn="l"/>
            <a:r>
              <a:rPr sz="1100" b="0">
                <a:solidFill>
                  <a:srgbClr val="CADCFC"/>
                </a:solidFill>
                <a:latin typeface="Calibri"/>
              </a:rPr>
              <a:t>Cédula 2-0675-0567</a:t>
            </a:r>
          </a:p>
        </p:txBody>
      </p:sp>
      <p:sp>
        <p:nvSpPr>
          <p:cNvPr id="17" name="TextBox 16"/>
          <p:cNvSpPr txBox="1"/>
          <p:nvPr/>
        </p:nvSpPr>
        <p:spPr>
          <a:xfrm>
            <a:off x="640080" y="5257800"/>
            <a:ext cx="7315200" cy="228600"/>
          </a:xfrm>
          <a:prstGeom prst="rect">
            <a:avLst/>
          </a:prstGeom>
          <a:noFill/>
        </p:spPr>
        <p:txBody>
          <a:bodyPr wrap="square" lIns="0" rIns="0" tIns="0" bIns="0" anchor="t">
            <a:spAutoFit/>
          </a:bodyPr>
          <a:lstStyle/>
          <a:p>
            <a:pPr algn="l"/>
            <a:r>
              <a:rPr sz="1100" b="0">
                <a:solidFill>
                  <a:srgbClr val="CADCFC"/>
                </a:solidFill>
                <a:latin typeface="Calibri"/>
              </a:rPr>
              <a:t>UTN — Dirección de Planificación</a:t>
            </a:r>
          </a:p>
        </p:txBody>
      </p:sp>
      <p:sp>
        <p:nvSpPr>
          <p:cNvPr id="18" name="TextBox 17"/>
          <p:cNvSpPr txBox="1"/>
          <p:nvPr/>
        </p:nvSpPr>
        <p:spPr>
          <a:xfrm>
            <a:off x="640080" y="5486400"/>
            <a:ext cx="7315200" cy="228600"/>
          </a:xfrm>
          <a:prstGeom prst="rect">
            <a:avLst/>
          </a:prstGeom>
          <a:noFill/>
        </p:spPr>
        <p:txBody>
          <a:bodyPr wrap="square" lIns="0" rIns="0" tIns="0" bIns="0" anchor="t">
            <a:spAutoFit/>
          </a:bodyPr>
          <a:lstStyle/>
          <a:p>
            <a:pPr algn="l"/>
            <a:r>
              <a:rPr sz="1100" b="0">
                <a:solidFill>
                  <a:srgbClr val="CADCFC"/>
                </a:solidFill>
                <a:latin typeface="Calibri"/>
              </a:rPr>
              <a:t>Unidad de Gestión de Proyectos</a:t>
            </a:r>
          </a:p>
        </p:txBody>
      </p:sp>
      <p:sp>
        <p:nvSpPr>
          <p:cNvPr id="19" name="TextBox 18"/>
          <p:cNvSpPr txBox="1"/>
          <p:nvPr/>
        </p:nvSpPr>
        <p:spPr>
          <a:xfrm>
            <a:off x="640080" y="5715000"/>
            <a:ext cx="7315200" cy="228600"/>
          </a:xfrm>
          <a:prstGeom prst="rect">
            <a:avLst/>
          </a:prstGeom>
          <a:noFill/>
        </p:spPr>
        <p:txBody>
          <a:bodyPr wrap="square" lIns="0" rIns="0" tIns="0" bIns="0" anchor="t">
            <a:spAutoFit/>
          </a:bodyPr>
          <a:lstStyle/>
          <a:p>
            <a:pPr algn="l"/>
            <a:r>
              <a:rPr sz="1100" b="0">
                <a:solidFill>
                  <a:srgbClr val="CADCFC"/>
                </a:solidFill>
                <a:latin typeface="Calibri"/>
              </a:rPr>
              <a:t>Supervisor: MGT Joaquín Artavia Chaves</a:t>
            </a:r>
          </a:p>
        </p:txBody>
      </p:sp>
      <p:sp>
        <p:nvSpPr>
          <p:cNvPr id="20" name="TextBox 19"/>
          <p:cNvSpPr txBox="1"/>
          <p:nvPr/>
        </p:nvSpPr>
        <p:spPr>
          <a:xfrm>
            <a:off x="640080" y="5943600"/>
            <a:ext cx="7315200" cy="228600"/>
          </a:xfrm>
          <a:prstGeom prst="rect">
            <a:avLst/>
          </a:prstGeom>
          <a:noFill/>
        </p:spPr>
        <p:txBody>
          <a:bodyPr wrap="square" lIns="0" rIns="0" tIns="0" bIns="0" anchor="t">
            <a:spAutoFit/>
          </a:bodyPr>
          <a:lstStyle/>
          <a:p>
            <a:pPr algn="l"/>
            <a:r>
              <a:rPr sz="1100" b="0">
                <a:solidFill>
                  <a:srgbClr val="CADCFC"/>
                </a:solidFill>
                <a:latin typeface="Calibri"/>
              </a:rPr>
              <a:t>Periodo: 22/05/2026 – 21/08/2026  ·  14 semanas  ·  280 horas</a:t>
            </a:r>
          </a:p>
        </p:txBody>
      </p:sp>
      <p:pic>
        <p:nvPicPr>
          <p:cNvPr id="21" name="Picture 20" descr="utn_mark.png"/>
          <p:cNvPicPr>
            <a:picLocks noChangeAspect="1"/>
          </p:cNvPicPr>
          <p:nvPr/>
        </p:nvPicPr>
        <p:blipFill>
          <a:blip r:embed="rId2"/>
          <a:stretch>
            <a:fillRect/>
          </a:stretch>
        </p:blipFill>
        <p:spPr>
          <a:xfrm>
            <a:off x="6583680" y="2148840"/>
            <a:ext cx="3474720" cy="1848087"/>
          </a:xfrm>
          <a:prstGeom prst="rect">
            <a:avLst/>
          </a:prstGeom>
        </p:spPr>
      </p:pic>
      <p:sp>
        <p:nvSpPr>
          <p:cNvPr id="22" name="TextBox 21"/>
          <p:cNvSpPr txBox="1"/>
          <p:nvPr/>
        </p:nvSpPr>
        <p:spPr>
          <a:xfrm>
            <a:off x="6035040" y="4160520"/>
            <a:ext cx="4572000" cy="274320"/>
          </a:xfrm>
          <a:prstGeom prst="rect">
            <a:avLst/>
          </a:prstGeom>
          <a:noFill/>
        </p:spPr>
        <p:txBody>
          <a:bodyPr wrap="square" lIns="0" rIns="0" tIns="0" bIns="0" anchor="t">
            <a:spAutoFit/>
          </a:bodyPr>
          <a:lstStyle/>
          <a:p>
            <a:pPr algn="ctr"/>
            <a:r>
              <a:rPr sz="1200" b="0">
                <a:solidFill>
                  <a:srgbClr val="CADCFC"/>
                </a:solidFill>
                <a:latin typeface="Calibri"/>
              </a:rPr>
              <a:t>UNIVERSIDAD TÉCNICA NACIONAL</a:t>
            </a:r>
          </a:p>
        </p:txBody>
      </p:sp>
      <p:sp>
        <p:nvSpPr>
          <p:cNvPr id="23" name="TextBox 22"/>
          <p:cNvSpPr txBox="1"/>
          <p:nvPr/>
        </p:nvSpPr>
        <p:spPr>
          <a:xfrm>
            <a:off x="9418320" y="5212080"/>
            <a:ext cx="2103120" cy="228600"/>
          </a:xfrm>
          <a:prstGeom prst="rect">
            <a:avLst/>
          </a:prstGeom>
          <a:noFill/>
        </p:spPr>
        <p:txBody>
          <a:bodyPr wrap="square" lIns="0" rIns="0" tIns="0" bIns="0" anchor="t">
            <a:spAutoFit/>
          </a:bodyPr>
          <a:lstStyle/>
          <a:p>
            <a:pPr algn="r"/>
            <a:r>
              <a:rPr sz="1000" b="1">
                <a:solidFill>
                  <a:srgbClr val="F59E0B"/>
                </a:solidFill>
                <a:latin typeface="Calibri"/>
              </a:rPr>
              <a:t>FECHA</a:t>
            </a:r>
          </a:p>
        </p:txBody>
      </p:sp>
      <p:sp>
        <p:nvSpPr>
          <p:cNvPr id="24" name="TextBox 23"/>
          <p:cNvSpPr txBox="1"/>
          <p:nvPr/>
        </p:nvSpPr>
        <p:spPr>
          <a:xfrm>
            <a:off x="9418320" y="5504688"/>
            <a:ext cx="2103120" cy="320040"/>
          </a:xfrm>
          <a:prstGeom prst="rect">
            <a:avLst/>
          </a:prstGeom>
          <a:noFill/>
        </p:spPr>
        <p:txBody>
          <a:bodyPr wrap="square" lIns="0" rIns="0" tIns="0" bIns="0" anchor="t">
            <a:spAutoFit/>
          </a:bodyPr>
          <a:lstStyle/>
          <a:p>
            <a:pPr algn="r"/>
            <a:r>
              <a:rPr sz="1600" b="1">
                <a:solidFill>
                  <a:srgbClr val="FFFFFF"/>
                </a:solidFill>
                <a:latin typeface="Calibri"/>
              </a:rPr>
              <a:t>26 / 08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CONTENIDO</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Agenda de la presentación</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234440"/>
            <a:ext cx="5669280" cy="1115568"/>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 y="1618488"/>
            <a:ext cx="640080" cy="36576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709928"/>
            <a:ext cx="640080" cy="219456"/>
          </a:xfrm>
          <a:prstGeom prst="rect">
            <a:avLst/>
          </a:prstGeom>
          <a:noFill/>
        </p:spPr>
        <p:txBody>
          <a:bodyPr wrap="square" lIns="0" rIns="0" tIns="0" bIns="0" anchor="t">
            <a:spAutoFit/>
          </a:bodyPr>
          <a:lstStyle/>
          <a:p>
            <a:pPr algn="ctr"/>
            <a:r>
              <a:rPr sz="1300" b="1">
                <a:solidFill>
                  <a:srgbClr val="FFFFFF"/>
                </a:solidFill>
                <a:latin typeface="Calibri"/>
              </a:rPr>
              <a:t>01</a:t>
            </a:r>
          </a:p>
        </p:txBody>
      </p:sp>
      <p:sp>
        <p:nvSpPr>
          <p:cNvPr id="10" name="TextBox 9"/>
          <p:cNvSpPr txBox="1"/>
          <p:nvPr/>
        </p:nvSpPr>
        <p:spPr>
          <a:xfrm>
            <a:off x="1463040" y="1490472"/>
            <a:ext cx="4389120" cy="292608"/>
          </a:xfrm>
          <a:prstGeom prst="rect">
            <a:avLst/>
          </a:prstGeom>
          <a:noFill/>
        </p:spPr>
        <p:txBody>
          <a:bodyPr wrap="square" lIns="0" rIns="0" tIns="0" bIns="0" anchor="t">
            <a:spAutoFit/>
          </a:bodyPr>
          <a:lstStyle/>
          <a:p>
            <a:pPr algn="l"/>
            <a:r>
              <a:rPr sz="1500" b="1">
                <a:solidFill>
                  <a:srgbClr val="0F172A"/>
                </a:solidFill>
                <a:latin typeface="Calibri"/>
              </a:rPr>
              <a:t>Introducción</a:t>
            </a:r>
          </a:p>
        </p:txBody>
      </p:sp>
      <p:sp>
        <p:nvSpPr>
          <p:cNvPr id="11" name="TextBox 10"/>
          <p:cNvSpPr txBox="1"/>
          <p:nvPr/>
        </p:nvSpPr>
        <p:spPr>
          <a:xfrm>
            <a:off x="1463040" y="1856232"/>
            <a:ext cx="4389120" cy="292608"/>
          </a:xfrm>
          <a:prstGeom prst="rect">
            <a:avLst/>
          </a:prstGeom>
          <a:noFill/>
        </p:spPr>
        <p:txBody>
          <a:bodyPr wrap="square" lIns="0" rIns="0" tIns="0" bIns="0" anchor="t">
            <a:spAutoFit/>
          </a:bodyPr>
          <a:lstStyle/>
          <a:p>
            <a:pPr algn="l"/>
            <a:r>
              <a:rPr sz="1100" b="0">
                <a:solidFill>
                  <a:srgbClr val="64748B"/>
                </a:solidFill>
                <a:latin typeface="Calibri"/>
              </a:rPr>
              <a:t>Objetivo general y objetivos específicos</a:t>
            </a:r>
          </a:p>
        </p:txBody>
      </p:sp>
      <p:sp>
        <p:nvSpPr>
          <p:cNvPr id="12" name="Rounded Rectangle 11"/>
          <p:cNvSpPr/>
          <p:nvPr/>
        </p:nvSpPr>
        <p:spPr>
          <a:xfrm>
            <a:off x="6309360" y="1234440"/>
            <a:ext cx="5669280" cy="1115568"/>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65392" y="1618488"/>
            <a:ext cx="640080" cy="36576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1709928"/>
            <a:ext cx="640080" cy="219456"/>
          </a:xfrm>
          <a:prstGeom prst="rect">
            <a:avLst/>
          </a:prstGeom>
          <a:noFill/>
        </p:spPr>
        <p:txBody>
          <a:bodyPr wrap="square" lIns="0" rIns="0" tIns="0" bIns="0" anchor="t">
            <a:spAutoFit/>
          </a:bodyPr>
          <a:lstStyle/>
          <a:p>
            <a:pPr algn="ctr"/>
            <a:r>
              <a:rPr sz="1300" b="1">
                <a:solidFill>
                  <a:srgbClr val="FFFFFF"/>
                </a:solidFill>
                <a:latin typeface="Calibri"/>
              </a:rPr>
              <a:t>02</a:t>
            </a:r>
          </a:p>
        </p:txBody>
      </p:sp>
      <p:sp>
        <p:nvSpPr>
          <p:cNvPr id="15" name="TextBox 14"/>
          <p:cNvSpPr txBox="1"/>
          <p:nvPr/>
        </p:nvSpPr>
        <p:spPr>
          <a:xfrm>
            <a:off x="7406640" y="1490472"/>
            <a:ext cx="4389120" cy="292608"/>
          </a:xfrm>
          <a:prstGeom prst="rect">
            <a:avLst/>
          </a:prstGeom>
          <a:noFill/>
        </p:spPr>
        <p:txBody>
          <a:bodyPr wrap="square" lIns="0" rIns="0" tIns="0" bIns="0" anchor="t">
            <a:spAutoFit/>
          </a:bodyPr>
          <a:lstStyle/>
          <a:p>
            <a:pPr algn="l"/>
            <a:r>
              <a:rPr sz="1500" b="1">
                <a:solidFill>
                  <a:srgbClr val="0F172A"/>
                </a:solidFill>
                <a:latin typeface="Calibri"/>
              </a:rPr>
              <a:t>Organización</a:t>
            </a:r>
          </a:p>
        </p:txBody>
      </p:sp>
      <p:sp>
        <p:nvSpPr>
          <p:cNvPr id="16" name="TextBox 15"/>
          <p:cNvSpPr txBox="1"/>
          <p:nvPr/>
        </p:nvSpPr>
        <p:spPr>
          <a:xfrm>
            <a:off x="7406640" y="1856232"/>
            <a:ext cx="4389120" cy="292608"/>
          </a:xfrm>
          <a:prstGeom prst="rect">
            <a:avLst/>
          </a:prstGeom>
          <a:noFill/>
        </p:spPr>
        <p:txBody>
          <a:bodyPr wrap="square" lIns="0" rIns="0" tIns="0" bIns="0" anchor="t">
            <a:spAutoFit/>
          </a:bodyPr>
          <a:lstStyle/>
          <a:p>
            <a:pPr algn="l"/>
            <a:r>
              <a:rPr sz="1100" b="0">
                <a:solidFill>
                  <a:srgbClr val="64748B"/>
                </a:solidFill>
                <a:latin typeface="Calibri"/>
              </a:rPr>
              <a:t>Antecedentes, ubicación e infraestructura</a:t>
            </a:r>
          </a:p>
        </p:txBody>
      </p:sp>
      <p:sp>
        <p:nvSpPr>
          <p:cNvPr id="17" name="Rounded Rectangle 16"/>
          <p:cNvSpPr/>
          <p:nvPr/>
        </p:nvSpPr>
        <p:spPr>
          <a:xfrm>
            <a:off x="365760" y="2532888"/>
            <a:ext cx="5669280" cy="1115568"/>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 y="2916936"/>
            <a:ext cx="640080" cy="36576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008376"/>
            <a:ext cx="640080" cy="219456"/>
          </a:xfrm>
          <a:prstGeom prst="rect">
            <a:avLst/>
          </a:prstGeom>
          <a:noFill/>
        </p:spPr>
        <p:txBody>
          <a:bodyPr wrap="square" lIns="0" rIns="0" tIns="0" bIns="0" anchor="t">
            <a:spAutoFit/>
          </a:bodyPr>
          <a:lstStyle/>
          <a:p>
            <a:pPr algn="ctr"/>
            <a:r>
              <a:rPr sz="1300" b="1">
                <a:solidFill>
                  <a:srgbClr val="FFFFFF"/>
                </a:solidFill>
                <a:latin typeface="Calibri"/>
              </a:rPr>
              <a:t>03</a:t>
            </a:r>
          </a:p>
        </p:txBody>
      </p:sp>
      <p:sp>
        <p:nvSpPr>
          <p:cNvPr id="20" name="TextBox 19"/>
          <p:cNvSpPr txBox="1"/>
          <p:nvPr/>
        </p:nvSpPr>
        <p:spPr>
          <a:xfrm>
            <a:off x="1463040" y="2788920"/>
            <a:ext cx="4389120" cy="292608"/>
          </a:xfrm>
          <a:prstGeom prst="rect">
            <a:avLst/>
          </a:prstGeom>
          <a:noFill/>
        </p:spPr>
        <p:txBody>
          <a:bodyPr wrap="square" lIns="0" rIns="0" tIns="0" bIns="0" anchor="t">
            <a:spAutoFit/>
          </a:bodyPr>
          <a:lstStyle/>
          <a:p>
            <a:pPr algn="l"/>
            <a:r>
              <a:rPr sz="1500" b="1">
                <a:solidFill>
                  <a:srgbClr val="0F172A"/>
                </a:solidFill>
                <a:latin typeface="Calibri"/>
              </a:rPr>
              <a:t>Estrategia organizacional</a:t>
            </a:r>
          </a:p>
        </p:txBody>
      </p:sp>
      <p:sp>
        <p:nvSpPr>
          <p:cNvPr id="21" name="TextBox 20"/>
          <p:cNvSpPr txBox="1"/>
          <p:nvPr/>
        </p:nvSpPr>
        <p:spPr>
          <a:xfrm>
            <a:off x="1463040" y="3154680"/>
            <a:ext cx="4389120" cy="292608"/>
          </a:xfrm>
          <a:prstGeom prst="rect">
            <a:avLst/>
          </a:prstGeom>
          <a:noFill/>
        </p:spPr>
        <p:txBody>
          <a:bodyPr wrap="square" lIns="0" rIns="0" tIns="0" bIns="0" anchor="t">
            <a:spAutoFit/>
          </a:bodyPr>
          <a:lstStyle/>
          <a:p>
            <a:pPr algn="l"/>
            <a:r>
              <a:rPr sz="1100" b="0">
                <a:solidFill>
                  <a:srgbClr val="64748B"/>
                </a:solidFill>
                <a:latin typeface="Calibri"/>
              </a:rPr>
              <a:t>Misión, visión, organigrama y TI</a:t>
            </a:r>
          </a:p>
        </p:txBody>
      </p:sp>
      <p:sp>
        <p:nvSpPr>
          <p:cNvPr id="22" name="Rounded Rectangle 21"/>
          <p:cNvSpPr/>
          <p:nvPr/>
        </p:nvSpPr>
        <p:spPr>
          <a:xfrm>
            <a:off x="6309360" y="2532888"/>
            <a:ext cx="5669280" cy="1115568"/>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65392" y="2916936"/>
            <a:ext cx="640080" cy="36576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008376"/>
            <a:ext cx="640080" cy="219456"/>
          </a:xfrm>
          <a:prstGeom prst="rect">
            <a:avLst/>
          </a:prstGeom>
          <a:noFill/>
        </p:spPr>
        <p:txBody>
          <a:bodyPr wrap="square" lIns="0" rIns="0" tIns="0" bIns="0" anchor="t">
            <a:spAutoFit/>
          </a:bodyPr>
          <a:lstStyle/>
          <a:p>
            <a:pPr algn="ctr"/>
            <a:r>
              <a:rPr sz="1300" b="1">
                <a:solidFill>
                  <a:srgbClr val="FFFFFF"/>
                </a:solidFill>
                <a:latin typeface="Calibri"/>
              </a:rPr>
              <a:t>04</a:t>
            </a:r>
          </a:p>
        </p:txBody>
      </p:sp>
      <p:sp>
        <p:nvSpPr>
          <p:cNvPr id="25" name="TextBox 24"/>
          <p:cNvSpPr txBox="1"/>
          <p:nvPr/>
        </p:nvSpPr>
        <p:spPr>
          <a:xfrm>
            <a:off x="7406640" y="2788920"/>
            <a:ext cx="4389120" cy="292608"/>
          </a:xfrm>
          <a:prstGeom prst="rect">
            <a:avLst/>
          </a:prstGeom>
          <a:noFill/>
        </p:spPr>
        <p:txBody>
          <a:bodyPr wrap="square" lIns="0" rIns="0" tIns="0" bIns="0" anchor="t">
            <a:spAutoFit/>
          </a:bodyPr>
          <a:lstStyle/>
          <a:p>
            <a:pPr algn="l"/>
            <a:r>
              <a:rPr sz="1500" b="1">
                <a:solidFill>
                  <a:srgbClr val="0F172A"/>
                </a:solidFill>
                <a:latin typeface="Calibri"/>
              </a:rPr>
              <a:t>Funciones realizadas</a:t>
            </a:r>
          </a:p>
        </p:txBody>
      </p:sp>
      <p:sp>
        <p:nvSpPr>
          <p:cNvPr id="26" name="TextBox 25"/>
          <p:cNvSpPr txBox="1"/>
          <p:nvPr/>
        </p:nvSpPr>
        <p:spPr>
          <a:xfrm>
            <a:off x="7406640" y="3154680"/>
            <a:ext cx="4389120" cy="292608"/>
          </a:xfrm>
          <a:prstGeom prst="rect">
            <a:avLst/>
          </a:prstGeom>
          <a:noFill/>
        </p:spPr>
        <p:txBody>
          <a:bodyPr wrap="square" lIns="0" rIns="0" tIns="0" bIns="0" anchor="t">
            <a:spAutoFit/>
          </a:bodyPr>
          <a:lstStyle/>
          <a:p>
            <a:pPr algn="l"/>
            <a:r>
              <a:rPr sz="1100" b="0">
                <a:solidFill>
                  <a:srgbClr val="64748B"/>
                </a:solidFill>
                <a:latin typeface="Calibri"/>
              </a:rPr>
              <a:t>Área de práctica y trabajo ejecutado</a:t>
            </a:r>
          </a:p>
        </p:txBody>
      </p:sp>
      <p:sp>
        <p:nvSpPr>
          <p:cNvPr id="27" name="Rounded Rectangle 26"/>
          <p:cNvSpPr/>
          <p:nvPr/>
        </p:nvSpPr>
        <p:spPr>
          <a:xfrm>
            <a:off x="365760" y="3831335"/>
            <a:ext cx="5669280" cy="1115568"/>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1792" y="4215383"/>
            <a:ext cx="640080" cy="36576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4306823"/>
            <a:ext cx="640080" cy="219456"/>
          </a:xfrm>
          <a:prstGeom prst="rect">
            <a:avLst/>
          </a:prstGeom>
          <a:noFill/>
        </p:spPr>
        <p:txBody>
          <a:bodyPr wrap="square" lIns="0" rIns="0" tIns="0" bIns="0" anchor="t">
            <a:spAutoFit/>
          </a:bodyPr>
          <a:lstStyle/>
          <a:p>
            <a:pPr algn="ctr"/>
            <a:r>
              <a:rPr sz="1300" b="1">
                <a:solidFill>
                  <a:srgbClr val="FFFFFF"/>
                </a:solidFill>
                <a:latin typeface="Calibri"/>
              </a:rPr>
              <a:t>05</a:t>
            </a:r>
          </a:p>
        </p:txBody>
      </p:sp>
      <p:sp>
        <p:nvSpPr>
          <p:cNvPr id="30" name="TextBox 29"/>
          <p:cNvSpPr txBox="1"/>
          <p:nvPr/>
        </p:nvSpPr>
        <p:spPr>
          <a:xfrm>
            <a:off x="1463040" y="4087368"/>
            <a:ext cx="4389120" cy="292608"/>
          </a:xfrm>
          <a:prstGeom prst="rect">
            <a:avLst/>
          </a:prstGeom>
          <a:noFill/>
        </p:spPr>
        <p:txBody>
          <a:bodyPr wrap="square" lIns="0" rIns="0" tIns="0" bIns="0" anchor="t">
            <a:spAutoFit/>
          </a:bodyPr>
          <a:lstStyle/>
          <a:p>
            <a:pPr algn="l"/>
            <a:r>
              <a:rPr sz="1500" b="1">
                <a:solidFill>
                  <a:srgbClr val="0F172A"/>
                </a:solidFill>
                <a:latin typeface="Calibri"/>
              </a:rPr>
              <a:t>Resultados</a:t>
            </a:r>
          </a:p>
        </p:txBody>
      </p:sp>
      <p:sp>
        <p:nvSpPr>
          <p:cNvPr id="31" name="TextBox 30"/>
          <p:cNvSpPr txBox="1"/>
          <p:nvPr/>
        </p:nvSpPr>
        <p:spPr>
          <a:xfrm>
            <a:off x="1463040" y="4453127"/>
            <a:ext cx="4389120" cy="292608"/>
          </a:xfrm>
          <a:prstGeom prst="rect">
            <a:avLst/>
          </a:prstGeom>
          <a:noFill/>
        </p:spPr>
        <p:txBody>
          <a:bodyPr wrap="square" lIns="0" rIns="0" tIns="0" bIns="0" anchor="t">
            <a:spAutoFit/>
          </a:bodyPr>
          <a:lstStyle/>
          <a:p>
            <a:pPr algn="l"/>
            <a:r>
              <a:rPr sz="1100" b="0">
                <a:solidFill>
                  <a:srgbClr val="64748B"/>
                </a:solidFill>
                <a:latin typeface="Calibri"/>
              </a:rPr>
              <a:t>Sistema construido y reporte institucional</a:t>
            </a:r>
          </a:p>
        </p:txBody>
      </p:sp>
      <p:sp>
        <p:nvSpPr>
          <p:cNvPr id="32" name="Rounded Rectangle 31"/>
          <p:cNvSpPr/>
          <p:nvPr/>
        </p:nvSpPr>
        <p:spPr>
          <a:xfrm>
            <a:off x="6309360" y="3831335"/>
            <a:ext cx="5669280" cy="1115568"/>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565392" y="4215383"/>
            <a:ext cx="640080" cy="36576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65392" y="4306823"/>
            <a:ext cx="640080" cy="219456"/>
          </a:xfrm>
          <a:prstGeom prst="rect">
            <a:avLst/>
          </a:prstGeom>
          <a:noFill/>
        </p:spPr>
        <p:txBody>
          <a:bodyPr wrap="square" lIns="0" rIns="0" tIns="0" bIns="0" anchor="t">
            <a:spAutoFit/>
          </a:bodyPr>
          <a:lstStyle/>
          <a:p>
            <a:pPr algn="ctr"/>
            <a:r>
              <a:rPr sz="1300" b="1">
                <a:solidFill>
                  <a:srgbClr val="FFFFFF"/>
                </a:solidFill>
                <a:latin typeface="Calibri"/>
              </a:rPr>
              <a:t>06</a:t>
            </a:r>
          </a:p>
        </p:txBody>
      </p:sp>
      <p:sp>
        <p:nvSpPr>
          <p:cNvPr id="35" name="TextBox 34"/>
          <p:cNvSpPr txBox="1"/>
          <p:nvPr/>
        </p:nvSpPr>
        <p:spPr>
          <a:xfrm>
            <a:off x="7406640" y="4087368"/>
            <a:ext cx="4389120" cy="292608"/>
          </a:xfrm>
          <a:prstGeom prst="rect">
            <a:avLst/>
          </a:prstGeom>
          <a:noFill/>
        </p:spPr>
        <p:txBody>
          <a:bodyPr wrap="square" lIns="0" rIns="0" tIns="0" bIns="0" anchor="t">
            <a:spAutoFit/>
          </a:bodyPr>
          <a:lstStyle/>
          <a:p>
            <a:pPr algn="l"/>
            <a:r>
              <a:rPr sz="1500" b="1">
                <a:solidFill>
                  <a:srgbClr val="0F172A"/>
                </a:solidFill>
                <a:latin typeface="Calibri"/>
              </a:rPr>
              <a:t>Cronograma</a:t>
            </a:r>
          </a:p>
        </p:txBody>
      </p:sp>
      <p:sp>
        <p:nvSpPr>
          <p:cNvPr id="36" name="TextBox 35"/>
          <p:cNvSpPr txBox="1"/>
          <p:nvPr/>
        </p:nvSpPr>
        <p:spPr>
          <a:xfrm>
            <a:off x="7406640" y="4453127"/>
            <a:ext cx="4389120" cy="292608"/>
          </a:xfrm>
          <a:prstGeom prst="rect">
            <a:avLst/>
          </a:prstGeom>
          <a:noFill/>
        </p:spPr>
        <p:txBody>
          <a:bodyPr wrap="square" lIns="0" rIns="0" tIns="0" bIns="0" anchor="t">
            <a:spAutoFit/>
          </a:bodyPr>
          <a:lstStyle/>
          <a:p>
            <a:pPr algn="l"/>
            <a:r>
              <a:rPr sz="1100" b="0">
                <a:solidFill>
                  <a:srgbClr val="64748B"/>
                </a:solidFill>
                <a:latin typeface="Calibri"/>
              </a:rPr>
              <a:t>Propuesto contra ejecutado</a:t>
            </a:r>
          </a:p>
        </p:txBody>
      </p:sp>
      <p:sp>
        <p:nvSpPr>
          <p:cNvPr id="37" name="Rounded Rectangle 36"/>
          <p:cNvSpPr/>
          <p:nvPr/>
        </p:nvSpPr>
        <p:spPr>
          <a:xfrm>
            <a:off x="365760" y="5129783"/>
            <a:ext cx="5669280" cy="1115568"/>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1792" y="5513831"/>
            <a:ext cx="640080" cy="36576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5605271"/>
            <a:ext cx="640080" cy="219456"/>
          </a:xfrm>
          <a:prstGeom prst="rect">
            <a:avLst/>
          </a:prstGeom>
          <a:noFill/>
        </p:spPr>
        <p:txBody>
          <a:bodyPr wrap="square" lIns="0" rIns="0" tIns="0" bIns="0" anchor="t">
            <a:spAutoFit/>
          </a:bodyPr>
          <a:lstStyle/>
          <a:p>
            <a:pPr algn="ctr"/>
            <a:r>
              <a:rPr sz="1300" b="1">
                <a:solidFill>
                  <a:srgbClr val="FFFFFF"/>
                </a:solidFill>
                <a:latin typeface="Calibri"/>
              </a:rPr>
              <a:t>07</a:t>
            </a:r>
          </a:p>
        </p:txBody>
      </p:sp>
      <p:sp>
        <p:nvSpPr>
          <p:cNvPr id="40" name="TextBox 39"/>
          <p:cNvSpPr txBox="1"/>
          <p:nvPr/>
        </p:nvSpPr>
        <p:spPr>
          <a:xfrm>
            <a:off x="1463040" y="5385816"/>
            <a:ext cx="4389120" cy="292608"/>
          </a:xfrm>
          <a:prstGeom prst="rect">
            <a:avLst/>
          </a:prstGeom>
          <a:noFill/>
        </p:spPr>
        <p:txBody>
          <a:bodyPr wrap="square" lIns="0" rIns="0" tIns="0" bIns="0" anchor="t">
            <a:spAutoFit/>
          </a:bodyPr>
          <a:lstStyle/>
          <a:p>
            <a:pPr algn="l"/>
            <a:r>
              <a:rPr sz="1500" b="1">
                <a:solidFill>
                  <a:srgbClr val="0F172A"/>
                </a:solidFill>
                <a:latin typeface="Calibri"/>
              </a:rPr>
              <a:t>Conclusiones</a:t>
            </a:r>
          </a:p>
        </p:txBody>
      </p:sp>
      <p:sp>
        <p:nvSpPr>
          <p:cNvPr id="41" name="TextBox 40"/>
          <p:cNvSpPr txBox="1"/>
          <p:nvPr/>
        </p:nvSpPr>
        <p:spPr>
          <a:xfrm>
            <a:off x="1463040" y="5751575"/>
            <a:ext cx="4389120" cy="292608"/>
          </a:xfrm>
          <a:prstGeom prst="rect">
            <a:avLst/>
          </a:prstGeom>
          <a:noFill/>
        </p:spPr>
        <p:txBody>
          <a:bodyPr wrap="square" lIns="0" rIns="0" tIns="0" bIns="0" anchor="t">
            <a:spAutoFit/>
          </a:bodyPr>
          <a:lstStyle/>
          <a:p>
            <a:pPr algn="l"/>
            <a:r>
              <a:rPr sz="1100" b="0">
                <a:solidFill>
                  <a:srgbClr val="64748B"/>
                </a:solidFill>
                <a:latin typeface="Calibri"/>
              </a:rPr>
              <a:t>Organización, área y proceso</a:t>
            </a:r>
          </a:p>
        </p:txBody>
      </p:sp>
      <p:sp>
        <p:nvSpPr>
          <p:cNvPr id="42" name="Rounded Rectangle 41"/>
          <p:cNvSpPr/>
          <p:nvPr/>
        </p:nvSpPr>
        <p:spPr>
          <a:xfrm>
            <a:off x="6309360" y="5129783"/>
            <a:ext cx="5669280" cy="1115568"/>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565392" y="5513831"/>
            <a:ext cx="640080" cy="36576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65392" y="5605271"/>
            <a:ext cx="640080" cy="219456"/>
          </a:xfrm>
          <a:prstGeom prst="rect">
            <a:avLst/>
          </a:prstGeom>
          <a:noFill/>
        </p:spPr>
        <p:txBody>
          <a:bodyPr wrap="square" lIns="0" rIns="0" tIns="0" bIns="0" anchor="t">
            <a:spAutoFit/>
          </a:bodyPr>
          <a:lstStyle/>
          <a:p>
            <a:pPr algn="ctr"/>
            <a:r>
              <a:rPr sz="1300" b="1">
                <a:solidFill>
                  <a:srgbClr val="FFFFFF"/>
                </a:solidFill>
                <a:latin typeface="Calibri"/>
              </a:rPr>
              <a:t>08</a:t>
            </a:r>
          </a:p>
        </p:txBody>
      </p:sp>
      <p:sp>
        <p:nvSpPr>
          <p:cNvPr id="45" name="TextBox 44"/>
          <p:cNvSpPr txBox="1"/>
          <p:nvPr/>
        </p:nvSpPr>
        <p:spPr>
          <a:xfrm>
            <a:off x="7406640" y="5385816"/>
            <a:ext cx="4389120" cy="292608"/>
          </a:xfrm>
          <a:prstGeom prst="rect">
            <a:avLst/>
          </a:prstGeom>
          <a:noFill/>
        </p:spPr>
        <p:txBody>
          <a:bodyPr wrap="square" lIns="0" rIns="0" tIns="0" bIns="0" anchor="t">
            <a:spAutoFit/>
          </a:bodyPr>
          <a:lstStyle/>
          <a:p>
            <a:pPr algn="l"/>
            <a:r>
              <a:rPr sz="1500" b="1">
                <a:solidFill>
                  <a:srgbClr val="0F172A"/>
                </a:solidFill>
                <a:latin typeface="Calibri"/>
              </a:rPr>
              <a:t>Recomendaciones</a:t>
            </a:r>
          </a:p>
        </p:txBody>
      </p:sp>
      <p:sp>
        <p:nvSpPr>
          <p:cNvPr id="46" name="TextBox 45"/>
          <p:cNvSpPr txBox="1"/>
          <p:nvPr/>
        </p:nvSpPr>
        <p:spPr>
          <a:xfrm>
            <a:off x="7406640" y="5751575"/>
            <a:ext cx="4389120" cy="292608"/>
          </a:xfrm>
          <a:prstGeom prst="rect">
            <a:avLst/>
          </a:prstGeom>
          <a:noFill/>
        </p:spPr>
        <p:txBody>
          <a:bodyPr wrap="square" lIns="0" rIns="0" tIns="0" bIns="0" anchor="t">
            <a:spAutoFit/>
          </a:bodyPr>
          <a:lstStyle/>
          <a:p>
            <a:pPr algn="l"/>
            <a:r>
              <a:rPr sz="1100" b="0">
                <a:solidFill>
                  <a:srgbClr val="64748B"/>
                </a:solidFill>
                <a:latin typeface="Calibri"/>
              </a:rPr>
              <a:t>Organización, área y proceso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01 · INTRODUCCIÓN</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Objetivo general de la práctica</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43000"/>
            <a:ext cx="11430000" cy="1874519"/>
          </a:xfrm>
          <a:prstGeom prst="roundRect">
            <a:avLst>
              <a:gd name="adj" fmla="val 45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53312"/>
            <a:ext cx="5486400" cy="228600"/>
          </a:xfrm>
          <a:prstGeom prst="rect">
            <a:avLst/>
          </a:prstGeom>
          <a:noFill/>
        </p:spPr>
        <p:txBody>
          <a:bodyPr wrap="square" lIns="0" rIns="0" tIns="0" bIns="0" anchor="t">
            <a:spAutoFit/>
          </a:bodyPr>
          <a:lstStyle/>
          <a:p>
            <a:pPr algn="l"/>
            <a:r>
              <a:rPr sz="1100" b="1">
                <a:solidFill>
                  <a:srgbClr val="F59E0B"/>
                </a:solidFill>
                <a:latin typeface="Calibri"/>
              </a:rPr>
              <a:t>OBJETIVO GENERAL</a:t>
            </a:r>
          </a:p>
        </p:txBody>
      </p:sp>
      <p:sp>
        <p:nvSpPr>
          <p:cNvPr id="9" name="TextBox 8"/>
          <p:cNvSpPr txBox="1"/>
          <p:nvPr/>
        </p:nvSpPr>
        <p:spPr>
          <a:xfrm>
            <a:off x="685800" y="1691640"/>
            <a:ext cx="10835640" cy="1188720"/>
          </a:xfrm>
          <a:prstGeom prst="rect">
            <a:avLst/>
          </a:prstGeom>
          <a:noFill/>
        </p:spPr>
        <p:txBody>
          <a:bodyPr wrap="square" lIns="0" rIns="0" tIns="0" bIns="0" anchor="t">
            <a:spAutoFit/>
          </a:bodyPr>
          <a:lstStyle/>
          <a:p>
            <a:pPr algn="l">
              <a:lnSpc>
                <a:spcPct val="122000"/>
              </a:lnSpc>
            </a:pPr>
            <a:r>
              <a:rPr sz="1400" b="0">
                <a:solidFill>
                  <a:srgbClr val="FFFFFF"/>
                </a:solidFill>
                <a:latin typeface="Calibri"/>
              </a:rPr>
              <a:t>Desarrollar e implementar una plataforma web institucional que permita a la Universidad Técnica Nacional registrar, configurar, evaluar y reportar sus proyectos vinculados a los 17 Objetivos de Desarrollo Sostenible de la Agenda 2030, sustituyendo el registro manual en hojas de cálculo por un sistema con trazabilidad, control de roles y generación automática del reporte institucional.</a:t>
            </a:r>
          </a:p>
        </p:txBody>
      </p:sp>
      <p:sp>
        <p:nvSpPr>
          <p:cNvPr id="10" name="TextBox 9"/>
          <p:cNvSpPr txBox="1"/>
          <p:nvPr/>
        </p:nvSpPr>
        <p:spPr>
          <a:xfrm>
            <a:off x="365760" y="3401568"/>
            <a:ext cx="5486400" cy="228600"/>
          </a:xfrm>
          <a:prstGeom prst="rect">
            <a:avLst/>
          </a:prstGeom>
          <a:noFill/>
        </p:spPr>
        <p:txBody>
          <a:bodyPr wrap="square" lIns="0" rIns="0" tIns="0" bIns="0" anchor="t">
            <a:spAutoFit/>
          </a:bodyPr>
          <a:lstStyle/>
          <a:p>
            <a:pPr algn="l"/>
            <a:r>
              <a:rPr sz="1100" b="1">
                <a:solidFill>
                  <a:srgbClr val="F59E0B"/>
                </a:solidFill>
                <a:latin typeface="Calibri"/>
              </a:rPr>
              <a:t>ESTO IMPLICA</a:t>
            </a:r>
          </a:p>
        </p:txBody>
      </p:sp>
      <p:sp>
        <p:nvSpPr>
          <p:cNvPr id="11" name="Rounded Rectangle 10"/>
          <p:cNvSpPr/>
          <p:nvPr/>
        </p:nvSpPr>
        <p:spPr>
          <a:xfrm>
            <a:off x="365760" y="3749039"/>
            <a:ext cx="2743200" cy="21945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3749039"/>
            <a:ext cx="2743200" cy="822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041648"/>
            <a:ext cx="2331720" cy="292608"/>
          </a:xfrm>
          <a:prstGeom prst="rect">
            <a:avLst/>
          </a:prstGeom>
          <a:noFill/>
        </p:spPr>
        <p:txBody>
          <a:bodyPr wrap="square" lIns="0" rIns="0" tIns="0" bIns="0" anchor="t">
            <a:spAutoFit/>
          </a:bodyPr>
          <a:lstStyle/>
          <a:p>
            <a:pPr algn="l"/>
            <a:r>
              <a:rPr sz="1400" b="1">
                <a:solidFill>
                  <a:srgbClr val="0F172A"/>
                </a:solidFill>
                <a:latin typeface="Calibri"/>
              </a:rPr>
              <a:t>Centralizar</a:t>
            </a:r>
          </a:p>
        </p:txBody>
      </p:sp>
      <p:sp>
        <p:nvSpPr>
          <p:cNvPr id="14" name="TextBox 13"/>
          <p:cNvSpPr txBox="1"/>
          <p:nvPr/>
        </p:nvSpPr>
        <p:spPr>
          <a:xfrm>
            <a:off x="594360" y="4462272"/>
            <a:ext cx="2331720" cy="132588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Un solo repositorio institucional para los proyectos ODS de las 7 sedes, en lugar de archivos dispersos.</a:t>
            </a:r>
          </a:p>
        </p:txBody>
      </p:sp>
      <p:sp>
        <p:nvSpPr>
          <p:cNvPr id="15" name="Rounded Rectangle 14"/>
          <p:cNvSpPr/>
          <p:nvPr/>
        </p:nvSpPr>
        <p:spPr>
          <a:xfrm>
            <a:off x="3282696" y="3749039"/>
            <a:ext cx="2743200" cy="21945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282696" y="3749039"/>
            <a:ext cx="2743200" cy="822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11296" y="4041648"/>
            <a:ext cx="2331720" cy="292608"/>
          </a:xfrm>
          <a:prstGeom prst="rect">
            <a:avLst/>
          </a:prstGeom>
          <a:noFill/>
        </p:spPr>
        <p:txBody>
          <a:bodyPr wrap="square" lIns="0" rIns="0" tIns="0" bIns="0" anchor="t">
            <a:spAutoFit/>
          </a:bodyPr>
          <a:lstStyle/>
          <a:p>
            <a:pPr algn="l"/>
            <a:r>
              <a:rPr sz="1400" b="1">
                <a:solidFill>
                  <a:srgbClr val="0F172A"/>
                </a:solidFill>
                <a:latin typeface="Calibri"/>
              </a:rPr>
              <a:t>Estandarizar</a:t>
            </a:r>
          </a:p>
        </p:txBody>
      </p:sp>
      <p:sp>
        <p:nvSpPr>
          <p:cNvPr id="18" name="TextBox 17"/>
          <p:cNvSpPr txBox="1"/>
          <p:nvPr/>
        </p:nvSpPr>
        <p:spPr>
          <a:xfrm>
            <a:off x="3511296" y="4462272"/>
            <a:ext cx="2331720" cy="132588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Los 239 indicadores oficiales de Naciones Unidas como catálogo único de referencia.</a:t>
            </a:r>
          </a:p>
        </p:txBody>
      </p:sp>
      <p:sp>
        <p:nvSpPr>
          <p:cNvPr id="19" name="Rounded Rectangle 18"/>
          <p:cNvSpPr/>
          <p:nvPr/>
        </p:nvSpPr>
        <p:spPr>
          <a:xfrm>
            <a:off x="6199632" y="3749039"/>
            <a:ext cx="2743200" cy="21945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99632" y="3749039"/>
            <a:ext cx="2743200" cy="822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041648"/>
            <a:ext cx="2331720" cy="292608"/>
          </a:xfrm>
          <a:prstGeom prst="rect">
            <a:avLst/>
          </a:prstGeom>
          <a:noFill/>
        </p:spPr>
        <p:txBody>
          <a:bodyPr wrap="square" lIns="0" rIns="0" tIns="0" bIns="0" anchor="t">
            <a:spAutoFit/>
          </a:bodyPr>
          <a:lstStyle/>
          <a:p>
            <a:pPr algn="l"/>
            <a:r>
              <a:rPr sz="1400" b="1">
                <a:solidFill>
                  <a:srgbClr val="0F172A"/>
                </a:solidFill>
                <a:latin typeface="Calibri"/>
              </a:rPr>
              <a:t>Auditar</a:t>
            </a:r>
          </a:p>
        </p:txBody>
      </p:sp>
      <p:sp>
        <p:nvSpPr>
          <p:cNvPr id="22" name="TextBox 21"/>
          <p:cNvSpPr txBox="1"/>
          <p:nvPr/>
        </p:nvSpPr>
        <p:spPr>
          <a:xfrm>
            <a:off x="6428232" y="4462272"/>
            <a:ext cx="2331720" cy="132588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Separación de responsabilidades por rol, bitácora de accesos y evidencia documental.</a:t>
            </a:r>
          </a:p>
        </p:txBody>
      </p:sp>
      <p:sp>
        <p:nvSpPr>
          <p:cNvPr id="23" name="Rounded Rectangle 22"/>
          <p:cNvSpPr/>
          <p:nvPr/>
        </p:nvSpPr>
        <p:spPr>
          <a:xfrm>
            <a:off x="9116568" y="3749039"/>
            <a:ext cx="2743200" cy="21945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16568" y="3749039"/>
            <a:ext cx="2743200" cy="822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45168" y="4041648"/>
            <a:ext cx="2331720" cy="292608"/>
          </a:xfrm>
          <a:prstGeom prst="rect">
            <a:avLst/>
          </a:prstGeom>
          <a:noFill/>
        </p:spPr>
        <p:txBody>
          <a:bodyPr wrap="square" lIns="0" rIns="0" tIns="0" bIns="0" anchor="t">
            <a:spAutoFit/>
          </a:bodyPr>
          <a:lstStyle/>
          <a:p>
            <a:pPr algn="l"/>
            <a:r>
              <a:rPr sz="1400" b="1">
                <a:solidFill>
                  <a:srgbClr val="0F172A"/>
                </a:solidFill>
                <a:latin typeface="Calibri"/>
              </a:rPr>
              <a:t>Reportar</a:t>
            </a:r>
          </a:p>
        </p:txBody>
      </p:sp>
      <p:sp>
        <p:nvSpPr>
          <p:cNvPr id="26" name="TextBox 25"/>
          <p:cNvSpPr txBox="1"/>
          <p:nvPr/>
        </p:nvSpPr>
        <p:spPr>
          <a:xfrm>
            <a:off x="9345168" y="4462272"/>
            <a:ext cx="2331720" cy="132588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Generación automática de la matriz institucional en el formato exacto que exige la UTN.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01 · INTRODUCCIÓN</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Objetivos específicos</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88720"/>
            <a:ext cx="5669280" cy="146304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21792" y="1664208"/>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714500"/>
            <a:ext cx="475488" cy="475488"/>
          </a:xfrm>
          <a:prstGeom prst="rect">
            <a:avLst/>
          </a:prstGeom>
          <a:noFill/>
        </p:spPr>
        <p:txBody>
          <a:bodyPr wrap="square" lIns="0" rIns="0" tIns="0" bIns="0" anchor="t">
            <a:spAutoFit/>
          </a:bodyPr>
          <a:lstStyle/>
          <a:p>
            <a:pPr algn="ctr"/>
            <a:r>
              <a:rPr sz="1300" b="1">
                <a:solidFill>
                  <a:srgbClr val="FFFFFF"/>
                </a:solidFill>
                <a:latin typeface="Calibri"/>
              </a:rPr>
              <a:t>1</a:t>
            </a:r>
          </a:p>
        </p:txBody>
      </p:sp>
      <p:sp>
        <p:nvSpPr>
          <p:cNvPr id="10" name="TextBox 9"/>
          <p:cNvSpPr txBox="1"/>
          <p:nvPr/>
        </p:nvSpPr>
        <p:spPr>
          <a:xfrm>
            <a:off x="1325880" y="1481328"/>
            <a:ext cx="4526280" cy="960120"/>
          </a:xfrm>
          <a:prstGeom prst="rect">
            <a:avLst/>
          </a:prstGeom>
          <a:noFill/>
        </p:spPr>
        <p:txBody>
          <a:bodyPr wrap="square" lIns="0" rIns="0" tIns="0" bIns="0" anchor="t">
            <a:spAutoFit/>
          </a:bodyPr>
          <a:lstStyle/>
          <a:p>
            <a:pPr algn="l">
              <a:lnSpc>
                <a:spcPct val="118000"/>
              </a:lnSpc>
            </a:pPr>
            <a:r>
              <a:rPr sz="1250" b="0">
                <a:solidFill>
                  <a:srgbClr val="1E293B"/>
                </a:solidFill>
                <a:latin typeface="Calibri"/>
              </a:rPr>
              <a:t>Diseñar e implementar la arquitectura de datos multiesquema en MariaDB que soporte los 17 ODS, sus indicadores y su auditoría.</a:t>
            </a:r>
          </a:p>
        </p:txBody>
      </p:sp>
      <p:sp>
        <p:nvSpPr>
          <p:cNvPr id="11" name="Rounded Rectangle 10"/>
          <p:cNvSpPr/>
          <p:nvPr/>
        </p:nvSpPr>
        <p:spPr>
          <a:xfrm>
            <a:off x="6309360" y="1188720"/>
            <a:ext cx="5669280" cy="146304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664208"/>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1714500"/>
            <a:ext cx="475488" cy="475488"/>
          </a:xfrm>
          <a:prstGeom prst="rect">
            <a:avLst/>
          </a:prstGeom>
          <a:noFill/>
        </p:spPr>
        <p:txBody>
          <a:bodyPr wrap="square" lIns="0" rIns="0" tIns="0" bIns="0" anchor="t">
            <a:spAutoFit/>
          </a:bodyPr>
          <a:lstStyle/>
          <a:p>
            <a:pPr algn="ctr"/>
            <a:r>
              <a:rPr sz="1300" b="1">
                <a:solidFill>
                  <a:srgbClr val="FFFFFF"/>
                </a:solidFill>
                <a:latin typeface="Calibri"/>
              </a:rPr>
              <a:t>2</a:t>
            </a:r>
          </a:p>
        </p:txBody>
      </p:sp>
      <p:sp>
        <p:nvSpPr>
          <p:cNvPr id="14" name="TextBox 13"/>
          <p:cNvSpPr txBox="1"/>
          <p:nvPr/>
        </p:nvSpPr>
        <p:spPr>
          <a:xfrm>
            <a:off x="7269480" y="1481328"/>
            <a:ext cx="4526280" cy="960120"/>
          </a:xfrm>
          <a:prstGeom prst="rect">
            <a:avLst/>
          </a:prstGeom>
          <a:noFill/>
        </p:spPr>
        <p:txBody>
          <a:bodyPr wrap="square" lIns="0" rIns="0" tIns="0" bIns="0" anchor="t">
            <a:spAutoFit/>
          </a:bodyPr>
          <a:lstStyle/>
          <a:p>
            <a:pPr algn="l">
              <a:lnSpc>
                <a:spcPct val="118000"/>
              </a:lnSpc>
            </a:pPr>
            <a:r>
              <a:rPr sz="1250" b="0">
                <a:solidFill>
                  <a:srgbClr val="1E293B"/>
                </a:solidFill>
                <a:latin typeface="Calibri"/>
              </a:rPr>
              <a:t>Construir la capa de aplicación con Spring Boot y jOOQ, exponiendo una API REST documentada y probada extremo a extremo.</a:t>
            </a:r>
          </a:p>
        </p:txBody>
      </p:sp>
      <p:sp>
        <p:nvSpPr>
          <p:cNvPr id="15" name="Rounded Rectangle 14"/>
          <p:cNvSpPr/>
          <p:nvPr/>
        </p:nvSpPr>
        <p:spPr>
          <a:xfrm>
            <a:off x="365760" y="2834640"/>
            <a:ext cx="5669280" cy="146304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3310128"/>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360420"/>
            <a:ext cx="475488" cy="475488"/>
          </a:xfrm>
          <a:prstGeom prst="rect">
            <a:avLst/>
          </a:prstGeom>
          <a:noFill/>
        </p:spPr>
        <p:txBody>
          <a:bodyPr wrap="square" lIns="0" rIns="0" tIns="0" bIns="0" anchor="t">
            <a:spAutoFit/>
          </a:bodyPr>
          <a:lstStyle/>
          <a:p>
            <a:pPr algn="ctr"/>
            <a:r>
              <a:rPr sz="1300" b="1">
                <a:solidFill>
                  <a:srgbClr val="FFFFFF"/>
                </a:solidFill>
                <a:latin typeface="Calibri"/>
              </a:rPr>
              <a:t>3</a:t>
            </a:r>
          </a:p>
        </p:txBody>
      </p:sp>
      <p:sp>
        <p:nvSpPr>
          <p:cNvPr id="18" name="TextBox 17"/>
          <p:cNvSpPr txBox="1"/>
          <p:nvPr/>
        </p:nvSpPr>
        <p:spPr>
          <a:xfrm>
            <a:off x="1325880" y="3127248"/>
            <a:ext cx="4526280" cy="960120"/>
          </a:xfrm>
          <a:prstGeom prst="rect">
            <a:avLst/>
          </a:prstGeom>
          <a:noFill/>
        </p:spPr>
        <p:txBody>
          <a:bodyPr wrap="square" lIns="0" rIns="0" tIns="0" bIns="0" anchor="t">
            <a:spAutoFit/>
          </a:bodyPr>
          <a:lstStyle/>
          <a:p>
            <a:pPr algn="l">
              <a:lnSpc>
                <a:spcPct val="118000"/>
              </a:lnSpc>
            </a:pPr>
            <a:r>
              <a:rPr sz="1250" b="0">
                <a:solidFill>
                  <a:srgbClr val="1E293B"/>
                </a:solidFill>
                <a:latin typeface="Calibri"/>
              </a:rPr>
              <a:t>Desarrollar la interfaz web en React con Vite, conforme al Manual de Identidad Gráfica de la UTN.</a:t>
            </a:r>
          </a:p>
        </p:txBody>
      </p:sp>
      <p:sp>
        <p:nvSpPr>
          <p:cNvPr id="19" name="Rounded Rectangle 18"/>
          <p:cNvSpPr/>
          <p:nvPr/>
        </p:nvSpPr>
        <p:spPr>
          <a:xfrm>
            <a:off x="6309360" y="2834640"/>
            <a:ext cx="5669280" cy="146304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65392" y="3310128"/>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3360420"/>
            <a:ext cx="475488" cy="475488"/>
          </a:xfrm>
          <a:prstGeom prst="rect">
            <a:avLst/>
          </a:prstGeom>
          <a:noFill/>
        </p:spPr>
        <p:txBody>
          <a:bodyPr wrap="square" lIns="0" rIns="0" tIns="0" bIns="0" anchor="t">
            <a:spAutoFit/>
          </a:bodyPr>
          <a:lstStyle/>
          <a:p>
            <a:pPr algn="ctr"/>
            <a:r>
              <a:rPr sz="1300" b="1">
                <a:solidFill>
                  <a:srgbClr val="FFFFFF"/>
                </a:solidFill>
                <a:latin typeface="Calibri"/>
              </a:rPr>
              <a:t>4</a:t>
            </a:r>
          </a:p>
        </p:txBody>
      </p:sp>
      <p:sp>
        <p:nvSpPr>
          <p:cNvPr id="22" name="TextBox 21"/>
          <p:cNvSpPr txBox="1"/>
          <p:nvPr/>
        </p:nvSpPr>
        <p:spPr>
          <a:xfrm>
            <a:off x="7269480" y="3127248"/>
            <a:ext cx="4526280" cy="960120"/>
          </a:xfrm>
          <a:prstGeom prst="rect">
            <a:avLst/>
          </a:prstGeom>
          <a:noFill/>
        </p:spPr>
        <p:txBody>
          <a:bodyPr wrap="square" lIns="0" rIns="0" tIns="0" bIns="0" anchor="t">
            <a:spAutoFit/>
          </a:bodyPr>
          <a:lstStyle/>
          <a:p>
            <a:pPr algn="l">
              <a:lnSpc>
                <a:spcPct val="118000"/>
              </a:lnSpc>
            </a:pPr>
            <a:r>
              <a:rPr sz="1250" b="0">
                <a:solidFill>
                  <a:srgbClr val="1E293B"/>
                </a:solidFill>
                <a:latin typeface="Calibri"/>
              </a:rPr>
              <a:t>Implementar un motor de fórmulas configurable que permita a cada proyecto definir sus propias variables, cálculo y meta.</a:t>
            </a:r>
          </a:p>
        </p:txBody>
      </p:sp>
      <p:sp>
        <p:nvSpPr>
          <p:cNvPr id="23" name="Rounded Rectangle 22"/>
          <p:cNvSpPr/>
          <p:nvPr/>
        </p:nvSpPr>
        <p:spPr>
          <a:xfrm>
            <a:off x="365760" y="4480560"/>
            <a:ext cx="5669280" cy="146304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1792" y="4956048"/>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5006340"/>
            <a:ext cx="475488" cy="475488"/>
          </a:xfrm>
          <a:prstGeom prst="rect">
            <a:avLst/>
          </a:prstGeom>
          <a:noFill/>
        </p:spPr>
        <p:txBody>
          <a:bodyPr wrap="square" lIns="0" rIns="0" tIns="0" bIns="0" anchor="t">
            <a:spAutoFit/>
          </a:bodyPr>
          <a:lstStyle/>
          <a:p>
            <a:pPr algn="ctr"/>
            <a:r>
              <a:rPr sz="1300" b="1">
                <a:solidFill>
                  <a:srgbClr val="FFFFFF"/>
                </a:solidFill>
                <a:latin typeface="Calibri"/>
              </a:rPr>
              <a:t>5</a:t>
            </a:r>
          </a:p>
        </p:txBody>
      </p:sp>
      <p:sp>
        <p:nvSpPr>
          <p:cNvPr id="26" name="TextBox 25"/>
          <p:cNvSpPr txBox="1"/>
          <p:nvPr/>
        </p:nvSpPr>
        <p:spPr>
          <a:xfrm>
            <a:off x="1325880" y="4773168"/>
            <a:ext cx="4526280" cy="960120"/>
          </a:xfrm>
          <a:prstGeom prst="rect">
            <a:avLst/>
          </a:prstGeom>
          <a:noFill/>
        </p:spPr>
        <p:txBody>
          <a:bodyPr wrap="square" lIns="0" rIns="0" tIns="0" bIns="0" anchor="t">
            <a:spAutoFit/>
          </a:bodyPr>
          <a:lstStyle/>
          <a:p>
            <a:pPr algn="l">
              <a:lnSpc>
                <a:spcPct val="118000"/>
              </a:lnSpc>
            </a:pPr>
            <a:r>
              <a:rPr sz="1250" b="0">
                <a:solidFill>
                  <a:srgbClr val="1E293B"/>
                </a:solidFill>
                <a:latin typeface="Calibri"/>
              </a:rPr>
              <a:t>Implementar la separación de responsabilidades por rol con seguridad JWT, bitácora de accesos y evidencia documental.</a:t>
            </a:r>
          </a:p>
        </p:txBody>
      </p:sp>
      <p:sp>
        <p:nvSpPr>
          <p:cNvPr id="27" name="Rounded Rectangle 26"/>
          <p:cNvSpPr/>
          <p:nvPr/>
        </p:nvSpPr>
        <p:spPr>
          <a:xfrm>
            <a:off x="6309360" y="4480560"/>
            <a:ext cx="5669280" cy="146304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65392" y="4956048"/>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65392" y="5006340"/>
            <a:ext cx="475488" cy="475488"/>
          </a:xfrm>
          <a:prstGeom prst="rect">
            <a:avLst/>
          </a:prstGeom>
          <a:noFill/>
        </p:spPr>
        <p:txBody>
          <a:bodyPr wrap="square" lIns="0" rIns="0" tIns="0" bIns="0" anchor="t">
            <a:spAutoFit/>
          </a:bodyPr>
          <a:lstStyle/>
          <a:p>
            <a:pPr algn="ctr"/>
            <a:r>
              <a:rPr sz="1300" b="1">
                <a:solidFill>
                  <a:srgbClr val="FFFFFF"/>
                </a:solidFill>
                <a:latin typeface="Calibri"/>
              </a:rPr>
              <a:t>6</a:t>
            </a:r>
          </a:p>
        </p:txBody>
      </p:sp>
      <p:sp>
        <p:nvSpPr>
          <p:cNvPr id="30" name="TextBox 29"/>
          <p:cNvSpPr txBox="1"/>
          <p:nvPr/>
        </p:nvSpPr>
        <p:spPr>
          <a:xfrm>
            <a:off x="7269480" y="4773168"/>
            <a:ext cx="4526280" cy="960120"/>
          </a:xfrm>
          <a:prstGeom prst="rect">
            <a:avLst/>
          </a:prstGeom>
          <a:noFill/>
        </p:spPr>
        <p:txBody>
          <a:bodyPr wrap="square" lIns="0" rIns="0" tIns="0" bIns="0" anchor="t">
            <a:spAutoFit/>
          </a:bodyPr>
          <a:lstStyle/>
          <a:p>
            <a:pPr algn="l">
              <a:lnSpc>
                <a:spcPct val="118000"/>
              </a:lnSpc>
            </a:pPr>
            <a:r>
              <a:rPr sz="1250" b="0">
                <a:solidFill>
                  <a:srgbClr val="1E293B"/>
                </a:solidFill>
                <a:latin typeface="Calibri"/>
              </a:rPr>
              <a:t>Automatizar la generación del reporte institucional SODSI en el formato exacto requerido por la Dirección de Planificación.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02 · ORGANIZACIÓN</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Antecedentes históricos y ubicación</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43000"/>
            <a:ext cx="5669280" cy="2331720"/>
          </a:xfrm>
          <a:prstGeom prst="roundRect">
            <a:avLst>
              <a:gd name="adj" fmla="val 45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53312"/>
            <a:ext cx="4572000" cy="228600"/>
          </a:xfrm>
          <a:prstGeom prst="rect">
            <a:avLst/>
          </a:prstGeom>
          <a:noFill/>
        </p:spPr>
        <p:txBody>
          <a:bodyPr wrap="square" lIns="0" rIns="0" tIns="0" bIns="0" anchor="t">
            <a:spAutoFit/>
          </a:bodyPr>
          <a:lstStyle/>
          <a:p>
            <a:pPr algn="l"/>
            <a:r>
              <a:rPr sz="1100" b="1">
                <a:solidFill>
                  <a:srgbClr val="F59E0B"/>
                </a:solidFill>
                <a:latin typeface="Calibri"/>
              </a:rPr>
              <a:t>ANTECEDENTES HISTÓRICOS</a:t>
            </a:r>
          </a:p>
        </p:txBody>
      </p:sp>
      <p:sp>
        <p:nvSpPr>
          <p:cNvPr id="9" name="TextBox 8"/>
          <p:cNvSpPr txBox="1"/>
          <p:nvPr/>
        </p:nvSpPr>
        <p:spPr>
          <a:xfrm>
            <a:off x="640080" y="1691640"/>
            <a:ext cx="5120640" cy="1645920"/>
          </a:xfrm>
          <a:prstGeom prst="rect">
            <a:avLst/>
          </a:prstGeom>
          <a:noFill/>
        </p:spPr>
        <p:txBody>
          <a:bodyPr wrap="square" lIns="0" rIns="0" tIns="0" bIns="0" anchor="t">
            <a:spAutoFit/>
          </a:bodyPr>
          <a:lstStyle/>
          <a:p>
            <a:pPr algn="l">
              <a:lnSpc>
                <a:spcPct val="120000"/>
              </a:lnSpc>
            </a:pPr>
            <a:r>
              <a:rPr sz="1200" b="0">
                <a:solidFill>
                  <a:srgbClr val="CADCFC"/>
                </a:solidFill>
                <a:latin typeface="Calibri"/>
              </a:rPr>
              <a:t>La Universidad Técnica Nacional es la universidad pública más joven de Costa Rica. Fue creada mediante la Ley N.° 8638 del año 2008, a partir de la integración de varias instituciones parauniversitarias ya existentes, con el mandato de ofrecer educación superior de carácter técnico y tecnológico al servicio del desarrollo nacional.</a:t>
            </a:r>
          </a:p>
        </p:txBody>
      </p:sp>
      <p:sp>
        <p:nvSpPr>
          <p:cNvPr id="10" name="Rounded Rectangle 9"/>
          <p:cNvSpPr/>
          <p:nvPr/>
        </p:nvSpPr>
        <p:spPr>
          <a:xfrm>
            <a:off x="6309360" y="1143000"/>
            <a:ext cx="5486400" cy="233172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353312"/>
            <a:ext cx="4572000" cy="228600"/>
          </a:xfrm>
          <a:prstGeom prst="rect">
            <a:avLst/>
          </a:prstGeom>
          <a:noFill/>
        </p:spPr>
        <p:txBody>
          <a:bodyPr wrap="square" lIns="0" rIns="0" tIns="0" bIns="0" anchor="t">
            <a:spAutoFit/>
          </a:bodyPr>
          <a:lstStyle/>
          <a:p>
            <a:pPr algn="l"/>
            <a:r>
              <a:rPr sz="1100" b="1">
                <a:solidFill>
                  <a:srgbClr val="F59E0B"/>
                </a:solidFill>
                <a:latin typeface="Calibri"/>
              </a:rPr>
              <a:t>UBICACIÓN GEOGRÁFICA Y ECONÓMICA</a:t>
            </a:r>
          </a:p>
        </p:txBody>
      </p:sp>
      <p:sp>
        <p:nvSpPr>
          <p:cNvPr id="12" name="TextBox 11"/>
          <p:cNvSpPr txBox="1"/>
          <p:nvPr/>
        </p:nvSpPr>
        <p:spPr>
          <a:xfrm>
            <a:off x="6537960" y="1691640"/>
            <a:ext cx="5029200" cy="1645920"/>
          </a:xfrm>
          <a:prstGeom prst="rect">
            <a:avLst/>
          </a:prstGeom>
          <a:noFill/>
        </p:spPr>
        <p:txBody>
          <a:bodyPr wrap="square" lIns="0" rIns="0" tIns="0" bIns="0" anchor="t">
            <a:spAutoFit/>
          </a:bodyPr>
          <a:lstStyle/>
          <a:p>
            <a:pPr algn="l">
              <a:lnSpc>
                <a:spcPct val="120000"/>
              </a:lnSpc>
            </a:pPr>
            <a:r>
              <a:rPr sz="1200" b="0">
                <a:solidFill>
                  <a:srgbClr val="475569"/>
                </a:solidFill>
                <a:latin typeface="Calibri"/>
              </a:rPr>
              <a:t>Sede Central en Alajuela, con presencia regional en siete sedes y centros del país. Es una institución de financiamiento público; su aporte económico se da por la vía de la formación técnica y de la vinculación con el sector productivo de cada región.</a:t>
            </a:r>
          </a:p>
        </p:txBody>
      </p:sp>
      <p:sp>
        <p:nvSpPr>
          <p:cNvPr id="13" name="TextBox 12"/>
          <p:cNvSpPr txBox="1"/>
          <p:nvPr/>
        </p:nvSpPr>
        <p:spPr>
          <a:xfrm>
            <a:off x="365760" y="3703320"/>
            <a:ext cx="7315200" cy="228600"/>
          </a:xfrm>
          <a:prstGeom prst="rect">
            <a:avLst/>
          </a:prstGeom>
          <a:noFill/>
        </p:spPr>
        <p:txBody>
          <a:bodyPr wrap="square" lIns="0" rIns="0" tIns="0" bIns="0" anchor="t">
            <a:spAutoFit/>
          </a:bodyPr>
          <a:lstStyle/>
          <a:p>
            <a:pPr algn="l"/>
            <a:r>
              <a:rPr sz="1100" b="1">
                <a:solidFill>
                  <a:srgbClr val="1C7293"/>
                </a:solidFill>
                <a:latin typeface="Calibri"/>
              </a:rPr>
              <a:t>LAS 7 SEDES Y CENTROS QUE EL SISTEMA MODELA</a:t>
            </a:r>
          </a:p>
        </p:txBody>
      </p:sp>
      <p:sp>
        <p:nvSpPr>
          <p:cNvPr id="14" name="Rounded Rectangle 13"/>
          <p:cNvSpPr/>
          <p:nvPr/>
        </p:nvSpPr>
        <p:spPr>
          <a:xfrm>
            <a:off x="365760" y="4041648"/>
            <a:ext cx="1481328"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5760" y="4041648"/>
            <a:ext cx="1481328" cy="7315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315968"/>
            <a:ext cx="1298448" cy="685800"/>
          </a:xfrm>
          <a:prstGeom prst="rect">
            <a:avLst/>
          </a:prstGeom>
          <a:noFill/>
        </p:spPr>
        <p:txBody>
          <a:bodyPr wrap="square" lIns="0" rIns="0" tIns="0" bIns="0" anchor="t">
            <a:spAutoFit/>
          </a:bodyPr>
          <a:lstStyle/>
          <a:p>
            <a:pPr algn="ctr">
              <a:lnSpc>
                <a:spcPct val="110000"/>
              </a:lnSpc>
            </a:pPr>
            <a:r>
              <a:rPr sz="1150" b="1">
                <a:solidFill>
                  <a:srgbClr val="0F172A"/>
                </a:solidFill>
                <a:latin typeface="Calibri"/>
              </a:rPr>
              <a:t>Central</a:t>
            </a:r>
          </a:p>
          <a:p>
            <a:pPr algn="ctr">
              <a:lnSpc>
                <a:spcPct val="110000"/>
              </a:lnSpc>
            </a:pPr>
            <a:r>
              <a:rPr sz="1150" b="1">
                <a:solidFill>
                  <a:srgbClr val="0F172A"/>
                </a:solidFill>
                <a:latin typeface="Calibri"/>
              </a:rPr>
              <a:t>Alajuela</a:t>
            </a:r>
          </a:p>
        </p:txBody>
      </p:sp>
      <p:sp>
        <p:nvSpPr>
          <p:cNvPr id="17" name="Rounded Rectangle 16"/>
          <p:cNvSpPr/>
          <p:nvPr/>
        </p:nvSpPr>
        <p:spPr>
          <a:xfrm>
            <a:off x="2011680" y="4041648"/>
            <a:ext cx="1481328"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011680" y="4041648"/>
            <a:ext cx="1481328" cy="7315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03120" y="4315968"/>
            <a:ext cx="1298448" cy="685800"/>
          </a:xfrm>
          <a:prstGeom prst="rect">
            <a:avLst/>
          </a:prstGeom>
          <a:noFill/>
        </p:spPr>
        <p:txBody>
          <a:bodyPr wrap="square" lIns="0" rIns="0" tIns="0" bIns="0" anchor="t">
            <a:spAutoFit/>
          </a:bodyPr>
          <a:lstStyle/>
          <a:p>
            <a:pPr algn="ctr">
              <a:lnSpc>
                <a:spcPct val="110000"/>
              </a:lnSpc>
            </a:pPr>
            <a:r>
              <a:rPr sz="1150" b="1">
                <a:solidFill>
                  <a:srgbClr val="0F172A"/>
                </a:solidFill>
                <a:latin typeface="Calibri"/>
              </a:rPr>
              <a:t>Atenas</a:t>
            </a:r>
          </a:p>
        </p:txBody>
      </p:sp>
      <p:sp>
        <p:nvSpPr>
          <p:cNvPr id="20" name="Rounded Rectangle 19"/>
          <p:cNvSpPr/>
          <p:nvPr/>
        </p:nvSpPr>
        <p:spPr>
          <a:xfrm>
            <a:off x="3657600" y="4041648"/>
            <a:ext cx="1481328"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657600" y="4041648"/>
            <a:ext cx="1481328" cy="7315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39" y="4315968"/>
            <a:ext cx="1298448" cy="685800"/>
          </a:xfrm>
          <a:prstGeom prst="rect">
            <a:avLst/>
          </a:prstGeom>
          <a:noFill/>
        </p:spPr>
        <p:txBody>
          <a:bodyPr wrap="square" lIns="0" rIns="0" tIns="0" bIns="0" anchor="t">
            <a:spAutoFit/>
          </a:bodyPr>
          <a:lstStyle/>
          <a:p>
            <a:pPr algn="ctr">
              <a:lnSpc>
                <a:spcPct val="110000"/>
              </a:lnSpc>
            </a:pPr>
            <a:r>
              <a:rPr sz="1150" b="1">
                <a:solidFill>
                  <a:srgbClr val="0F172A"/>
                </a:solidFill>
                <a:latin typeface="Calibri"/>
              </a:rPr>
              <a:t>Guanacaste</a:t>
            </a:r>
          </a:p>
          <a:p>
            <a:pPr algn="ctr">
              <a:lnSpc>
                <a:spcPct val="110000"/>
              </a:lnSpc>
            </a:pPr>
            <a:r>
              <a:rPr sz="1150" b="1">
                <a:solidFill>
                  <a:srgbClr val="0F172A"/>
                </a:solidFill>
                <a:latin typeface="Calibri"/>
              </a:rPr>
              <a:t>Chorotega</a:t>
            </a:r>
          </a:p>
        </p:txBody>
      </p:sp>
      <p:sp>
        <p:nvSpPr>
          <p:cNvPr id="23" name="Rounded Rectangle 22"/>
          <p:cNvSpPr/>
          <p:nvPr/>
        </p:nvSpPr>
        <p:spPr>
          <a:xfrm>
            <a:off x="5303520" y="4041648"/>
            <a:ext cx="1481328"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303520" y="4041648"/>
            <a:ext cx="1481328" cy="7315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4315968"/>
            <a:ext cx="1298448" cy="685800"/>
          </a:xfrm>
          <a:prstGeom prst="rect">
            <a:avLst/>
          </a:prstGeom>
          <a:noFill/>
        </p:spPr>
        <p:txBody>
          <a:bodyPr wrap="square" lIns="0" rIns="0" tIns="0" bIns="0" anchor="t">
            <a:spAutoFit/>
          </a:bodyPr>
          <a:lstStyle/>
          <a:p>
            <a:pPr algn="ctr">
              <a:lnSpc>
                <a:spcPct val="110000"/>
              </a:lnSpc>
            </a:pPr>
            <a:r>
              <a:rPr sz="1150" b="1">
                <a:solidFill>
                  <a:srgbClr val="0F172A"/>
                </a:solidFill>
                <a:latin typeface="Calibri"/>
              </a:rPr>
              <a:t>Puntarenas</a:t>
            </a:r>
          </a:p>
          <a:p>
            <a:pPr algn="ctr">
              <a:lnSpc>
                <a:spcPct val="110000"/>
              </a:lnSpc>
            </a:pPr>
            <a:r>
              <a:rPr sz="1150" b="1">
                <a:solidFill>
                  <a:srgbClr val="0F172A"/>
                </a:solidFill>
                <a:latin typeface="Calibri"/>
              </a:rPr>
              <a:t>Pacífico</a:t>
            </a:r>
          </a:p>
        </p:txBody>
      </p:sp>
      <p:sp>
        <p:nvSpPr>
          <p:cNvPr id="26" name="Rounded Rectangle 25"/>
          <p:cNvSpPr/>
          <p:nvPr/>
        </p:nvSpPr>
        <p:spPr>
          <a:xfrm>
            <a:off x="6949440" y="4041648"/>
            <a:ext cx="1481328"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949440" y="4041648"/>
            <a:ext cx="1481328" cy="7315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0" y="4315968"/>
            <a:ext cx="1298448" cy="685800"/>
          </a:xfrm>
          <a:prstGeom prst="rect">
            <a:avLst/>
          </a:prstGeom>
          <a:noFill/>
        </p:spPr>
        <p:txBody>
          <a:bodyPr wrap="square" lIns="0" rIns="0" tIns="0" bIns="0" anchor="t">
            <a:spAutoFit/>
          </a:bodyPr>
          <a:lstStyle/>
          <a:p>
            <a:pPr algn="ctr">
              <a:lnSpc>
                <a:spcPct val="110000"/>
              </a:lnSpc>
            </a:pPr>
            <a:r>
              <a:rPr sz="1150" b="1">
                <a:solidFill>
                  <a:srgbClr val="0F172A"/>
                </a:solidFill>
                <a:latin typeface="Calibri"/>
              </a:rPr>
              <a:t>San Carlos</a:t>
            </a:r>
          </a:p>
          <a:p>
            <a:pPr algn="ctr">
              <a:lnSpc>
                <a:spcPct val="110000"/>
              </a:lnSpc>
            </a:pPr>
            <a:r>
              <a:rPr sz="1150" b="1">
                <a:solidFill>
                  <a:srgbClr val="0F172A"/>
                </a:solidFill>
                <a:latin typeface="Calibri"/>
              </a:rPr>
              <a:t>Huetar Norte</a:t>
            </a:r>
          </a:p>
        </p:txBody>
      </p:sp>
      <p:sp>
        <p:nvSpPr>
          <p:cNvPr id="29" name="Rounded Rectangle 28"/>
          <p:cNvSpPr/>
          <p:nvPr/>
        </p:nvSpPr>
        <p:spPr>
          <a:xfrm>
            <a:off x="8595360" y="4041648"/>
            <a:ext cx="1481328"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95360" y="4041648"/>
            <a:ext cx="1481328" cy="7315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0" y="4315968"/>
            <a:ext cx="1298448" cy="685800"/>
          </a:xfrm>
          <a:prstGeom prst="rect">
            <a:avLst/>
          </a:prstGeom>
          <a:noFill/>
        </p:spPr>
        <p:txBody>
          <a:bodyPr wrap="square" lIns="0" rIns="0" tIns="0" bIns="0" anchor="t">
            <a:spAutoFit/>
          </a:bodyPr>
          <a:lstStyle/>
          <a:p>
            <a:pPr algn="ctr">
              <a:lnSpc>
                <a:spcPct val="110000"/>
              </a:lnSpc>
            </a:pPr>
            <a:r>
              <a:rPr sz="1150" b="1">
                <a:solidFill>
                  <a:srgbClr val="0F172A"/>
                </a:solidFill>
                <a:latin typeface="Calibri"/>
              </a:rPr>
              <a:t>CFPTE</a:t>
            </a:r>
          </a:p>
        </p:txBody>
      </p:sp>
      <p:sp>
        <p:nvSpPr>
          <p:cNvPr id="32" name="Rounded Rectangle 31"/>
          <p:cNvSpPr/>
          <p:nvPr/>
        </p:nvSpPr>
        <p:spPr>
          <a:xfrm>
            <a:off x="10241280" y="4041648"/>
            <a:ext cx="1481328"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241280" y="4041648"/>
            <a:ext cx="1481328" cy="7315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20" y="4315968"/>
            <a:ext cx="1298448" cy="685800"/>
          </a:xfrm>
          <a:prstGeom prst="rect">
            <a:avLst/>
          </a:prstGeom>
          <a:noFill/>
        </p:spPr>
        <p:txBody>
          <a:bodyPr wrap="square" lIns="0" rIns="0" tIns="0" bIns="0" anchor="t">
            <a:spAutoFit/>
          </a:bodyPr>
          <a:lstStyle/>
          <a:p>
            <a:pPr algn="ctr">
              <a:lnSpc>
                <a:spcPct val="110000"/>
              </a:lnSpc>
            </a:pPr>
            <a:r>
              <a:rPr sz="1150" b="1">
                <a:solidFill>
                  <a:srgbClr val="0F172A"/>
                </a:solidFill>
                <a:latin typeface="Calibri"/>
              </a:rPr>
              <a:t>Limón</a:t>
            </a:r>
          </a:p>
        </p:txBody>
      </p:sp>
      <p:sp>
        <p:nvSpPr>
          <p:cNvPr id="35" name="Rounded Rectangle 34"/>
          <p:cNvSpPr/>
          <p:nvPr/>
        </p:nvSpPr>
        <p:spPr>
          <a:xfrm>
            <a:off x="365760" y="5394960"/>
            <a:ext cx="11430000" cy="868680"/>
          </a:xfrm>
          <a:prstGeom prst="roundRect">
            <a:avLst>
              <a:gd name="adj" fmla="val 1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577840"/>
            <a:ext cx="10881360" cy="548640"/>
          </a:xfrm>
          <a:prstGeom prst="rect">
            <a:avLst/>
          </a:prstGeom>
          <a:noFill/>
        </p:spPr>
        <p:txBody>
          <a:bodyPr wrap="square" lIns="0" rIns="0" tIns="0" bIns="0" anchor="t">
            <a:spAutoFit/>
          </a:bodyPr>
          <a:lstStyle/>
          <a:p>
            <a:pPr algn="l">
              <a:lnSpc>
                <a:spcPct val="118000"/>
              </a:lnSpc>
            </a:pPr>
            <a:r>
              <a:rPr sz="1200" b="0">
                <a:solidFill>
                  <a:srgbClr val="21295C"/>
                </a:solidFill>
                <a:latin typeface="Calibri"/>
              </a:rPr>
              <a:t>Relevancia para el proyecto: cada proyecto ODS registrado en el sistema queda asociado a una sede, a una región Mideplan y a una provincia, cantón y distrito. Esa trazabilidad territorial es la que la institución necesita para reportar su contribución a la Agenda 2030.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02 · ORGANIZACIÓN</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Infraestructura física y tecnológica</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43000"/>
            <a:ext cx="5669280" cy="260604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53312"/>
            <a:ext cx="4572000" cy="228600"/>
          </a:xfrm>
          <a:prstGeom prst="rect">
            <a:avLst/>
          </a:prstGeom>
          <a:noFill/>
        </p:spPr>
        <p:txBody>
          <a:bodyPr wrap="square" lIns="0" rIns="0" tIns="0" bIns="0" anchor="t">
            <a:spAutoFit/>
          </a:bodyPr>
          <a:lstStyle/>
          <a:p>
            <a:pPr algn="l"/>
            <a:r>
              <a:rPr sz="1100" b="1">
                <a:solidFill>
                  <a:srgbClr val="F59E0B"/>
                </a:solidFill>
                <a:latin typeface="Calibri"/>
              </a:rPr>
              <a:t>INFRAESTRUCTURA FÍSICA</a:t>
            </a:r>
          </a:p>
        </p:txBody>
      </p:sp>
      <p:sp>
        <p:nvSpPr>
          <p:cNvPr id="9" name="TextBox 8"/>
          <p:cNvSpPr txBox="1"/>
          <p:nvPr/>
        </p:nvSpPr>
        <p:spPr>
          <a:xfrm>
            <a:off x="640080" y="1719072"/>
            <a:ext cx="5120640" cy="1874519"/>
          </a:xfrm>
          <a:prstGeom prst="rect">
            <a:avLst/>
          </a:prstGeom>
          <a:noFill/>
        </p:spPr>
        <p:txBody>
          <a:bodyPr wrap="square" lIns="0" rIns="0" tIns="0" bIns="0" anchor="t">
            <a:spAutoFit/>
          </a:bodyPr>
          <a:lstStyle/>
          <a:p>
            <a:pPr algn="l">
              <a:lnSpc>
                <a:spcPct val="120000"/>
              </a:lnSpc>
            </a:pPr>
            <a:r>
              <a:rPr sz="1200" b="0">
                <a:solidFill>
                  <a:srgbClr val="475569"/>
                </a:solidFill>
                <a:latin typeface="Calibri"/>
              </a:rPr>
              <a:t>Campus universitarios en las siete sedes y centros del país, con edificios académicos y administrativos, laboratorios de cómputo, talleres y fincas didácticas.</a:t>
            </a:r>
          </a:p>
          <a:p>
            <a:pPr algn="l">
              <a:lnSpc>
                <a:spcPct val="120000"/>
              </a:lnSpc>
            </a:pPr>
            <a:r>
              <a:rPr sz="1200" b="0">
                <a:solidFill>
                  <a:srgbClr val="475569"/>
                </a:solidFill>
                <a:latin typeface="Calibri"/>
              </a:rPr>
              <a:t/>
            </a:r>
          </a:p>
          <a:p>
            <a:pPr algn="l">
              <a:lnSpc>
                <a:spcPct val="120000"/>
              </a:lnSpc>
            </a:pPr>
            <a:r>
              <a:rPr sz="1200" b="0">
                <a:solidFill>
                  <a:srgbClr val="475569"/>
                </a:solidFill>
                <a:latin typeface="Calibri"/>
              </a:rPr>
              <a:t>La Dirección de Planificación opera desde la Sede Central en Alajuela, en instalaciones administrativas con equipo de cómputo institucional.</a:t>
            </a:r>
          </a:p>
        </p:txBody>
      </p:sp>
      <p:sp>
        <p:nvSpPr>
          <p:cNvPr id="10" name="Rounded Rectangle 9"/>
          <p:cNvSpPr/>
          <p:nvPr/>
        </p:nvSpPr>
        <p:spPr>
          <a:xfrm>
            <a:off x="6309360" y="1143000"/>
            <a:ext cx="5486400" cy="2606040"/>
          </a:xfrm>
          <a:prstGeom prst="roundRect">
            <a:avLst>
              <a:gd name="adj" fmla="val 45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353312"/>
            <a:ext cx="4572000" cy="228600"/>
          </a:xfrm>
          <a:prstGeom prst="rect">
            <a:avLst/>
          </a:prstGeom>
          <a:noFill/>
        </p:spPr>
        <p:txBody>
          <a:bodyPr wrap="square" lIns="0" rIns="0" tIns="0" bIns="0" anchor="t">
            <a:spAutoFit/>
          </a:bodyPr>
          <a:lstStyle/>
          <a:p>
            <a:pPr algn="l"/>
            <a:r>
              <a:rPr sz="1100" b="1">
                <a:solidFill>
                  <a:srgbClr val="F59E0B"/>
                </a:solidFill>
                <a:latin typeface="Calibri"/>
              </a:rPr>
              <a:t>INFRAESTRUCTURA TECNOLÓGICA UTILIZADA</a:t>
            </a:r>
          </a:p>
        </p:txBody>
      </p:sp>
      <p:sp>
        <p:nvSpPr>
          <p:cNvPr id="12" name="TextBox 11"/>
          <p:cNvSpPr txBox="1"/>
          <p:nvPr/>
        </p:nvSpPr>
        <p:spPr>
          <a:xfrm>
            <a:off x="6537960" y="1755648"/>
            <a:ext cx="5029200" cy="1828800"/>
          </a:xfrm>
          <a:prstGeom prst="rect">
            <a:avLst/>
          </a:prstGeom>
          <a:noFill/>
        </p:spPr>
        <p:txBody>
          <a:bodyPr wrap="square" lIns="0" rIns="0" tIns="0" bIns="0" anchor="t">
            <a:spAutoFit/>
          </a:bodyPr>
          <a:lstStyle/>
          <a:p>
            <a:pPr algn="l">
              <a:lnSpc>
                <a:spcPct val="130000"/>
              </a:lnSpc>
            </a:pPr>
            <a:r>
              <a:rPr sz="1100" b="0">
                <a:solidFill>
                  <a:srgbClr val="FFFFFF"/>
                </a:solidFill>
                <a:latin typeface="Consolas"/>
              </a:rPr>
              <a:t>Base de datos      MariaDB 10.11 (Docker)</a:t>
            </a:r>
          </a:p>
          <a:p>
            <a:pPr algn="l">
              <a:lnSpc>
                <a:spcPct val="130000"/>
              </a:lnSpc>
            </a:pPr>
            <a:r>
              <a:rPr sz="1100" b="0">
                <a:solidFill>
                  <a:srgbClr val="FFFFFF"/>
                </a:solidFill>
                <a:latin typeface="Consolas"/>
              </a:rPr>
              <a:t>Servidor           Spring Boot 3.5 · Java 21</a:t>
            </a:r>
          </a:p>
          <a:p>
            <a:pPr algn="l">
              <a:lnSpc>
                <a:spcPct val="130000"/>
              </a:lnSpc>
            </a:pPr>
            <a:r>
              <a:rPr sz="1100" b="0">
                <a:solidFill>
                  <a:srgbClr val="FFFFFF"/>
                </a:solidFill>
                <a:latin typeface="Consolas"/>
              </a:rPr>
              <a:t>Construcción       Maven 3.9 · jOOQ 3.19.6</a:t>
            </a:r>
          </a:p>
          <a:p>
            <a:pPr algn="l">
              <a:lnSpc>
                <a:spcPct val="130000"/>
              </a:lnSpc>
            </a:pPr>
            <a:r>
              <a:rPr sz="1100" b="0">
                <a:solidFill>
                  <a:srgbClr val="FFFFFF"/>
                </a:solidFill>
                <a:latin typeface="Consolas"/>
              </a:rPr>
              <a:t>Cliente web        React 18 · Vite 5 · Axios</a:t>
            </a:r>
          </a:p>
          <a:p>
            <a:pPr algn="l">
              <a:lnSpc>
                <a:spcPct val="130000"/>
              </a:lnSpc>
            </a:pPr>
            <a:r>
              <a:rPr sz="1100" b="0">
                <a:solidFill>
                  <a:srgbClr val="FFFFFF"/>
                </a:solidFill>
                <a:latin typeface="Consolas"/>
              </a:rPr>
              <a:t>Seguridad          Spring Security · JWT 0.12.5</a:t>
            </a:r>
          </a:p>
          <a:p>
            <a:pPr algn="l">
              <a:lnSpc>
                <a:spcPct val="130000"/>
              </a:lnSpc>
            </a:pPr>
            <a:r>
              <a:rPr sz="1100" b="0">
                <a:solidFill>
                  <a:srgbClr val="FFFFFF"/>
                </a:solidFill>
                <a:latin typeface="Consolas"/>
              </a:rPr>
              <a:t>Motor de cálculo   exp4j 0.4.8</a:t>
            </a:r>
          </a:p>
          <a:p>
            <a:pPr algn="l">
              <a:lnSpc>
                <a:spcPct val="130000"/>
              </a:lnSpc>
            </a:pPr>
            <a:r>
              <a:rPr sz="1100" b="0">
                <a:solidFill>
                  <a:srgbClr val="FFFFFF"/>
                </a:solidFill>
                <a:latin typeface="Consolas"/>
              </a:rPr>
              <a:t>Reportería         Apache POI 5.2.5 (Excel)</a:t>
            </a:r>
          </a:p>
          <a:p>
            <a:pPr algn="l">
              <a:lnSpc>
                <a:spcPct val="130000"/>
              </a:lnSpc>
            </a:pPr>
            <a:r>
              <a:rPr sz="1100" b="0">
                <a:solidFill>
                  <a:srgbClr val="FFFFFF"/>
                </a:solidFill>
                <a:latin typeface="Consolas"/>
              </a:rPr>
              <a:t>Versionado         Git · repositorio institucional</a:t>
            </a:r>
          </a:p>
        </p:txBody>
      </p:sp>
      <p:sp>
        <p:nvSpPr>
          <p:cNvPr id="13" name="Rounded Rectangle 12"/>
          <p:cNvSpPr/>
          <p:nvPr/>
        </p:nvSpPr>
        <p:spPr>
          <a:xfrm>
            <a:off x="365760" y="3977639"/>
            <a:ext cx="11430000" cy="228600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87952"/>
            <a:ext cx="5486400" cy="228600"/>
          </a:xfrm>
          <a:prstGeom prst="rect">
            <a:avLst/>
          </a:prstGeom>
          <a:noFill/>
        </p:spPr>
        <p:txBody>
          <a:bodyPr wrap="square" lIns="0" rIns="0" tIns="0" bIns="0" anchor="t">
            <a:spAutoFit/>
          </a:bodyPr>
          <a:lstStyle/>
          <a:p>
            <a:pPr algn="l"/>
            <a:r>
              <a:rPr sz="1100" b="1">
                <a:solidFill>
                  <a:srgbClr val="1C7293"/>
                </a:solidFill>
                <a:latin typeface="Calibri"/>
              </a:rPr>
              <a:t>MODALIDAD Y CONDICIONES DE TRABAJO</a:t>
            </a:r>
          </a:p>
        </p:txBody>
      </p:sp>
      <p:sp>
        <p:nvSpPr>
          <p:cNvPr id="15" name="TextBox 14"/>
          <p:cNvSpPr txBox="1"/>
          <p:nvPr/>
        </p:nvSpPr>
        <p:spPr>
          <a:xfrm>
            <a:off x="640080" y="4572000"/>
            <a:ext cx="10881360" cy="1508760"/>
          </a:xfrm>
          <a:prstGeom prst="rect">
            <a:avLst/>
          </a:prstGeom>
          <a:noFill/>
        </p:spPr>
        <p:txBody>
          <a:bodyPr wrap="square" lIns="0" rIns="0" tIns="0" bIns="0" anchor="t">
            <a:spAutoFit/>
          </a:bodyPr>
          <a:lstStyle/>
          <a:p>
            <a:pPr algn="l">
              <a:lnSpc>
                <a:spcPct val="120000"/>
              </a:lnSpc>
            </a:pPr>
            <a:r>
              <a:rPr sz="1200" b="0">
                <a:solidFill>
                  <a:srgbClr val="475569"/>
                </a:solidFill>
                <a:latin typeface="Calibri"/>
              </a:rPr>
              <a:t>La práctica se ejecutó en modalidad virtual, de lunes a viernes de 8:00 a. m. a 12:00 m. d., para un total de 20 horas semanales durante 14 semanas. El seguimiento se realizó mediante reuniones de coordinación con el supervisor y una bitácora semanal firmada por el Coordinador del Programa en TICS.</a:t>
            </a:r>
          </a:p>
          <a:p>
            <a:pPr algn="l">
              <a:lnSpc>
                <a:spcPct val="120000"/>
              </a:lnSpc>
            </a:pPr>
            <a:r>
              <a:rPr sz="1200" b="0">
                <a:solidFill>
                  <a:srgbClr val="475569"/>
                </a:solidFill>
                <a:latin typeface="Calibri"/>
              </a:rPr>
              <a:t/>
            </a:r>
          </a:p>
          <a:p>
            <a:pPr algn="l">
              <a:lnSpc>
                <a:spcPct val="120000"/>
              </a:lnSpc>
            </a:pPr>
            <a:r>
              <a:rPr sz="1200" b="0">
                <a:solidFill>
                  <a:srgbClr val="475569"/>
                </a:solidFill>
                <a:latin typeface="Calibri"/>
              </a:rPr>
              <a:t>El ambiente de desarrollo se montó por completo en equipo propio: Java 21, Maven, Node.js 18, Docker con MariaDB, IntelliJ IDEA y Visual Studio Code, con el repositorio institucional del proyecto como fuente única de versiones.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02 · ORGANIZACIÓN</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Estructura organizacional</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2148840" y="1234440"/>
            <a:ext cx="7863840" cy="914400"/>
          </a:xfrm>
          <a:prstGeom prst="roundRect">
            <a:avLst>
              <a:gd name="adj" fmla="val 1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14600" y="1399032"/>
            <a:ext cx="7132320" cy="310896"/>
          </a:xfrm>
          <a:prstGeom prst="rect">
            <a:avLst/>
          </a:prstGeom>
          <a:noFill/>
        </p:spPr>
        <p:txBody>
          <a:bodyPr wrap="square" lIns="0" rIns="0" tIns="0" bIns="0" anchor="t">
            <a:spAutoFit/>
          </a:bodyPr>
          <a:lstStyle/>
          <a:p>
            <a:pPr algn="l"/>
            <a:r>
              <a:rPr sz="1600" b="1">
                <a:solidFill>
                  <a:srgbClr val="FFFFFF"/>
                </a:solidFill>
                <a:latin typeface="Calibri"/>
              </a:rPr>
              <a:t>Consejo Universitario</a:t>
            </a:r>
          </a:p>
        </p:txBody>
      </p:sp>
      <p:sp>
        <p:nvSpPr>
          <p:cNvPr id="9" name="TextBox 8"/>
          <p:cNvSpPr txBox="1"/>
          <p:nvPr/>
        </p:nvSpPr>
        <p:spPr>
          <a:xfrm>
            <a:off x="2514600" y="1764792"/>
            <a:ext cx="7132320" cy="274320"/>
          </a:xfrm>
          <a:prstGeom prst="rect">
            <a:avLst/>
          </a:prstGeom>
          <a:noFill/>
        </p:spPr>
        <p:txBody>
          <a:bodyPr wrap="square" lIns="0" rIns="0" tIns="0" bIns="0" anchor="t">
            <a:spAutoFit/>
          </a:bodyPr>
          <a:lstStyle/>
          <a:p>
            <a:pPr algn="l"/>
            <a:r>
              <a:rPr sz="1150" b="0">
                <a:solidFill>
                  <a:srgbClr val="CADCFC"/>
                </a:solidFill>
                <a:latin typeface="Calibri"/>
              </a:rPr>
              <a:t>Órgano superior de dirección de la Universidad</a:t>
            </a:r>
          </a:p>
        </p:txBody>
      </p:sp>
      <p:sp>
        <p:nvSpPr>
          <p:cNvPr id="10" name="Rectangle 9"/>
          <p:cNvSpPr/>
          <p:nvPr/>
        </p:nvSpPr>
        <p:spPr>
          <a:xfrm>
            <a:off x="6053328" y="2148840"/>
            <a:ext cx="54864" cy="25603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48840" y="2404872"/>
            <a:ext cx="7863840" cy="91440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4600" y="2569464"/>
            <a:ext cx="7132320" cy="310896"/>
          </a:xfrm>
          <a:prstGeom prst="rect">
            <a:avLst/>
          </a:prstGeom>
          <a:noFill/>
        </p:spPr>
        <p:txBody>
          <a:bodyPr wrap="square" lIns="0" rIns="0" tIns="0" bIns="0" anchor="t">
            <a:spAutoFit/>
          </a:bodyPr>
          <a:lstStyle/>
          <a:p>
            <a:pPr algn="l"/>
            <a:r>
              <a:rPr sz="1600" b="1">
                <a:solidFill>
                  <a:srgbClr val="FFFFFF"/>
                </a:solidFill>
                <a:latin typeface="Calibri"/>
              </a:rPr>
              <a:t>Rectoría</a:t>
            </a:r>
          </a:p>
        </p:txBody>
      </p:sp>
      <p:sp>
        <p:nvSpPr>
          <p:cNvPr id="13" name="TextBox 12"/>
          <p:cNvSpPr txBox="1"/>
          <p:nvPr/>
        </p:nvSpPr>
        <p:spPr>
          <a:xfrm>
            <a:off x="2514600" y="2935224"/>
            <a:ext cx="7132320" cy="274320"/>
          </a:xfrm>
          <a:prstGeom prst="rect">
            <a:avLst/>
          </a:prstGeom>
          <a:noFill/>
        </p:spPr>
        <p:txBody>
          <a:bodyPr wrap="square" lIns="0" rIns="0" tIns="0" bIns="0" anchor="t">
            <a:spAutoFit/>
          </a:bodyPr>
          <a:lstStyle/>
          <a:p>
            <a:pPr algn="l"/>
            <a:r>
              <a:rPr sz="1150" b="0">
                <a:solidFill>
                  <a:srgbClr val="CADCFC"/>
                </a:solidFill>
                <a:latin typeface="Calibri"/>
              </a:rPr>
              <a:t>Dirección ejecutiva de la Universidad</a:t>
            </a:r>
          </a:p>
        </p:txBody>
      </p:sp>
      <p:sp>
        <p:nvSpPr>
          <p:cNvPr id="14" name="Rectangle 13"/>
          <p:cNvSpPr/>
          <p:nvPr/>
        </p:nvSpPr>
        <p:spPr>
          <a:xfrm>
            <a:off x="6053328" y="3319272"/>
            <a:ext cx="54864" cy="25603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148840" y="3575304"/>
            <a:ext cx="7863840" cy="91440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4600" y="3739896"/>
            <a:ext cx="7132320" cy="310896"/>
          </a:xfrm>
          <a:prstGeom prst="rect">
            <a:avLst/>
          </a:prstGeom>
          <a:noFill/>
        </p:spPr>
        <p:txBody>
          <a:bodyPr wrap="square" lIns="0" rIns="0" tIns="0" bIns="0" anchor="t">
            <a:spAutoFit/>
          </a:bodyPr>
          <a:lstStyle/>
          <a:p>
            <a:pPr algn="l"/>
            <a:r>
              <a:rPr sz="1600" b="1">
                <a:solidFill>
                  <a:srgbClr val="FFFFFF"/>
                </a:solidFill>
                <a:latin typeface="Calibri"/>
              </a:rPr>
              <a:t>Dirección de Planificación Universitaria</a:t>
            </a:r>
          </a:p>
        </p:txBody>
      </p:sp>
      <p:sp>
        <p:nvSpPr>
          <p:cNvPr id="17" name="TextBox 16"/>
          <p:cNvSpPr txBox="1"/>
          <p:nvPr/>
        </p:nvSpPr>
        <p:spPr>
          <a:xfrm>
            <a:off x="2514600" y="4105656"/>
            <a:ext cx="7132320" cy="274320"/>
          </a:xfrm>
          <a:prstGeom prst="rect">
            <a:avLst/>
          </a:prstGeom>
          <a:noFill/>
        </p:spPr>
        <p:txBody>
          <a:bodyPr wrap="square" lIns="0" rIns="0" tIns="0" bIns="0" anchor="t">
            <a:spAutoFit/>
          </a:bodyPr>
          <a:lstStyle/>
          <a:p>
            <a:pPr algn="l"/>
            <a:r>
              <a:rPr sz="1150" b="0">
                <a:solidFill>
                  <a:srgbClr val="CADCFC"/>
                </a:solidFill>
                <a:latin typeface="Calibri"/>
              </a:rPr>
              <a:t>Planificación, seguimiento y evaluación institucional</a:t>
            </a:r>
          </a:p>
        </p:txBody>
      </p:sp>
      <p:sp>
        <p:nvSpPr>
          <p:cNvPr id="18" name="Rectangle 17"/>
          <p:cNvSpPr/>
          <p:nvPr/>
        </p:nvSpPr>
        <p:spPr>
          <a:xfrm>
            <a:off x="6053328" y="4489704"/>
            <a:ext cx="54864" cy="25603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148840" y="4745736"/>
            <a:ext cx="7863840" cy="9144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4600" y="4910327"/>
            <a:ext cx="7132320" cy="310896"/>
          </a:xfrm>
          <a:prstGeom prst="rect">
            <a:avLst/>
          </a:prstGeom>
          <a:noFill/>
        </p:spPr>
        <p:txBody>
          <a:bodyPr wrap="square" lIns="0" rIns="0" tIns="0" bIns="0" anchor="t">
            <a:spAutoFit/>
          </a:bodyPr>
          <a:lstStyle/>
          <a:p>
            <a:pPr algn="l"/>
            <a:r>
              <a:rPr sz="1600" b="1">
                <a:solidFill>
                  <a:srgbClr val="21295C"/>
                </a:solidFill>
                <a:latin typeface="Calibri"/>
              </a:rPr>
              <a:t>Unidad de Gestión de Proyectos</a:t>
            </a:r>
          </a:p>
        </p:txBody>
      </p:sp>
      <p:sp>
        <p:nvSpPr>
          <p:cNvPr id="21" name="TextBox 20"/>
          <p:cNvSpPr txBox="1"/>
          <p:nvPr/>
        </p:nvSpPr>
        <p:spPr>
          <a:xfrm>
            <a:off x="2514600" y="5276088"/>
            <a:ext cx="7132320" cy="274320"/>
          </a:xfrm>
          <a:prstGeom prst="rect">
            <a:avLst/>
          </a:prstGeom>
          <a:noFill/>
        </p:spPr>
        <p:txBody>
          <a:bodyPr wrap="square" lIns="0" rIns="0" tIns="0" bIns="0" anchor="t">
            <a:spAutoFit/>
          </a:bodyPr>
          <a:lstStyle/>
          <a:p>
            <a:pPr algn="l"/>
            <a:r>
              <a:rPr sz="1150" b="0">
                <a:solidFill>
                  <a:srgbClr val="21295C"/>
                </a:solidFill>
                <a:latin typeface="Calibri"/>
              </a:rPr>
              <a:t>Área donde se desarrolló la práctica profesional</a:t>
            </a:r>
          </a:p>
        </p:txBody>
      </p:sp>
      <p:sp>
        <p:nvSpPr>
          <p:cNvPr id="22" name="Rounded Rectangle 21"/>
          <p:cNvSpPr/>
          <p:nvPr/>
        </p:nvSpPr>
        <p:spPr>
          <a:xfrm>
            <a:off x="365760" y="5943600"/>
            <a:ext cx="11430000" cy="457200"/>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053328"/>
            <a:ext cx="10881360" cy="274320"/>
          </a:xfrm>
          <a:prstGeom prst="rect">
            <a:avLst/>
          </a:prstGeom>
          <a:noFill/>
        </p:spPr>
        <p:txBody>
          <a:bodyPr wrap="square" lIns="0" rIns="0" tIns="0" bIns="0" anchor="t">
            <a:spAutoFit/>
          </a:bodyPr>
          <a:lstStyle/>
          <a:p>
            <a:pPr algn="l"/>
            <a:r>
              <a:rPr sz="1100" b="0">
                <a:solidFill>
                  <a:srgbClr val="475569"/>
                </a:solidFill>
                <a:latin typeface="Calibri"/>
              </a:rPr>
              <a:t>Organigrama simplificado a la línea jerárquica relevante para la práctica: la Unidad de Gestión de Proyectos depende de la Dirección de Planificación.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03 · ESTRATEGIA ORGANIZACIONAL</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Misión y visión</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43000"/>
            <a:ext cx="5669280" cy="2377440"/>
          </a:xfrm>
          <a:prstGeom prst="roundRect">
            <a:avLst>
              <a:gd name="adj" fmla="val 45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53312"/>
            <a:ext cx="4572000" cy="228600"/>
          </a:xfrm>
          <a:prstGeom prst="rect">
            <a:avLst/>
          </a:prstGeom>
          <a:noFill/>
        </p:spPr>
        <p:txBody>
          <a:bodyPr wrap="square" lIns="0" rIns="0" tIns="0" bIns="0" anchor="t">
            <a:spAutoFit/>
          </a:bodyPr>
          <a:lstStyle/>
          <a:p>
            <a:pPr algn="l"/>
            <a:r>
              <a:rPr sz="1100" b="1">
                <a:solidFill>
                  <a:srgbClr val="F59E0B"/>
                </a:solidFill>
                <a:latin typeface="Calibri"/>
              </a:rPr>
              <a:t>MISIÓN INSTITUCIONAL — UTN</a:t>
            </a:r>
          </a:p>
        </p:txBody>
      </p:sp>
      <p:sp>
        <p:nvSpPr>
          <p:cNvPr id="9" name="TextBox 8"/>
          <p:cNvSpPr txBox="1"/>
          <p:nvPr/>
        </p:nvSpPr>
        <p:spPr>
          <a:xfrm>
            <a:off x="640080" y="1719072"/>
            <a:ext cx="5120640" cy="1691640"/>
          </a:xfrm>
          <a:prstGeom prst="rect">
            <a:avLst/>
          </a:prstGeom>
          <a:noFill/>
        </p:spPr>
        <p:txBody>
          <a:bodyPr wrap="square" lIns="0" rIns="0" tIns="0" bIns="0" anchor="t">
            <a:spAutoFit/>
          </a:bodyPr>
          <a:lstStyle/>
          <a:p>
            <a:pPr algn="l">
              <a:lnSpc>
                <a:spcPct val="122000"/>
              </a:lnSpc>
            </a:pPr>
            <a:r>
              <a:rPr sz="1250" b="0">
                <a:solidFill>
                  <a:srgbClr val="CADCFC"/>
                </a:solidFill>
                <a:latin typeface="Calibri"/>
              </a:rPr>
              <a:t>Brindar educación superior de carácter técnico y tecnológico, con enfoque humanista, formando profesionales capaces de aportar al desarrollo económico y social del país y a la competitividad de las regiones donde la Universidad tiene presencia.</a:t>
            </a:r>
          </a:p>
        </p:txBody>
      </p:sp>
      <p:sp>
        <p:nvSpPr>
          <p:cNvPr id="10" name="Rounded Rectangle 9"/>
          <p:cNvSpPr/>
          <p:nvPr/>
        </p:nvSpPr>
        <p:spPr>
          <a:xfrm>
            <a:off x="6309360" y="1143000"/>
            <a:ext cx="5486400" cy="2377440"/>
          </a:xfrm>
          <a:prstGeom prst="roundRect">
            <a:avLst>
              <a:gd name="adj" fmla="val 45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353312"/>
            <a:ext cx="4572000" cy="228600"/>
          </a:xfrm>
          <a:prstGeom prst="rect">
            <a:avLst/>
          </a:prstGeom>
          <a:noFill/>
        </p:spPr>
        <p:txBody>
          <a:bodyPr wrap="square" lIns="0" rIns="0" tIns="0" bIns="0" anchor="t">
            <a:spAutoFit/>
          </a:bodyPr>
          <a:lstStyle/>
          <a:p>
            <a:pPr algn="l"/>
            <a:r>
              <a:rPr sz="1100" b="1">
                <a:solidFill>
                  <a:srgbClr val="F59E0B"/>
                </a:solidFill>
                <a:latin typeface="Calibri"/>
              </a:rPr>
              <a:t>VISIÓN INSTITUCIONAL — UTN</a:t>
            </a:r>
          </a:p>
        </p:txBody>
      </p:sp>
      <p:sp>
        <p:nvSpPr>
          <p:cNvPr id="12" name="TextBox 11"/>
          <p:cNvSpPr txBox="1"/>
          <p:nvPr/>
        </p:nvSpPr>
        <p:spPr>
          <a:xfrm>
            <a:off x="6537960" y="1719072"/>
            <a:ext cx="5029200" cy="1691640"/>
          </a:xfrm>
          <a:prstGeom prst="rect">
            <a:avLst/>
          </a:prstGeom>
          <a:noFill/>
        </p:spPr>
        <p:txBody>
          <a:bodyPr wrap="square" lIns="0" rIns="0" tIns="0" bIns="0" anchor="t">
            <a:spAutoFit/>
          </a:bodyPr>
          <a:lstStyle/>
          <a:p>
            <a:pPr algn="l">
              <a:lnSpc>
                <a:spcPct val="122000"/>
              </a:lnSpc>
            </a:pPr>
            <a:r>
              <a:rPr sz="1250" b="0">
                <a:solidFill>
                  <a:srgbClr val="CADCFC"/>
                </a:solidFill>
                <a:latin typeface="Calibri"/>
              </a:rPr>
              <a:t>Ser reconocida como una universidad pública de referencia en la formación técnica y tecnológica de Costa Rica, articulada con el sector productivo y comprometida con el desarrollo sostenible de las regiones y del país.</a:t>
            </a:r>
          </a:p>
        </p:txBody>
      </p:sp>
      <p:sp>
        <p:nvSpPr>
          <p:cNvPr id="13" name="Rounded Rectangle 12"/>
          <p:cNvSpPr/>
          <p:nvPr/>
        </p:nvSpPr>
        <p:spPr>
          <a:xfrm>
            <a:off x="365760" y="3749039"/>
            <a:ext cx="5669280" cy="24231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950208"/>
            <a:ext cx="5120640" cy="228600"/>
          </a:xfrm>
          <a:prstGeom prst="rect">
            <a:avLst/>
          </a:prstGeom>
          <a:noFill/>
        </p:spPr>
        <p:txBody>
          <a:bodyPr wrap="square" lIns="0" rIns="0" tIns="0" bIns="0" anchor="t">
            <a:spAutoFit/>
          </a:bodyPr>
          <a:lstStyle/>
          <a:p>
            <a:pPr algn="l"/>
            <a:r>
              <a:rPr sz="1100" b="1">
                <a:solidFill>
                  <a:srgbClr val="1C7293"/>
                </a:solidFill>
                <a:latin typeface="Calibri"/>
              </a:rPr>
              <a:t>MISIÓN DEL ÁREA · UNIDAD DE GESTIÓN DE PROYECTOS</a:t>
            </a:r>
          </a:p>
        </p:txBody>
      </p:sp>
      <p:sp>
        <p:nvSpPr>
          <p:cNvPr id="15" name="TextBox 14"/>
          <p:cNvSpPr txBox="1"/>
          <p:nvPr/>
        </p:nvSpPr>
        <p:spPr>
          <a:xfrm>
            <a:off x="640080" y="4370832"/>
            <a:ext cx="5120640" cy="1645920"/>
          </a:xfrm>
          <a:prstGeom prst="rect">
            <a:avLst/>
          </a:prstGeom>
          <a:noFill/>
        </p:spPr>
        <p:txBody>
          <a:bodyPr wrap="square" lIns="0" rIns="0" tIns="0" bIns="0" anchor="t">
            <a:spAutoFit/>
          </a:bodyPr>
          <a:lstStyle/>
          <a:p>
            <a:pPr algn="l">
              <a:lnSpc>
                <a:spcPct val="122000"/>
              </a:lnSpc>
            </a:pPr>
            <a:r>
              <a:rPr sz="1250" b="0">
                <a:solidFill>
                  <a:srgbClr val="475569"/>
                </a:solidFill>
                <a:latin typeface="Calibri"/>
              </a:rPr>
              <a:t>Brindar soporte técnico y de planificación a las direcciones de la UTN mediante el desarrollo de instrumentos y sistemas que faciliten el registro, seguimiento y evaluación de los proyectos institucionales.</a:t>
            </a:r>
          </a:p>
        </p:txBody>
      </p:sp>
      <p:sp>
        <p:nvSpPr>
          <p:cNvPr id="16" name="Rounded Rectangle 15"/>
          <p:cNvSpPr/>
          <p:nvPr/>
        </p:nvSpPr>
        <p:spPr>
          <a:xfrm>
            <a:off x="6309360" y="3749039"/>
            <a:ext cx="5486400" cy="24231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3950208"/>
            <a:ext cx="5120640" cy="228600"/>
          </a:xfrm>
          <a:prstGeom prst="rect">
            <a:avLst/>
          </a:prstGeom>
          <a:noFill/>
        </p:spPr>
        <p:txBody>
          <a:bodyPr wrap="square" lIns="0" rIns="0" tIns="0" bIns="0" anchor="t">
            <a:spAutoFit/>
          </a:bodyPr>
          <a:lstStyle/>
          <a:p>
            <a:pPr algn="l"/>
            <a:r>
              <a:rPr sz="1100" b="1">
                <a:solidFill>
                  <a:srgbClr val="1C7293"/>
                </a:solidFill>
                <a:latin typeface="Calibri"/>
              </a:rPr>
              <a:t>VISIÓN DEL ÁREA · UNIDAD DE GESTIÓN DE PROYECTOS</a:t>
            </a:r>
          </a:p>
        </p:txBody>
      </p:sp>
      <p:sp>
        <p:nvSpPr>
          <p:cNvPr id="18" name="TextBox 17"/>
          <p:cNvSpPr txBox="1"/>
          <p:nvPr/>
        </p:nvSpPr>
        <p:spPr>
          <a:xfrm>
            <a:off x="6537960" y="4370832"/>
            <a:ext cx="5029200" cy="1645920"/>
          </a:xfrm>
          <a:prstGeom prst="rect">
            <a:avLst/>
          </a:prstGeom>
          <a:noFill/>
        </p:spPr>
        <p:txBody>
          <a:bodyPr wrap="square" lIns="0" rIns="0" tIns="0" bIns="0" anchor="t">
            <a:spAutoFit/>
          </a:bodyPr>
          <a:lstStyle/>
          <a:p>
            <a:pPr algn="l">
              <a:lnSpc>
                <a:spcPct val="122000"/>
              </a:lnSpc>
            </a:pPr>
            <a:r>
              <a:rPr sz="1250" b="0">
                <a:solidFill>
                  <a:srgbClr val="475569"/>
                </a:solidFill>
                <a:latin typeface="Calibri"/>
              </a:rPr>
              <a:t>Consolidarse como unidad de referencia en la planificación institucional, contribuyendo al cumplimiento de los compromisos que la UTN ha adquirido con la Agenda 2030 de Desarrollo Sostenible.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03 · ESTRATEGIA ORGANIZACIONAL</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Misión TI, visión TI y organigrama de TI</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43000"/>
            <a:ext cx="11430000" cy="1207008"/>
          </a:xfrm>
          <a:prstGeom prst="roundRect">
            <a:avLst>
              <a:gd name="adj" fmla="val 10000"/>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25880"/>
            <a:ext cx="7315200" cy="228600"/>
          </a:xfrm>
          <a:prstGeom prst="rect">
            <a:avLst/>
          </a:prstGeom>
          <a:noFill/>
        </p:spPr>
        <p:txBody>
          <a:bodyPr wrap="square" lIns="0" rIns="0" tIns="0" bIns="0" anchor="t">
            <a:spAutoFit/>
          </a:bodyPr>
          <a:lstStyle/>
          <a:p>
            <a:pPr algn="l"/>
            <a:r>
              <a:rPr sz="1100" b="1">
                <a:solidFill>
                  <a:srgbClr val="EA580C"/>
                </a:solidFill>
                <a:latin typeface="Calibri"/>
              </a:rPr>
              <a:t>SITUACIÓN ENCONTRADA</a:t>
            </a:r>
          </a:p>
        </p:txBody>
      </p:sp>
      <p:sp>
        <p:nvSpPr>
          <p:cNvPr id="9" name="TextBox 8"/>
          <p:cNvSpPr txBox="1"/>
          <p:nvPr/>
        </p:nvSpPr>
        <p:spPr>
          <a:xfrm>
            <a:off x="640080" y="1645920"/>
            <a:ext cx="10881360" cy="594360"/>
          </a:xfrm>
          <a:prstGeom prst="rect">
            <a:avLst/>
          </a:prstGeom>
          <a:noFill/>
        </p:spPr>
        <p:txBody>
          <a:bodyPr wrap="square" lIns="0" rIns="0" tIns="0" bIns="0" anchor="t">
            <a:spAutoFit/>
          </a:bodyPr>
          <a:lstStyle/>
          <a:p>
            <a:pPr algn="l">
              <a:lnSpc>
                <a:spcPct val="118000"/>
              </a:lnSpc>
            </a:pPr>
            <a:r>
              <a:rPr sz="1300" b="0">
                <a:solidFill>
                  <a:srgbClr val="1E293B"/>
                </a:solidFill>
                <a:latin typeface="Calibri"/>
              </a:rPr>
              <a:t>El área donde se realizó la práctica —la Unidad de Gestión de Proyectos— no cuenta con misión, visión ni organigrama de Tecnologías de Información propios y formalizados. A continuación se explica el porqué.</a:t>
            </a:r>
          </a:p>
        </p:txBody>
      </p:sp>
      <p:sp>
        <p:nvSpPr>
          <p:cNvPr id="10" name="Rounded Rectangle 9"/>
          <p:cNvSpPr/>
          <p:nvPr/>
        </p:nvSpPr>
        <p:spPr>
          <a:xfrm>
            <a:off x="365760" y="2578608"/>
            <a:ext cx="3630168" cy="278892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 y="2807208"/>
            <a:ext cx="64008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907791"/>
            <a:ext cx="640080" cy="219456"/>
          </a:xfrm>
          <a:prstGeom prst="rect">
            <a:avLst/>
          </a:prstGeom>
          <a:noFill/>
        </p:spPr>
        <p:txBody>
          <a:bodyPr wrap="square" lIns="0" rIns="0" tIns="0" bIns="0" anchor="t">
            <a:spAutoFit/>
          </a:bodyPr>
          <a:lstStyle/>
          <a:p>
            <a:pPr algn="ctr"/>
            <a:r>
              <a:rPr sz="1300" b="1">
                <a:solidFill>
                  <a:srgbClr val="FFFFFF"/>
                </a:solidFill>
                <a:latin typeface="Calibri"/>
              </a:rPr>
              <a:t>01</a:t>
            </a:r>
          </a:p>
        </p:txBody>
      </p:sp>
      <p:sp>
        <p:nvSpPr>
          <p:cNvPr id="13" name="TextBox 12"/>
          <p:cNvSpPr txBox="1"/>
          <p:nvPr/>
        </p:nvSpPr>
        <p:spPr>
          <a:xfrm>
            <a:off x="621792" y="3355848"/>
            <a:ext cx="3154680" cy="566928"/>
          </a:xfrm>
          <a:prstGeom prst="rect">
            <a:avLst/>
          </a:prstGeom>
          <a:noFill/>
        </p:spPr>
        <p:txBody>
          <a:bodyPr wrap="square" lIns="0" rIns="0" tIns="0" bIns="0" anchor="t">
            <a:spAutoFit/>
          </a:bodyPr>
          <a:lstStyle/>
          <a:p>
            <a:pPr algn="l">
              <a:lnSpc>
                <a:spcPct val="110000"/>
              </a:lnSpc>
            </a:pPr>
            <a:r>
              <a:rPr sz="1350" b="1">
                <a:solidFill>
                  <a:srgbClr val="0F172A"/>
                </a:solidFill>
                <a:latin typeface="Calibri"/>
              </a:rPr>
              <a:t>No es un área de TI</a:t>
            </a:r>
          </a:p>
        </p:txBody>
      </p:sp>
      <p:sp>
        <p:nvSpPr>
          <p:cNvPr id="14" name="TextBox 13"/>
          <p:cNvSpPr txBox="1"/>
          <p:nvPr/>
        </p:nvSpPr>
        <p:spPr>
          <a:xfrm>
            <a:off x="621792" y="4041648"/>
            <a:ext cx="3154680" cy="1234440"/>
          </a:xfrm>
          <a:prstGeom prst="rect">
            <a:avLst/>
          </a:prstGeom>
          <a:noFill/>
        </p:spPr>
        <p:txBody>
          <a:bodyPr wrap="square" lIns="0" rIns="0" tIns="0" bIns="0" anchor="t">
            <a:spAutoFit/>
          </a:bodyPr>
          <a:lstStyle/>
          <a:p>
            <a:pPr algn="l">
              <a:lnSpc>
                <a:spcPct val="118000"/>
              </a:lnSpc>
            </a:pPr>
            <a:r>
              <a:rPr sz="1100" b="0">
                <a:solidFill>
                  <a:srgbClr val="64748B"/>
                </a:solidFill>
                <a:latin typeface="Calibri"/>
              </a:rPr>
              <a:t>La Unidad pertenece a la Dirección de Planificación. Su función es planificar, dar seguimiento y evaluar proyectos institucionales, no operar infraestructura ni desarrollar software.</a:t>
            </a:r>
          </a:p>
        </p:txBody>
      </p:sp>
      <p:sp>
        <p:nvSpPr>
          <p:cNvPr id="15" name="Rounded Rectangle 14"/>
          <p:cNvSpPr/>
          <p:nvPr/>
        </p:nvSpPr>
        <p:spPr>
          <a:xfrm>
            <a:off x="4261104" y="2578608"/>
            <a:ext cx="3630168" cy="278892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17136" y="2807208"/>
            <a:ext cx="64008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2907791"/>
            <a:ext cx="640080" cy="219456"/>
          </a:xfrm>
          <a:prstGeom prst="rect">
            <a:avLst/>
          </a:prstGeom>
          <a:noFill/>
        </p:spPr>
        <p:txBody>
          <a:bodyPr wrap="square" lIns="0" rIns="0" tIns="0" bIns="0" anchor="t">
            <a:spAutoFit/>
          </a:bodyPr>
          <a:lstStyle/>
          <a:p>
            <a:pPr algn="ctr"/>
            <a:r>
              <a:rPr sz="1300" b="1">
                <a:solidFill>
                  <a:srgbClr val="FFFFFF"/>
                </a:solidFill>
                <a:latin typeface="Calibri"/>
              </a:rPr>
              <a:t>02</a:t>
            </a:r>
          </a:p>
        </p:txBody>
      </p:sp>
      <p:sp>
        <p:nvSpPr>
          <p:cNvPr id="18" name="TextBox 17"/>
          <p:cNvSpPr txBox="1"/>
          <p:nvPr/>
        </p:nvSpPr>
        <p:spPr>
          <a:xfrm>
            <a:off x="4517136" y="3355848"/>
            <a:ext cx="3154680" cy="566928"/>
          </a:xfrm>
          <a:prstGeom prst="rect">
            <a:avLst/>
          </a:prstGeom>
          <a:noFill/>
        </p:spPr>
        <p:txBody>
          <a:bodyPr wrap="square" lIns="0" rIns="0" tIns="0" bIns="0" anchor="t">
            <a:spAutoFit/>
          </a:bodyPr>
          <a:lstStyle/>
          <a:p>
            <a:pPr algn="l">
              <a:lnSpc>
                <a:spcPct val="110000"/>
              </a:lnSpc>
            </a:pPr>
            <a:r>
              <a:rPr sz="1350" b="1">
                <a:solidFill>
                  <a:srgbClr val="0F172A"/>
                </a:solidFill>
                <a:latin typeface="Calibri"/>
              </a:rPr>
              <a:t>La UTN sí tiene TI, pero a nivel institucional</a:t>
            </a:r>
          </a:p>
        </p:txBody>
      </p:sp>
      <p:sp>
        <p:nvSpPr>
          <p:cNvPr id="19" name="TextBox 18"/>
          <p:cNvSpPr txBox="1"/>
          <p:nvPr/>
        </p:nvSpPr>
        <p:spPr>
          <a:xfrm>
            <a:off x="4517136" y="4041648"/>
            <a:ext cx="3154680" cy="1234440"/>
          </a:xfrm>
          <a:prstGeom prst="rect">
            <a:avLst/>
          </a:prstGeom>
          <a:noFill/>
        </p:spPr>
        <p:txBody>
          <a:bodyPr wrap="square" lIns="0" rIns="0" tIns="0" bIns="0" anchor="t">
            <a:spAutoFit/>
          </a:bodyPr>
          <a:lstStyle/>
          <a:p>
            <a:pPr algn="l">
              <a:lnSpc>
                <a:spcPct val="118000"/>
              </a:lnSpc>
            </a:pPr>
            <a:r>
              <a:rPr sz="1100" b="0">
                <a:solidFill>
                  <a:srgbClr val="64748B"/>
                </a:solidFill>
                <a:latin typeface="Calibri"/>
              </a:rPr>
              <a:t>La función tecnológica de la Universidad está centralizada en su dirección de tecnologías de información, que atiende a toda la institución. La práctica no se ubicó en esa dirección.</a:t>
            </a:r>
          </a:p>
        </p:txBody>
      </p:sp>
      <p:sp>
        <p:nvSpPr>
          <p:cNvPr id="20" name="Rounded Rectangle 19"/>
          <p:cNvSpPr/>
          <p:nvPr/>
        </p:nvSpPr>
        <p:spPr>
          <a:xfrm>
            <a:off x="8156448" y="2578608"/>
            <a:ext cx="3630168" cy="278892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12480" y="2807208"/>
            <a:ext cx="64008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2907791"/>
            <a:ext cx="640080" cy="219456"/>
          </a:xfrm>
          <a:prstGeom prst="rect">
            <a:avLst/>
          </a:prstGeom>
          <a:noFill/>
        </p:spPr>
        <p:txBody>
          <a:bodyPr wrap="square" lIns="0" rIns="0" tIns="0" bIns="0" anchor="t">
            <a:spAutoFit/>
          </a:bodyPr>
          <a:lstStyle/>
          <a:p>
            <a:pPr algn="ctr"/>
            <a:r>
              <a:rPr sz="1300" b="1">
                <a:solidFill>
                  <a:srgbClr val="FFFFFF"/>
                </a:solidFill>
                <a:latin typeface="Calibri"/>
              </a:rPr>
              <a:t>03</a:t>
            </a:r>
          </a:p>
        </p:txBody>
      </p:sp>
      <p:sp>
        <p:nvSpPr>
          <p:cNvPr id="23" name="TextBox 22"/>
          <p:cNvSpPr txBox="1"/>
          <p:nvPr/>
        </p:nvSpPr>
        <p:spPr>
          <a:xfrm>
            <a:off x="8412480" y="3355848"/>
            <a:ext cx="3154680" cy="566928"/>
          </a:xfrm>
          <a:prstGeom prst="rect">
            <a:avLst/>
          </a:prstGeom>
          <a:noFill/>
        </p:spPr>
        <p:txBody>
          <a:bodyPr wrap="square" lIns="0" rIns="0" tIns="0" bIns="0" anchor="t">
            <a:spAutoFit/>
          </a:bodyPr>
          <a:lstStyle/>
          <a:p>
            <a:pPr algn="l">
              <a:lnSpc>
                <a:spcPct val="110000"/>
              </a:lnSpc>
            </a:pPr>
            <a:r>
              <a:rPr sz="1350" b="1">
                <a:solidFill>
                  <a:srgbClr val="0F172A"/>
                </a:solidFill>
                <a:latin typeface="Calibri"/>
              </a:rPr>
              <a:t>Lo tecnológico se atiende por proyecto</a:t>
            </a:r>
          </a:p>
        </p:txBody>
      </p:sp>
      <p:sp>
        <p:nvSpPr>
          <p:cNvPr id="24" name="TextBox 23"/>
          <p:cNvSpPr txBox="1"/>
          <p:nvPr/>
        </p:nvSpPr>
        <p:spPr>
          <a:xfrm>
            <a:off x="8412480" y="4041648"/>
            <a:ext cx="3154680" cy="1234440"/>
          </a:xfrm>
          <a:prstGeom prst="rect">
            <a:avLst/>
          </a:prstGeom>
          <a:noFill/>
        </p:spPr>
        <p:txBody>
          <a:bodyPr wrap="square" lIns="0" rIns="0" tIns="0" bIns="0" anchor="t">
            <a:spAutoFit/>
          </a:bodyPr>
          <a:lstStyle/>
          <a:p>
            <a:pPr algn="l">
              <a:lnSpc>
                <a:spcPct val="118000"/>
              </a:lnSpc>
            </a:pPr>
            <a:r>
              <a:rPr sz="1100" b="0">
                <a:solidFill>
                  <a:srgbClr val="64748B"/>
                </a:solidFill>
                <a:latin typeface="Calibri"/>
              </a:rPr>
              <a:t>Cuando Planificación requiere una solución tecnológica, esta se aborda como un proyecto específico. En este caso ese rol lo asumió el practicante, con la orientación del coordinador del área.</a:t>
            </a:r>
          </a:p>
        </p:txBody>
      </p:sp>
      <p:sp>
        <p:nvSpPr>
          <p:cNvPr id="25" name="Rounded Rectangle 24"/>
          <p:cNvSpPr/>
          <p:nvPr/>
        </p:nvSpPr>
        <p:spPr>
          <a:xfrm>
            <a:off x="365760" y="5596128"/>
            <a:ext cx="11430000" cy="731520"/>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760720"/>
            <a:ext cx="10881360" cy="457200"/>
          </a:xfrm>
          <a:prstGeom prst="rect">
            <a:avLst/>
          </a:prstGeom>
          <a:noFill/>
        </p:spPr>
        <p:txBody>
          <a:bodyPr wrap="square" lIns="0" rIns="0" tIns="0" bIns="0" anchor="t">
            <a:spAutoFit/>
          </a:bodyPr>
          <a:lstStyle/>
          <a:p>
            <a:pPr algn="l">
              <a:lnSpc>
                <a:spcPct val="118000"/>
              </a:lnSpc>
            </a:pPr>
            <a:r>
              <a:rPr sz="1200" b="0">
                <a:solidFill>
                  <a:srgbClr val="21295C"/>
                </a:solidFill>
                <a:latin typeface="Calibri"/>
              </a:rPr>
              <a:t>Aporte de la práctica: el sistema entregado deja documentada la arquitectura, el modelo de datos y el flujo de trabajo, de modo que la Unidad pueda trasladarlo a la dirección institucional de TI para su puesta en producción y mantenimiento.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04 · DESCRIPCIÓN DE FUNCIONES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Área de práctica y funciones del departamento</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43000"/>
            <a:ext cx="3931920" cy="4846320"/>
          </a:xfrm>
          <a:prstGeom prst="roundRect">
            <a:avLst>
              <a:gd name="adj" fmla="val 45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44752"/>
            <a:ext cx="3383280" cy="457200"/>
          </a:xfrm>
          <a:prstGeom prst="rect">
            <a:avLst/>
          </a:prstGeom>
          <a:noFill/>
        </p:spPr>
        <p:txBody>
          <a:bodyPr wrap="square" lIns="0" rIns="0" tIns="0" bIns="0" anchor="t">
            <a:spAutoFit/>
          </a:bodyPr>
          <a:lstStyle/>
          <a:p>
            <a:pPr algn="l"/>
            <a:r>
              <a:rPr sz="2800" b="1">
                <a:solidFill>
                  <a:srgbClr val="FFFFFF"/>
                </a:solidFill>
                <a:latin typeface="Cambria"/>
              </a:rPr>
              <a:t>UTN</a:t>
            </a:r>
          </a:p>
        </p:txBody>
      </p:sp>
      <p:sp>
        <p:nvSpPr>
          <p:cNvPr id="9" name="TextBox 8"/>
          <p:cNvSpPr txBox="1"/>
          <p:nvPr/>
        </p:nvSpPr>
        <p:spPr>
          <a:xfrm>
            <a:off x="640080" y="1993392"/>
            <a:ext cx="3383280" cy="603504"/>
          </a:xfrm>
          <a:prstGeom prst="rect">
            <a:avLst/>
          </a:prstGeom>
          <a:noFill/>
        </p:spPr>
        <p:txBody>
          <a:bodyPr wrap="square" lIns="0" rIns="0" tIns="0" bIns="0" anchor="t">
            <a:spAutoFit/>
          </a:bodyPr>
          <a:lstStyle/>
          <a:p>
            <a:pPr algn="l">
              <a:lnSpc>
                <a:spcPct val="110000"/>
              </a:lnSpc>
            </a:pPr>
            <a:r>
              <a:rPr sz="1500" b="1">
                <a:solidFill>
                  <a:srgbClr val="FFFFFF"/>
                </a:solidFill>
                <a:latin typeface="Calibri"/>
              </a:rPr>
              <a:t>Dirección de</a:t>
            </a:r>
          </a:p>
          <a:p>
            <a:pPr algn="l">
              <a:lnSpc>
                <a:spcPct val="110000"/>
              </a:lnSpc>
            </a:pPr>
            <a:r>
              <a:rPr sz="1500" b="1">
                <a:solidFill>
                  <a:srgbClr val="FFFFFF"/>
                </a:solidFill>
                <a:latin typeface="Calibri"/>
              </a:rPr>
              <a:t>Planificación</a:t>
            </a:r>
          </a:p>
        </p:txBody>
      </p:sp>
      <p:sp>
        <p:nvSpPr>
          <p:cNvPr id="10" name="TextBox 9"/>
          <p:cNvSpPr txBox="1"/>
          <p:nvPr/>
        </p:nvSpPr>
        <p:spPr>
          <a:xfrm>
            <a:off x="640080" y="2697480"/>
            <a:ext cx="3383280" cy="274320"/>
          </a:xfrm>
          <a:prstGeom prst="rect">
            <a:avLst/>
          </a:prstGeom>
          <a:noFill/>
        </p:spPr>
        <p:txBody>
          <a:bodyPr wrap="square" lIns="0" rIns="0" tIns="0" bIns="0" anchor="t">
            <a:spAutoFit/>
          </a:bodyPr>
          <a:lstStyle/>
          <a:p>
            <a:pPr algn="l"/>
            <a:r>
              <a:rPr sz="1300" b="1">
                <a:solidFill>
                  <a:srgbClr val="CADCFC"/>
                </a:solidFill>
                <a:latin typeface="Calibri"/>
              </a:rPr>
              <a:t>Unidad de Gestión de Proyectos</a:t>
            </a:r>
          </a:p>
        </p:txBody>
      </p:sp>
      <p:sp>
        <p:nvSpPr>
          <p:cNvPr id="11" name="Rectangle 10"/>
          <p:cNvSpPr/>
          <p:nvPr/>
        </p:nvSpPr>
        <p:spPr>
          <a:xfrm>
            <a:off x="640080" y="309067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310128"/>
            <a:ext cx="3383280" cy="2377440"/>
          </a:xfrm>
          <a:prstGeom prst="rect">
            <a:avLst/>
          </a:prstGeom>
          <a:noFill/>
        </p:spPr>
        <p:txBody>
          <a:bodyPr wrap="square" lIns="0" rIns="0" tIns="0" bIns="0" anchor="t">
            <a:spAutoFit/>
          </a:bodyPr>
          <a:lstStyle/>
          <a:p>
            <a:pPr algn="l">
              <a:lnSpc>
                <a:spcPct val="122000"/>
              </a:lnSpc>
            </a:pPr>
            <a:r>
              <a:rPr sz="1200" b="0">
                <a:solidFill>
                  <a:srgbClr val="CADCFC"/>
                </a:solidFill>
                <a:latin typeface="Calibri"/>
              </a:rPr>
              <a:t>Es la instancia responsable del seguimiento y la evaluación de los proyectos estratégicos de la Universidad.</a:t>
            </a:r>
          </a:p>
          <a:p>
            <a:pPr algn="l">
              <a:lnSpc>
                <a:spcPct val="122000"/>
              </a:lnSpc>
            </a:pPr>
            <a:r>
              <a:rPr sz="1200" b="0">
                <a:solidFill>
                  <a:srgbClr val="CADCFC"/>
                </a:solidFill>
                <a:latin typeface="Calibri"/>
              </a:rPr>
              <a:t/>
            </a:r>
          </a:p>
          <a:p>
            <a:pPr algn="l">
              <a:lnSpc>
                <a:spcPct val="122000"/>
              </a:lnSpc>
            </a:pPr>
            <a:r>
              <a:rPr sz="1200" b="0">
                <a:solidFill>
                  <a:srgbClr val="CADCFC"/>
                </a:solidFill>
                <a:latin typeface="Calibri"/>
              </a:rPr>
              <a:t>Supervisor de la práctica:</a:t>
            </a:r>
          </a:p>
          <a:p>
            <a:pPr algn="l">
              <a:lnSpc>
                <a:spcPct val="122000"/>
              </a:lnSpc>
            </a:pPr>
            <a:r>
              <a:rPr sz="1200" b="0">
                <a:solidFill>
                  <a:srgbClr val="CADCFC"/>
                </a:solidFill>
                <a:latin typeface="Calibri"/>
              </a:rPr>
              <a:t>MGT Joaquín Artavia Chaves,</a:t>
            </a:r>
          </a:p>
          <a:p>
            <a:pPr algn="l">
              <a:lnSpc>
                <a:spcPct val="122000"/>
              </a:lnSpc>
            </a:pPr>
            <a:r>
              <a:rPr sz="1200" b="0">
                <a:solidFill>
                  <a:srgbClr val="CADCFC"/>
                </a:solidFill>
                <a:latin typeface="Calibri"/>
              </a:rPr>
              <a:t>Coordinador del Programa en TICS.</a:t>
            </a:r>
          </a:p>
        </p:txBody>
      </p:sp>
      <p:sp>
        <p:nvSpPr>
          <p:cNvPr id="13" name="TextBox 12"/>
          <p:cNvSpPr txBox="1"/>
          <p:nvPr/>
        </p:nvSpPr>
        <p:spPr>
          <a:xfrm>
            <a:off x="4572000" y="1188720"/>
            <a:ext cx="5486400" cy="228600"/>
          </a:xfrm>
          <a:prstGeom prst="rect">
            <a:avLst/>
          </a:prstGeom>
          <a:noFill/>
        </p:spPr>
        <p:txBody>
          <a:bodyPr wrap="square" lIns="0" rIns="0" tIns="0" bIns="0" anchor="t">
            <a:spAutoFit/>
          </a:bodyPr>
          <a:lstStyle/>
          <a:p>
            <a:pPr algn="l"/>
            <a:r>
              <a:rPr sz="1100" b="1">
                <a:solidFill>
                  <a:srgbClr val="F59E0B"/>
                </a:solidFill>
                <a:latin typeface="Calibri"/>
              </a:rPr>
              <a:t>FUNCIONES DEL DEPARTAMENTO</a:t>
            </a:r>
          </a:p>
        </p:txBody>
      </p:sp>
      <p:sp>
        <p:nvSpPr>
          <p:cNvPr id="14" name="Rounded Rectangle 13"/>
          <p:cNvSpPr/>
          <p:nvPr/>
        </p:nvSpPr>
        <p:spPr>
          <a:xfrm>
            <a:off x="4572000" y="1536192"/>
            <a:ext cx="7223760" cy="786384"/>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1728216"/>
            <a:ext cx="402336" cy="40233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1778507"/>
            <a:ext cx="402336" cy="402336"/>
          </a:xfrm>
          <a:prstGeom prst="rect">
            <a:avLst/>
          </a:prstGeom>
          <a:noFill/>
        </p:spPr>
        <p:txBody>
          <a:bodyPr wrap="square" lIns="0" rIns="0" tIns="0" bIns="0" anchor="t">
            <a:spAutoFit/>
          </a:bodyPr>
          <a:lstStyle/>
          <a:p>
            <a:pPr algn="ctr"/>
            <a:r>
              <a:rPr sz="1200" b="1">
                <a:solidFill>
                  <a:srgbClr val="FFFFFF"/>
                </a:solidFill>
                <a:latin typeface="Calibri"/>
              </a:rPr>
              <a:t>1</a:t>
            </a:r>
          </a:p>
        </p:txBody>
      </p:sp>
      <p:sp>
        <p:nvSpPr>
          <p:cNvPr id="17" name="TextBox 16"/>
          <p:cNvSpPr txBox="1"/>
          <p:nvPr/>
        </p:nvSpPr>
        <p:spPr>
          <a:xfrm>
            <a:off x="5349240" y="1655064"/>
            <a:ext cx="2834640" cy="292608"/>
          </a:xfrm>
          <a:prstGeom prst="rect">
            <a:avLst/>
          </a:prstGeom>
          <a:noFill/>
        </p:spPr>
        <p:txBody>
          <a:bodyPr wrap="square" lIns="0" rIns="0" tIns="0" bIns="0" anchor="t">
            <a:spAutoFit/>
          </a:bodyPr>
          <a:lstStyle/>
          <a:p>
            <a:pPr algn="l"/>
            <a:r>
              <a:rPr sz="1250" b="1">
                <a:solidFill>
                  <a:srgbClr val="0F172A"/>
                </a:solidFill>
                <a:latin typeface="Calibri"/>
              </a:rPr>
              <a:t>Formular y acompañar</a:t>
            </a:r>
          </a:p>
        </p:txBody>
      </p:sp>
      <p:sp>
        <p:nvSpPr>
          <p:cNvPr id="18" name="TextBox 17"/>
          <p:cNvSpPr txBox="1"/>
          <p:nvPr/>
        </p:nvSpPr>
        <p:spPr>
          <a:xfrm>
            <a:off x="5349240" y="1975104"/>
            <a:ext cx="6217920" cy="310896"/>
          </a:xfrm>
          <a:prstGeom prst="rect">
            <a:avLst/>
          </a:prstGeom>
          <a:noFill/>
        </p:spPr>
        <p:txBody>
          <a:bodyPr wrap="square" lIns="0" rIns="0" tIns="0" bIns="0" anchor="t">
            <a:spAutoFit/>
          </a:bodyPr>
          <a:lstStyle/>
          <a:p>
            <a:pPr algn="l"/>
            <a:r>
              <a:rPr sz="1050" b="0">
                <a:solidFill>
                  <a:srgbClr val="64748B"/>
                </a:solidFill>
                <a:latin typeface="Calibri"/>
              </a:rPr>
              <a:t>Apoyar a sedes y direcciones en la formulación de proyectos y dar seguimiento a su avance.</a:t>
            </a:r>
          </a:p>
        </p:txBody>
      </p:sp>
      <p:sp>
        <p:nvSpPr>
          <p:cNvPr id="19" name="Rounded Rectangle 18"/>
          <p:cNvSpPr/>
          <p:nvPr/>
        </p:nvSpPr>
        <p:spPr>
          <a:xfrm>
            <a:off x="4572000" y="2432304"/>
            <a:ext cx="7223760" cy="786384"/>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773168" y="2624328"/>
            <a:ext cx="402336" cy="40233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2674620"/>
            <a:ext cx="402336" cy="402336"/>
          </a:xfrm>
          <a:prstGeom prst="rect">
            <a:avLst/>
          </a:prstGeom>
          <a:noFill/>
        </p:spPr>
        <p:txBody>
          <a:bodyPr wrap="square" lIns="0" rIns="0" tIns="0" bIns="0" anchor="t">
            <a:spAutoFit/>
          </a:bodyPr>
          <a:lstStyle/>
          <a:p>
            <a:pPr algn="ctr"/>
            <a:r>
              <a:rPr sz="1200" b="1">
                <a:solidFill>
                  <a:srgbClr val="FFFFFF"/>
                </a:solidFill>
                <a:latin typeface="Calibri"/>
              </a:rPr>
              <a:t>2</a:t>
            </a:r>
          </a:p>
        </p:txBody>
      </p:sp>
      <p:sp>
        <p:nvSpPr>
          <p:cNvPr id="22" name="TextBox 21"/>
          <p:cNvSpPr txBox="1"/>
          <p:nvPr/>
        </p:nvSpPr>
        <p:spPr>
          <a:xfrm>
            <a:off x="5349240" y="2551176"/>
            <a:ext cx="2834640" cy="292608"/>
          </a:xfrm>
          <a:prstGeom prst="rect">
            <a:avLst/>
          </a:prstGeom>
          <a:noFill/>
        </p:spPr>
        <p:txBody>
          <a:bodyPr wrap="square" lIns="0" rIns="0" tIns="0" bIns="0" anchor="t">
            <a:spAutoFit/>
          </a:bodyPr>
          <a:lstStyle/>
          <a:p>
            <a:pPr algn="l"/>
            <a:r>
              <a:rPr sz="1250" b="1">
                <a:solidFill>
                  <a:srgbClr val="0F172A"/>
                </a:solidFill>
                <a:latin typeface="Calibri"/>
              </a:rPr>
              <a:t>Evaluar el cumplimiento</a:t>
            </a:r>
          </a:p>
        </p:txBody>
      </p:sp>
      <p:sp>
        <p:nvSpPr>
          <p:cNvPr id="23" name="TextBox 22"/>
          <p:cNvSpPr txBox="1"/>
          <p:nvPr/>
        </p:nvSpPr>
        <p:spPr>
          <a:xfrm>
            <a:off x="5349240" y="2871216"/>
            <a:ext cx="6217920" cy="310896"/>
          </a:xfrm>
          <a:prstGeom prst="rect">
            <a:avLst/>
          </a:prstGeom>
          <a:noFill/>
        </p:spPr>
        <p:txBody>
          <a:bodyPr wrap="square" lIns="0" rIns="0" tIns="0" bIns="0" anchor="t">
            <a:spAutoFit/>
          </a:bodyPr>
          <a:lstStyle/>
          <a:p>
            <a:pPr algn="l"/>
            <a:r>
              <a:rPr sz="1050" b="0">
                <a:solidFill>
                  <a:srgbClr val="64748B"/>
                </a:solidFill>
                <a:latin typeface="Calibri"/>
              </a:rPr>
              <a:t>Verificar el logro de metas e indicadores con base en evidencia documental.</a:t>
            </a:r>
          </a:p>
        </p:txBody>
      </p:sp>
      <p:sp>
        <p:nvSpPr>
          <p:cNvPr id="24" name="Rounded Rectangle 23"/>
          <p:cNvSpPr/>
          <p:nvPr/>
        </p:nvSpPr>
        <p:spPr>
          <a:xfrm>
            <a:off x="4572000" y="3328415"/>
            <a:ext cx="7223760" cy="786384"/>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773168" y="3520439"/>
            <a:ext cx="402336" cy="40233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73168" y="3570732"/>
            <a:ext cx="402336" cy="402336"/>
          </a:xfrm>
          <a:prstGeom prst="rect">
            <a:avLst/>
          </a:prstGeom>
          <a:noFill/>
        </p:spPr>
        <p:txBody>
          <a:bodyPr wrap="square" lIns="0" rIns="0" tIns="0" bIns="0" anchor="t">
            <a:spAutoFit/>
          </a:bodyPr>
          <a:lstStyle/>
          <a:p>
            <a:pPr algn="ctr"/>
            <a:r>
              <a:rPr sz="1200" b="1">
                <a:solidFill>
                  <a:srgbClr val="FFFFFF"/>
                </a:solidFill>
                <a:latin typeface="Calibri"/>
              </a:rPr>
              <a:t>3</a:t>
            </a:r>
          </a:p>
        </p:txBody>
      </p:sp>
      <p:sp>
        <p:nvSpPr>
          <p:cNvPr id="27" name="TextBox 26"/>
          <p:cNvSpPr txBox="1"/>
          <p:nvPr/>
        </p:nvSpPr>
        <p:spPr>
          <a:xfrm>
            <a:off x="5349240" y="3447287"/>
            <a:ext cx="2834640" cy="292608"/>
          </a:xfrm>
          <a:prstGeom prst="rect">
            <a:avLst/>
          </a:prstGeom>
          <a:noFill/>
        </p:spPr>
        <p:txBody>
          <a:bodyPr wrap="square" lIns="0" rIns="0" tIns="0" bIns="0" anchor="t">
            <a:spAutoFit/>
          </a:bodyPr>
          <a:lstStyle/>
          <a:p>
            <a:pPr algn="l"/>
            <a:r>
              <a:rPr sz="1250" b="1">
                <a:solidFill>
                  <a:srgbClr val="0F172A"/>
                </a:solidFill>
                <a:latin typeface="Calibri"/>
              </a:rPr>
              <a:t>Consolidar información</a:t>
            </a:r>
          </a:p>
        </p:txBody>
      </p:sp>
      <p:sp>
        <p:nvSpPr>
          <p:cNvPr id="28" name="TextBox 27"/>
          <p:cNvSpPr txBox="1"/>
          <p:nvPr/>
        </p:nvSpPr>
        <p:spPr>
          <a:xfrm>
            <a:off x="5349240" y="3767327"/>
            <a:ext cx="6217920" cy="310896"/>
          </a:xfrm>
          <a:prstGeom prst="rect">
            <a:avLst/>
          </a:prstGeom>
          <a:noFill/>
        </p:spPr>
        <p:txBody>
          <a:bodyPr wrap="square" lIns="0" rIns="0" tIns="0" bIns="0" anchor="t">
            <a:spAutoFit/>
          </a:bodyPr>
          <a:lstStyle/>
          <a:p>
            <a:pPr algn="l"/>
            <a:r>
              <a:rPr sz="1050" b="0">
                <a:solidFill>
                  <a:srgbClr val="64748B"/>
                </a:solidFill>
                <a:latin typeface="Calibri"/>
              </a:rPr>
              <a:t>Reunir la información de las siete sedes para los reportes institucionales.</a:t>
            </a:r>
          </a:p>
        </p:txBody>
      </p:sp>
      <p:sp>
        <p:nvSpPr>
          <p:cNvPr id="29" name="Rounded Rectangle 28"/>
          <p:cNvSpPr/>
          <p:nvPr/>
        </p:nvSpPr>
        <p:spPr>
          <a:xfrm>
            <a:off x="4572000" y="4224528"/>
            <a:ext cx="7223760" cy="786384"/>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73168" y="4416552"/>
            <a:ext cx="402336" cy="40233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73168" y="4466844"/>
            <a:ext cx="402336" cy="402336"/>
          </a:xfrm>
          <a:prstGeom prst="rect">
            <a:avLst/>
          </a:prstGeom>
          <a:noFill/>
        </p:spPr>
        <p:txBody>
          <a:bodyPr wrap="square" lIns="0" rIns="0" tIns="0" bIns="0" anchor="t">
            <a:spAutoFit/>
          </a:bodyPr>
          <a:lstStyle/>
          <a:p>
            <a:pPr algn="ctr"/>
            <a:r>
              <a:rPr sz="1200" b="1">
                <a:solidFill>
                  <a:srgbClr val="FFFFFF"/>
                </a:solidFill>
                <a:latin typeface="Calibri"/>
              </a:rPr>
              <a:t>4</a:t>
            </a:r>
          </a:p>
        </p:txBody>
      </p:sp>
      <p:sp>
        <p:nvSpPr>
          <p:cNvPr id="32" name="TextBox 31"/>
          <p:cNvSpPr txBox="1"/>
          <p:nvPr/>
        </p:nvSpPr>
        <p:spPr>
          <a:xfrm>
            <a:off x="5349240" y="4343400"/>
            <a:ext cx="2834640" cy="292608"/>
          </a:xfrm>
          <a:prstGeom prst="rect">
            <a:avLst/>
          </a:prstGeom>
          <a:noFill/>
        </p:spPr>
        <p:txBody>
          <a:bodyPr wrap="square" lIns="0" rIns="0" tIns="0" bIns="0" anchor="t">
            <a:spAutoFit/>
          </a:bodyPr>
          <a:lstStyle/>
          <a:p>
            <a:pPr algn="l"/>
            <a:r>
              <a:rPr sz="1250" b="1">
                <a:solidFill>
                  <a:srgbClr val="0F172A"/>
                </a:solidFill>
                <a:latin typeface="Calibri"/>
              </a:rPr>
              <a:t>Alinear con la Agenda 2030</a:t>
            </a:r>
          </a:p>
        </p:txBody>
      </p:sp>
      <p:sp>
        <p:nvSpPr>
          <p:cNvPr id="33" name="TextBox 32"/>
          <p:cNvSpPr txBox="1"/>
          <p:nvPr/>
        </p:nvSpPr>
        <p:spPr>
          <a:xfrm>
            <a:off x="5349240" y="4663440"/>
            <a:ext cx="6217920" cy="310896"/>
          </a:xfrm>
          <a:prstGeom prst="rect">
            <a:avLst/>
          </a:prstGeom>
          <a:noFill/>
        </p:spPr>
        <p:txBody>
          <a:bodyPr wrap="square" lIns="0" rIns="0" tIns="0" bIns="0" anchor="t">
            <a:spAutoFit/>
          </a:bodyPr>
          <a:lstStyle/>
          <a:p>
            <a:pPr algn="l"/>
            <a:r>
              <a:rPr sz="1050" b="0">
                <a:solidFill>
                  <a:srgbClr val="64748B"/>
                </a:solidFill>
                <a:latin typeface="Calibri"/>
              </a:rPr>
              <a:t>Vincular los proyectos con los 17 ODS y con los ejes del plan nacional de desarrollo.</a:t>
            </a:r>
          </a:p>
        </p:txBody>
      </p:sp>
      <p:sp>
        <p:nvSpPr>
          <p:cNvPr id="34" name="Rounded Rectangle 33"/>
          <p:cNvSpPr/>
          <p:nvPr/>
        </p:nvSpPr>
        <p:spPr>
          <a:xfrm>
            <a:off x="4572000" y="5120640"/>
            <a:ext cx="7223760" cy="786384"/>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773168" y="5312664"/>
            <a:ext cx="402336" cy="40233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73168" y="5362955"/>
            <a:ext cx="402336" cy="402336"/>
          </a:xfrm>
          <a:prstGeom prst="rect">
            <a:avLst/>
          </a:prstGeom>
          <a:noFill/>
        </p:spPr>
        <p:txBody>
          <a:bodyPr wrap="square" lIns="0" rIns="0" tIns="0" bIns="0" anchor="t">
            <a:spAutoFit/>
          </a:bodyPr>
          <a:lstStyle/>
          <a:p>
            <a:pPr algn="ctr"/>
            <a:r>
              <a:rPr sz="1200" b="1">
                <a:solidFill>
                  <a:srgbClr val="FFFFFF"/>
                </a:solidFill>
                <a:latin typeface="Calibri"/>
              </a:rPr>
              <a:t>5</a:t>
            </a:r>
          </a:p>
        </p:txBody>
      </p:sp>
      <p:sp>
        <p:nvSpPr>
          <p:cNvPr id="37" name="TextBox 36"/>
          <p:cNvSpPr txBox="1"/>
          <p:nvPr/>
        </p:nvSpPr>
        <p:spPr>
          <a:xfrm>
            <a:off x="5349240" y="5239512"/>
            <a:ext cx="2834640" cy="292608"/>
          </a:xfrm>
          <a:prstGeom prst="rect">
            <a:avLst/>
          </a:prstGeom>
          <a:noFill/>
        </p:spPr>
        <p:txBody>
          <a:bodyPr wrap="square" lIns="0" rIns="0" tIns="0" bIns="0" anchor="t">
            <a:spAutoFit/>
          </a:bodyPr>
          <a:lstStyle/>
          <a:p>
            <a:pPr algn="l"/>
            <a:r>
              <a:rPr sz="1250" b="1">
                <a:solidFill>
                  <a:srgbClr val="0F172A"/>
                </a:solidFill>
                <a:latin typeface="Calibri"/>
              </a:rPr>
              <a:t>Rendir cuentas</a:t>
            </a:r>
          </a:p>
        </p:txBody>
      </p:sp>
      <p:sp>
        <p:nvSpPr>
          <p:cNvPr id="38" name="TextBox 37"/>
          <p:cNvSpPr txBox="1"/>
          <p:nvPr/>
        </p:nvSpPr>
        <p:spPr>
          <a:xfrm>
            <a:off x="5349240" y="5559552"/>
            <a:ext cx="6217920" cy="310896"/>
          </a:xfrm>
          <a:prstGeom prst="rect">
            <a:avLst/>
          </a:prstGeom>
          <a:noFill/>
        </p:spPr>
        <p:txBody>
          <a:bodyPr wrap="square" lIns="0" rIns="0" tIns="0" bIns="0" anchor="t">
            <a:spAutoFit/>
          </a:bodyPr>
          <a:lstStyle/>
          <a:p>
            <a:pPr algn="l"/>
            <a:r>
              <a:rPr sz="1050" b="0">
                <a:solidFill>
                  <a:srgbClr val="64748B"/>
                </a:solidFill>
                <a:latin typeface="Calibri"/>
              </a:rPr>
              <a:t>Producir la información oficial sobre la contribución de la UTN al desarrollo sostenible.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04 · DESCRIPCIÓN DE FUNCIONES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Funciones principales realizadas</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TextBox 6"/>
          <p:cNvSpPr txBox="1"/>
          <p:nvPr/>
        </p:nvSpPr>
        <p:spPr>
          <a:xfrm>
            <a:off x="365760" y="1051560"/>
            <a:ext cx="11430000" cy="320040"/>
          </a:xfrm>
          <a:prstGeom prst="rect">
            <a:avLst/>
          </a:prstGeom>
          <a:noFill/>
        </p:spPr>
        <p:txBody>
          <a:bodyPr wrap="square" lIns="0" rIns="0" tIns="0" bIns="0" anchor="t">
            <a:spAutoFit/>
          </a:bodyPr>
          <a:lstStyle/>
          <a:p>
            <a:pPr algn="l"/>
            <a:r>
              <a:rPr sz="1250" b="0">
                <a:solidFill>
                  <a:srgbClr val="475569"/>
                </a:solidFill>
                <a:latin typeface="Calibri"/>
              </a:rPr>
              <a:t>Al ser el único desarrollador del sistema, la práctica implicó asumir de forma secuencial los cinco roles técnicos del proyecto.</a:t>
            </a:r>
          </a:p>
        </p:txBody>
      </p:sp>
      <p:sp>
        <p:nvSpPr>
          <p:cNvPr id="8" name="Rounded Rectangle 7"/>
          <p:cNvSpPr/>
          <p:nvPr/>
        </p:nvSpPr>
        <p:spPr>
          <a:xfrm>
            <a:off x="365760" y="1554480"/>
            <a:ext cx="2148840" cy="33375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 y="1554480"/>
            <a:ext cx="2148840" cy="9144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28800"/>
            <a:ext cx="1783080" cy="640080"/>
          </a:xfrm>
          <a:prstGeom prst="rect">
            <a:avLst/>
          </a:prstGeom>
          <a:noFill/>
        </p:spPr>
        <p:txBody>
          <a:bodyPr wrap="square" lIns="0" rIns="0" tIns="0" bIns="0" anchor="t">
            <a:spAutoFit/>
          </a:bodyPr>
          <a:lstStyle/>
          <a:p>
            <a:pPr algn="l">
              <a:lnSpc>
                <a:spcPct val="108000"/>
              </a:lnSpc>
            </a:pPr>
            <a:r>
              <a:rPr sz="1300" b="1">
                <a:solidFill>
                  <a:srgbClr val="0F172A"/>
                </a:solidFill>
                <a:latin typeface="Calibri"/>
              </a:rPr>
              <a:t>Arquitectura de datos</a:t>
            </a:r>
          </a:p>
        </p:txBody>
      </p:sp>
      <p:sp>
        <p:nvSpPr>
          <p:cNvPr id="11" name="Rectangle 10"/>
          <p:cNvSpPr/>
          <p:nvPr/>
        </p:nvSpPr>
        <p:spPr>
          <a:xfrm>
            <a:off x="566928" y="2542032"/>
            <a:ext cx="685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706624"/>
            <a:ext cx="1810512" cy="2240280"/>
          </a:xfrm>
          <a:prstGeom prst="rect">
            <a:avLst/>
          </a:prstGeom>
          <a:noFill/>
        </p:spPr>
        <p:txBody>
          <a:bodyPr wrap="square" lIns="0" rIns="0" tIns="0" bIns="0" anchor="t">
            <a:spAutoFit/>
          </a:bodyPr>
          <a:lstStyle/>
          <a:p>
            <a:pPr algn="l">
              <a:lnSpc>
                <a:spcPct val="138000"/>
              </a:lnSpc>
            </a:pPr>
            <a:r>
              <a:rPr sz="1100" b="0">
                <a:solidFill>
                  <a:srgbClr val="475569"/>
                </a:solidFill>
                <a:latin typeface="Calibri"/>
              </a:rPr>
              <a:t>19 esquemas MariaDB</a:t>
            </a:r>
          </a:p>
          <a:p>
            <a:pPr algn="l">
              <a:lnSpc>
                <a:spcPct val="138000"/>
              </a:lnSpc>
            </a:pPr>
            <a:r>
              <a:rPr sz="1100" b="0">
                <a:solidFill>
                  <a:srgbClr val="475569"/>
                </a:solidFill>
                <a:latin typeface="Calibri"/>
              </a:rPr>
              <a:t>110 tablas · 54 vistas</a:t>
            </a:r>
          </a:p>
          <a:p>
            <a:pPr algn="l">
              <a:lnSpc>
                <a:spcPct val="138000"/>
              </a:lnSpc>
            </a:pPr>
            <a:r>
              <a:rPr sz="1100" b="0">
                <a:solidFill>
                  <a:srgbClr val="475569"/>
                </a:solidFill>
                <a:latin typeface="Calibri"/>
              </a:rPr>
              <a:t>Llaves foráneas entre esquemas</a:t>
            </a:r>
          </a:p>
          <a:p>
            <a:pPr algn="l">
              <a:lnSpc>
                <a:spcPct val="138000"/>
              </a:lnSpc>
            </a:pPr>
            <a:r>
              <a:rPr sz="1100" b="0">
                <a:solidFill>
                  <a:srgbClr val="475569"/>
                </a:solidFill>
                <a:latin typeface="Calibri"/>
              </a:rPr>
              <a:t>Triggers de auditoría por ODS</a:t>
            </a:r>
          </a:p>
          <a:p>
            <a:pPr algn="l">
              <a:lnSpc>
                <a:spcPct val="138000"/>
              </a:lnSpc>
            </a:pPr>
            <a:r>
              <a:rPr sz="1100" b="0">
                <a:solidFill>
                  <a:srgbClr val="475569"/>
                </a:solidFill>
                <a:latin typeface="Calibri"/>
              </a:rPr>
              <a:t>Catálogo de 239 indicadores</a:t>
            </a:r>
          </a:p>
        </p:txBody>
      </p:sp>
      <p:sp>
        <p:nvSpPr>
          <p:cNvPr id="13" name="Rounded Rectangle 12"/>
          <p:cNvSpPr/>
          <p:nvPr/>
        </p:nvSpPr>
        <p:spPr>
          <a:xfrm>
            <a:off x="2697479" y="1554480"/>
            <a:ext cx="2148840" cy="33375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697479" y="1554480"/>
            <a:ext cx="2148840" cy="914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8648" y="1828800"/>
            <a:ext cx="1783080" cy="640080"/>
          </a:xfrm>
          <a:prstGeom prst="rect">
            <a:avLst/>
          </a:prstGeom>
          <a:noFill/>
        </p:spPr>
        <p:txBody>
          <a:bodyPr wrap="square" lIns="0" rIns="0" tIns="0" bIns="0" anchor="t">
            <a:spAutoFit/>
          </a:bodyPr>
          <a:lstStyle/>
          <a:p>
            <a:pPr algn="l">
              <a:lnSpc>
                <a:spcPct val="108000"/>
              </a:lnSpc>
            </a:pPr>
            <a:r>
              <a:rPr sz="1300" b="1">
                <a:solidFill>
                  <a:srgbClr val="0F172A"/>
                </a:solidFill>
                <a:latin typeface="Calibri"/>
              </a:rPr>
              <a:t>Desarrollo backend</a:t>
            </a:r>
          </a:p>
        </p:txBody>
      </p:sp>
      <p:sp>
        <p:nvSpPr>
          <p:cNvPr id="16" name="Rectangle 15"/>
          <p:cNvSpPr/>
          <p:nvPr/>
        </p:nvSpPr>
        <p:spPr>
          <a:xfrm>
            <a:off x="2898648" y="2542032"/>
            <a:ext cx="685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98648" y="2706624"/>
            <a:ext cx="1810512" cy="2240280"/>
          </a:xfrm>
          <a:prstGeom prst="rect">
            <a:avLst/>
          </a:prstGeom>
          <a:noFill/>
        </p:spPr>
        <p:txBody>
          <a:bodyPr wrap="square" lIns="0" rIns="0" tIns="0" bIns="0" anchor="t">
            <a:spAutoFit/>
          </a:bodyPr>
          <a:lstStyle/>
          <a:p>
            <a:pPr algn="l">
              <a:lnSpc>
                <a:spcPct val="138000"/>
              </a:lnSpc>
            </a:pPr>
            <a:r>
              <a:rPr sz="1100" b="0">
                <a:solidFill>
                  <a:srgbClr val="475569"/>
                </a:solidFill>
                <a:latin typeface="Calibri"/>
              </a:rPr>
              <a:t>Spring Boot 3.5 + jOOQ</a:t>
            </a:r>
          </a:p>
          <a:p>
            <a:pPr algn="l">
              <a:lnSpc>
                <a:spcPct val="138000"/>
              </a:lnSpc>
            </a:pPr>
            <a:r>
              <a:rPr sz="1100" b="0">
                <a:solidFill>
                  <a:srgbClr val="475569"/>
                </a:solidFill>
                <a:latin typeface="Calibri"/>
              </a:rPr>
              <a:t>27 controladores REST</a:t>
            </a:r>
          </a:p>
          <a:p>
            <a:pPr algn="l">
              <a:lnSpc>
                <a:spcPct val="138000"/>
              </a:lnSpc>
            </a:pPr>
            <a:r>
              <a:rPr sz="1100" b="0">
                <a:solidFill>
                  <a:srgbClr val="475569"/>
                </a:solidFill>
                <a:latin typeface="Calibri"/>
              </a:rPr>
              <a:t>201 endpoints</a:t>
            </a:r>
          </a:p>
          <a:p>
            <a:pPr algn="l">
              <a:lnSpc>
                <a:spcPct val="138000"/>
              </a:lnSpc>
            </a:pPr>
            <a:r>
              <a:rPr sz="1100" b="0">
                <a:solidFill>
                  <a:srgbClr val="475569"/>
                </a:solidFill>
                <a:latin typeface="Calibri"/>
              </a:rPr>
              <a:t>Seguridad JWT por rol</a:t>
            </a:r>
          </a:p>
          <a:p>
            <a:pPr algn="l">
              <a:lnSpc>
                <a:spcPct val="138000"/>
              </a:lnSpc>
            </a:pPr>
            <a:r>
              <a:rPr sz="1100" b="0">
                <a:solidFill>
                  <a:srgbClr val="475569"/>
                </a:solidFill>
                <a:latin typeface="Calibri"/>
              </a:rPr>
              <a:t>Motor de fórmulas exp4j</a:t>
            </a:r>
          </a:p>
        </p:txBody>
      </p:sp>
      <p:sp>
        <p:nvSpPr>
          <p:cNvPr id="18" name="Rounded Rectangle 17"/>
          <p:cNvSpPr/>
          <p:nvPr/>
        </p:nvSpPr>
        <p:spPr>
          <a:xfrm>
            <a:off x="5029200" y="1554480"/>
            <a:ext cx="2148840" cy="33375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0" y="1554480"/>
            <a:ext cx="2148840" cy="9144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0368" y="1828800"/>
            <a:ext cx="1783080" cy="640080"/>
          </a:xfrm>
          <a:prstGeom prst="rect">
            <a:avLst/>
          </a:prstGeom>
          <a:noFill/>
        </p:spPr>
        <p:txBody>
          <a:bodyPr wrap="square" lIns="0" rIns="0" tIns="0" bIns="0" anchor="t">
            <a:spAutoFit/>
          </a:bodyPr>
          <a:lstStyle/>
          <a:p>
            <a:pPr algn="l">
              <a:lnSpc>
                <a:spcPct val="108000"/>
              </a:lnSpc>
            </a:pPr>
            <a:r>
              <a:rPr sz="1300" b="1">
                <a:solidFill>
                  <a:srgbClr val="0F172A"/>
                </a:solidFill>
                <a:latin typeface="Calibri"/>
              </a:rPr>
              <a:t>Desarrollo frontend</a:t>
            </a:r>
          </a:p>
        </p:txBody>
      </p:sp>
      <p:sp>
        <p:nvSpPr>
          <p:cNvPr id="21" name="Rectangle 20"/>
          <p:cNvSpPr/>
          <p:nvPr/>
        </p:nvSpPr>
        <p:spPr>
          <a:xfrm>
            <a:off x="5230368" y="2542032"/>
            <a:ext cx="685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30368" y="2706624"/>
            <a:ext cx="1810512" cy="2240280"/>
          </a:xfrm>
          <a:prstGeom prst="rect">
            <a:avLst/>
          </a:prstGeom>
          <a:noFill/>
        </p:spPr>
        <p:txBody>
          <a:bodyPr wrap="square" lIns="0" rIns="0" tIns="0" bIns="0" anchor="t">
            <a:spAutoFit/>
          </a:bodyPr>
          <a:lstStyle/>
          <a:p>
            <a:pPr algn="l">
              <a:lnSpc>
                <a:spcPct val="138000"/>
              </a:lnSpc>
            </a:pPr>
            <a:r>
              <a:rPr sz="1100" b="0">
                <a:solidFill>
                  <a:srgbClr val="475569"/>
                </a:solidFill>
                <a:latin typeface="Calibri"/>
              </a:rPr>
              <a:t>React 18 + Vite 5</a:t>
            </a:r>
          </a:p>
          <a:p>
            <a:pPr algn="l">
              <a:lnSpc>
                <a:spcPct val="138000"/>
              </a:lnSpc>
            </a:pPr>
            <a:r>
              <a:rPr sz="1100" b="0">
                <a:solidFill>
                  <a:srgbClr val="475569"/>
                </a:solidFill>
                <a:latin typeface="Calibri"/>
              </a:rPr>
              <a:t>10 páginas · 15 rutas</a:t>
            </a:r>
          </a:p>
          <a:p>
            <a:pPr algn="l">
              <a:lnSpc>
                <a:spcPct val="138000"/>
              </a:lnSpc>
            </a:pPr>
            <a:r>
              <a:rPr sz="1100" b="0">
                <a:solidFill>
                  <a:srgbClr val="475569"/>
                </a:solidFill>
                <a:latin typeface="Calibri"/>
              </a:rPr>
              <a:t>26 servicios Axios</a:t>
            </a:r>
          </a:p>
          <a:p>
            <a:pPr algn="l">
              <a:lnSpc>
                <a:spcPct val="138000"/>
              </a:lnSpc>
            </a:pPr>
            <a:r>
              <a:rPr sz="1100" b="0">
                <a:solidFill>
                  <a:srgbClr val="475569"/>
                </a:solidFill>
                <a:latin typeface="Calibri"/>
              </a:rPr>
              <a:t>40 hooks personalizados</a:t>
            </a:r>
          </a:p>
          <a:p>
            <a:pPr algn="l">
              <a:lnSpc>
                <a:spcPct val="138000"/>
              </a:lnSpc>
            </a:pPr>
            <a:r>
              <a:rPr sz="1100" b="0">
                <a:solidFill>
                  <a:srgbClr val="475569"/>
                </a:solidFill>
                <a:latin typeface="Calibri"/>
              </a:rPr>
              <a:t>Identidad gráfica UTN</a:t>
            </a:r>
          </a:p>
        </p:txBody>
      </p:sp>
      <p:sp>
        <p:nvSpPr>
          <p:cNvPr id="23" name="Rounded Rectangle 22"/>
          <p:cNvSpPr/>
          <p:nvPr/>
        </p:nvSpPr>
        <p:spPr>
          <a:xfrm>
            <a:off x="7360919" y="1554480"/>
            <a:ext cx="2148840" cy="33375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60919" y="1554480"/>
            <a:ext cx="2148840" cy="914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62088" y="1828800"/>
            <a:ext cx="1783080" cy="640080"/>
          </a:xfrm>
          <a:prstGeom prst="rect">
            <a:avLst/>
          </a:prstGeom>
          <a:noFill/>
        </p:spPr>
        <p:txBody>
          <a:bodyPr wrap="square" lIns="0" rIns="0" tIns="0" bIns="0" anchor="t">
            <a:spAutoFit/>
          </a:bodyPr>
          <a:lstStyle/>
          <a:p>
            <a:pPr algn="l">
              <a:lnSpc>
                <a:spcPct val="108000"/>
              </a:lnSpc>
            </a:pPr>
            <a:r>
              <a:rPr sz="1300" b="1">
                <a:solidFill>
                  <a:srgbClr val="0F172A"/>
                </a:solidFill>
                <a:latin typeface="Calibri"/>
              </a:rPr>
              <a:t>Pruebas y calidad</a:t>
            </a:r>
          </a:p>
        </p:txBody>
      </p:sp>
      <p:sp>
        <p:nvSpPr>
          <p:cNvPr id="26" name="Rectangle 25"/>
          <p:cNvSpPr/>
          <p:nvPr/>
        </p:nvSpPr>
        <p:spPr>
          <a:xfrm>
            <a:off x="7562088" y="2542032"/>
            <a:ext cx="685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2088" y="2706624"/>
            <a:ext cx="1810512" cy="2240280"/>
          </a:xfrm>
          <a:prstGeom prst="rect">
            <a:avLst/>
          </a:prstGeom>
          <a:noFill/>
        </p:spPr>
        <p:txBody>
          <a:bodyPr wrap="square" lIns="0" rIns="0" tIns="0" bIns="0" anchor="t">
            <a:spAutoFit/>
          </a:bodyPr>
          <a:lstStyle/>
          <a:p>
            <a:pPr algn="l">
              <a:lnSpc>
                <a:spcPct val="138000"/>
              </a:lnSpc>
            </a:pPr>
            <a:r>
              <a:rPr sz="1100" b="0">
                <a:solidFill>
                  <a:srgbClr val="475569"/>
                </a:solidFill>
                <a:latin typeface="Calibri"/>
              </a:rPr>
              <a:t>36 archivos .http de prueba</a:t>
            </a:r>
          </a:p>
          <a:p>
            <a:pPr algn="l">
              <a:lnSpc>
                <a:spcPct val="138000"/>
              </a:lnSpc>
            </a:pPr>
            <a:r>
              <a:rPr sz="1100" b="0">
                <a:solidFill>
                  <a:srgbClr val="475569"/>
                </a:solidFill>
                <a:latin typeface="Calibri"/>
              </a:rPr>
              <a:t>Pruebas unitarias JUnit</a:t>
            </a:r>
          </a:p>
          <a:p>
            <a:pPr algn="l">
              <a:lnSpc>
                <a:spcPct val="138000"/>
              </a:lnSpc>
            </a:pPr>
            <a:r>
              <a:rPr sz="1100" b="0">
                <a:solidFill>
                  <a:srgbClr val="475569"/>
                </a:solidFill>
                <a:latin typeface="Calibri"/>
              </a:rPr>
              <a:t>Pruebas por rol de usuario</a:t>
            </a:r>
          </a:p>
          <a:p>
            <a:pPr algn="l">
              <a:lnSpc>
                <a:spcPct val="138000"/>
              </a:lnSpc>
            </a:pPr>
            <a:r>
              <a:rPr sz="1100" b="0">
                <a:solidFill>
                  <a:srgbClr val="475569"/>
                </a:solidFill>
                <a:latin typeface="Calibri"/>
              </a:rPr>
              <a:t>Datos de prueba reproducibles</a:t>
            </a:r>
          </a:p>
          <a:p>
            <a:pPr algn="l">
              <a:lnSpc>
                <a:spcPct val="138000"/>
              </a:lnSpc>
            </a:pPr>
            <a:r>
              <a:rPr sz="1100" b="0">
                <a:solidFill>
                  <a:srgbClr val="475569"/>
                </a:solidFill>
                <a:latin typeface="Calibri"/>
              </a:rPr>
              <a:t>Flujo completo extremo a extremo</a:t>
            </a:r>
          </a:p>
        </p:txBody>
      </p:sp>
      <p:sp>
        <p:nvSpPr>
          <p:cNvPr id="28" name="Rounded Rectangle 27"/>
          <p:cNvSpPr/>
          <p:nvPr/>
        </p:nvSpPr>
        <p:spPr>
          <a:xfrm>
            <a:off x="9692640" y="1554480"/>
            <a:ext cx="2148840" cy="333756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92640" y="1554480"/>
            <a:ext cx="2148840" cy="9144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93808" y="1828800"/>
            <a:ext cx="1783080" cy="640080"/>
          </a:xfrm>
          <a:prstGeom prst="rect">
            <a:avLst/>
          </a:prstGeom>
          <a:noFill/>
        </p:spPr>
        <p:txBody>
          <a:bodyPr wrap="square" lIns="0" rIns="0" tIns="0" bIns="0" anchor="t">
            <a:spAutoFit/>
          </a:bodyPr>
          <a:lstStyle/>
          <a:p>
            <a:pPr algn="l">
              <a:lnSpc>
                <a:spcPct val="108000"/>
              </a:lnSpc>
            </a:pPr>
            <a:r>
              <a:rPr sz="1300" b="1">
                <a:solidFill>
                  <a:srgbClr val="0F172A"/>
                </a:solidFill>
                <a:latin typeface="Calibri"/>
              </a:rPr>
              <a:t>Documentación y coordinación</a:t>
            </a:r>
          </a:p>
        </p:txBody>
      </p:sp>
      <p:sp>
        <p:nvSpPr>
          <p:cNvPr id="31" name="Rectangle 30"/>
          <p:cNvSpPr/>
          <p:nvPr/>
        </p:nvSpPr>
        <p:spPr>
          <a:xfrm>
            <a:off x="9893808" y="2542032"/>
            <a:ext cx="685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93808" y="2706624"/>
            <a:ext cx="1810512" cy="2240280"/>
          </a:xfrm>
          <a:prstGeom prst="rect">
            <a:avLst/>
          </a:prstGeom>
          <a:noFill/>
        </p:spPr>
        <p:txBody>
          <a:bodyPr wrap="square" lIns="0" rIns="0" tIns="0" bIns="0" anchor="t">
            <a:spAutoFit/>
          </a:bodyPr>
          <a:lstStyle/>
          <a:p>
            <a:pPr algn="l">
              <a:lnSpc>
                <a:spcPct val="138000"/>
              </a:lnSpc>
            </a:pPr>
            <a:r>
              <a:rPr sz="1100" b="0">
                <a:solidFill>
                  <a:srgbClr val="475569"/>
                </a:solidFill>
                <a:latin typeface="Calibri"/>
              </a:rPr>
              <a:t>README técnico de instalación</a:t>
            </a:r>
          </a:p>
          <a:p>
            <a:pPr algn="l">
              <a:lnSpc>
                <a:spcPct val="138000"/>
              </a:lnSpc>
            </a:pPr>
            <a:r>
              <a:rPr sz="1100" b="0">
                <a:solidFill>
                  <a:srgbClr val="475569"/>
                </a:solidFill>
                <a:latin typeface="Calibri"/>
              </a:rPr>
              <a:t>Documentación de interfaces</a:t>
            </a:r>
          </a:p>
          <a:p>
            <a:pPr algn="l">
              <a:lnSpc>
                <a:spcPct val="138000"/>
              </a:lnSpc>
            </a:pPr>
            <a:r>
              <a:rPr sz="1100" b="0">
                <a:solidFill>
                  <a:srgbClr val="475569"/>
                </a:solidFill>
                <a:latin typeface="Calibri"/>
              </a:rPr>
              <a:t>14 bitácoras semanales firmadas</a:t>
            </a:r>
          </a:p>
          <a:p>
            <a:pPr algn="l">
              <a:lnSpc>
                <a:spcPct val="138000"/>
              </a:lnSpc>
            </a:pPr>
            <a:r>
              <a:rPr sz="1100" b="0">
                <a:solidFill>
                  <a:srgbClr val="475569"/>
                </a:solidFill>
                <a:latin typeface="Calibri"/>
              </a:rPr>
              <a:t>Reuniones con el supervisor</a:t>
            </a:r>
          </a:p>
          <a:p>
            <a:pPr algn="l">
              <a:lnSpc>
                <a:spcPct val="138000"/>
              </a:lnSpc>
            </a:pPr>
            <a:r>
              <a:rPr sz="1100" b="0">
                <a:solidFill>
                  <a:srgbClr val="475569"/>
                </a:solidFill>
                <a:latin typeface="Calibri"/>
              </a:rPr>
              <a:t>Gestión del trabajo por sprints</a:t>
            </a:r>
          </a:p>
        </p:txBody>
      </p:sp>
      <p:sp>
        <p:nvSpPr>
          <p:cNvPr id="33" name="Rounded Rectangle 32"/>
          <p:cNvSpPr/>
          <p:nvPr/>
        </p:nvSpPr>
        <p:spPr>
          <a:xfrm>
            <a:off x="365760" y="5138928"/>
            <a:ext cx="11430000" cy="868680"/>
          </a:xfrm>
          <a:prstGeom prst="roundRect">
            <a:avLst>
              <a:gd name="adj" fmla="val 1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321808"/>
            <a:ext cx="10881360" cy="548640"/>
          </a:xfrm>
          <a:prstGeom prst="rect">
            <a:avLst/>
          </a:prstGeom>
          <a:noFill/>
        </p:spPr>
        <p:txBody>
          <a:bodyPr wrap="square" lIns="0" rIns="0" tIns="0" bIns="0" anchor="t">
            <a:spAutoFit/>
          </a:bodyPr>
          <a:lstStyle/>
          <a:p>
            <a:pPr algn="l">
              <a:lnSpc>
                <a:spcPct val="118000"/>
              </a:lnSpc>
            </a:pPr>
            <a:r>
              <a:rPr sz="1200" b="0">
                <a:solidFill>
                  <a:srgbClr val="CADCFC"/>
                </a:solidFill>
                <a:latin typeface="Calibri"/>
              </a:rPr>
              <a:t>El trabajo se organizó por incrementos verificables: cada cambio pasaba por base de datos, backend, archivo .http de prueba y frontend antes de darse por terminado, y se reportaba en la bitácora semanal firmada por el supervisor.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05 · RESULTADOS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Arquitectura de la solución</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88720"/>
            <a:ext cx="11430000" cy="105156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4572000" cy="274320"/>
          </a:xfrm>
          <a:prstGeom prst="rect">
            <a:avLst/>
          </a:prstGeom>
          <a:noFill/>
        </p:spPr>
        <p:txBody>
          <a:bodyPr wrap="square" lIns="0" rIns="0" tIns="0" bIns="0" anchor="t">
            <a:spAutoFit/>
          </a:bodyPr>
          <a:lstStyle/>
          <a:p>
            <a:pPr algn="l"/>
            <a:r>
              <a:rPr sz="1100" b="1">
                <a:solidFill>
                  <a:srgbClr val="F59E0B"/>
                </a:solidFill>
                <a:latin typeface="Calibri"/>
              </a:rPr>
              <a:t>CAPA DE PRESENTACIÓN</a:t>
            </a:r>
          </a:p>
        </p:txBody>
      </p:sp>
      <p:sp>
        <p:nvSpPr>
          <p:cNvPr id="9" name="TextBox 8"/>
          <p:cNvSpPr txBox="1"/>
          <p:nvPr/>
        </p:nvSpPr>
        <p:spPr>
          <a:xfrm>
            <a:off x="685800" y="1609344"/>
            <a:ext cx="5943600" cy="292608"/>
          </a:xfrm>
          <a:prstGeom prst="rect">
            <a:avLst/>
          </a:prstGeom>
          <a:noFill/>
        </p:spPr>
        <p:txBody>
          <a:bodyPr wrap="square" lIns="0" rIns="0" tIns="0" bIns="0" anchor="t">
            <a:spAutoFit/>
          </a:bodyPr>
          <a:lstStyle/>
          <a:p>
            <a:pPr algn="l"/>
            <a:r>
              <a:rPr sz="1400" b="1">
                <a:solidFill>
                  <a:srgbClr val="FFFFFF"/>
                </a:solidFill>
                <a:latin typeface="Calibri"/>
              </a:rPr>
              <a:t>React 18 · Vite 5 · Axios</a:t>
            </a:r>
          </a:p>
        </p:txBody>
      </p:sp>
      <p:sp>
        <p:nvSpPr>
          <p:cNvPr id="10" name="TextBox 9"/>
          <p:cNvSpPr txBox="1"/>
          <p:nvPr/>
        </p:nvSpPr>
        <p:spPr>
          <a:xfrm>
            <a:off x="685800" y="1938528"/>
            <a:ext cx="10789920" cy="237744"/>
          </a:xfrm>
          <a:prstGeom prst="rect">
            <a:avLst/>
          </a:prstGeom>
          <a:noFill/>
        </p:spPr>
        <p:txBody>
          <a:bodyPr wrap="square" lIns="0" rIns="0" tIns="0" bIns="0" anchor="t">
            <a:spAutoFit/>
          </a:bodyPr>
          <a:lstStyle/>
          <a:p>
            <a:pPr algn="l"/>
            <a:r>
              <a:rPr sz="1100" b="0">
                <a:solidFill>
                  <a:srgbClr val="CADCFC"/>
                </a:solidFill>
                <a:latin typeface="Calibri"/>
              </a:rPr>
              <a:t>10 páginas  ·  15 rutas protegidas por rol  ·  26 servicios  ·  40 hooks  ·  identidad gráfica UTN</a:t>
            </a:r>
          </a:p>
        </p:txBody>
      </p:sp>
      <p:sp>
        <p:nvSpPr>
          <p:cNvPr id="11" name="Rectangle 10"/>
          <p:cNvSpPr/>
          <p:nvPr/>
        </p:nvSpPr>
        <p:spPr>
          <a:xfrm>
            <a:off x="6053328" y="2240280"/>
            <a:ext cx="54864" cy="15544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2395728"/>
            <a:ext cx="11430000" cy="105156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532888"/>
            <a:ext cx="4572000" cy="274320"/>
          </a:xfrm>
          <a:prstGeom prst="rect">
            <a:avLst/>
          </a:prstGeom>
          <a:noFill/>
        </p:spPr>
        <p:txBody>
          <a:bodyPr wrap="square" lIns="0" rIns="0" tIns="0" bIns="0" anchor="t">
            <a:spAutoFit/>
          </a:bodyPr>
          <a:lstStyle/>
          <a:p>
            <a:pPr algn="l"/>
            <a:r>
              <a:rPr sz="1100" b="1">
                <a:solidFill>
                  <a:srgbClr val="F59E0B"/>
                </a:solidFill>
                <a:latin typeface="Calibri"/>
              </a:rPr>
              <a:t>CAPA DE APLICACIÓN</a:t>
            </a:r>
          </a:p>
        </p:txBody>
      </p:sp>
      <p:sp>
        <p:nvSpPr>
          <p:cNvPr id="14" name="TextBox 13"/>
          <p:cNvSpPr txBox="1"/>
          <p:nvPr/>
        </p:nvSpPr>
        <p:spPr>
          <a:xfrm>
            <a:off x="685800" y="2816352"/>
            <a:ext cx="5943600" cy="292608"/>
          </a:xfrm>
          <a:prstGeom prst="rect">
            <a:avLst/>
          </a:prstGeom>
          <a:noFill/>
        </p:spPr>
        <p:txBody>
          <a:bodyPr wrap="square" lIns="0" rIns="0" tIns="0" bIns="0" anchor="t">
            <a:spAutoFit/>
          </a:bodyPr>
          <a:lstStyle/>
          <a:p>
            <a:pPr algn="l"/>
            <a:r>
              <a:rPr sz="1400" b="1">
                <a:solidFill>
                  <a:srgbClr val="FFFFFF"/>
                </a:solidFill>
                <a:latin typeface="Calibri"/>
              </a:rPr>
              <a:t>Spring Boot 3.5 · Java 21 · jOOQ 3.19.6</a:t>
            </a:r>
          </a:p>
        </p:txBody>
      </p:sp>
      <p:sp>
        <p:nvSpPr>
          <p:cNvPr id="15" name="TextBox 14"/>
          <p:cNvSpPr txBox="1"/>
          <p:nvPr/>
        </p:nvSpPr>
        <p:spPr>
          <a:xfrm>
            <a:off x="685800" y="3145536"/>
            <a:ext cx="10789920" cy="237744"/>
          </a:xfrm>
          <a:prstGeom prst="rect">
            <a:avLst/>
          </a:prstGeom>
          <a:noFill/>
        </p:spPr>
        <p:txBody>
          <a:bodyPr wrap="square" lIns="0" rIns="0" tIns="0" bIns="0" anchor="t">
            <a:spAutoFit/>
          </a:bodyPr>
          <a:lstStyle/>
          <a:p>
            <a:pPr algn="l"/>
            <a:r>
              <a:rPr sz="1100" b="0">
                <a:solidFill>
                  <a:srgbClr val="CADCFC"/>
                </a:solidFill>
                <a:latin typeface="Calibri"/>
              </a:rPr>
              <a:t>27 controladores  ·  201 endpoints REST  ·  JWT por rol  ·  motor exp4j  ·  export Apache POI</a:t>
            </a:r>
          </a:p>
        </p:txBody>
      </p:sp>
      <p:sp>
        <p:nvSpPr>
          <p:cNvPr id="16" name="Rectangle 15"/>
          <p:cNvSpPr/>
          <p:nvPr/>
        </p:nvSpPr>
        <p:spPr>
          <a:xfrm>
            <a:off x="6053328" y="3447288"/>
            <a:ext cx="54864" cy="15544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5760" y="3602736"/>
            <a:ext cx="11430000" cy="1051560"/>
          </a:xfrm>
          <a:prstGeom prst="roundRect">
            <a:avLst>
              <a:gd name="adj" fmla="val 1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739896"/>
            <a:ext cx="4572000" cy="274320"/>
          </a:xfrm>
          <a:prstGeom prst="rect">
            <a:avLst/>
          </a:prstGeom>
          <a:noFill/>
        </p:spPr>
        <p:txBody>
          <a:bodyPr wrap="square" lIns="0" rIns="0" tIns="0" bIns="0" anchor="t">
            <a:spAutoFit/>
          </a:bodyPr>
          <a:lstStyle/>
          <a:p>
            <a:pPr algn="l"/>
            <a:r>
              <a:rPr sz="1100" b="1">
                <a:solidFill>
                  <a:srgbClr val="F59E0B"/>
                </a:solidFill>
                <a:latin typeface="Calibri"/>
              </a:rPr>
              <a:t>CAPA DE DATOS</a:t>
            </a:r>
          </a:p>
        </p:txBody>
      </p:sp>
      <p:sp>
        <p:nvSpPr>
          <p:cNvPr id="19" name="TextBox 18"/>
          <p:cNvSpPr txBox="1"/>
          <p:nvPr/>
        </p:nvSpPr>
        <p:spPr>
          <a:xfrm>
            <a:off x="685800" y="4023360"/>
            <a:ext cx="5943600" cy="292608"/>
          </a:xfrm>
          <a:prstGeom prst="rect">
            <a:avLst/>
          </a:prstGeom>
          <a:noFill/>
        </p:spPr>
        <p:txBody>
          <a:bodyPr wrap="square" lIns="0" rIns="0" tIns="0" bIns="0" anchor="t">
            <a:spAutoFit/>
          </a:bodyPr>
          <a:lstStyle/>
          <a:p>
            <a:pPr algn="l"/>
            <a:r>
              <a:rPr sz="1400" b="1">
                <a:solidFill>
                  <a:srgbClr val="FFFFFF"/>
                </a:solidFill>
                <a:latin typeface="Calibri"/>
              </a:rPr>
              <a:t>MariaDB 10.11 · 19 esquemas</a:t>
            </a:r>
          </a:p>
        </p:txBody>
      </p:sp>
      <p:sp>
        <p:nvSpPr>
          <p:cNvPr id="20" name="TextBox 19"/>
          <p:cNvSpPr txBox="1"/>
          <p:nvPr/>
        </p:nvSpPr>
        <p:spPr>
          <a:xfrm>
            <a:off x="685800" y="4352544"/>
            <a:ext cx="10789920" cy="237744"/>
          </a:xfrm>
          <a:prstGeom prst="rect">
            <a:avLst/>
          </a:prstGeom>
          <a:noFill/>
        </p:spPr>
        <p:txBody>
          <a:bodyPr wrap="square" lIns="0" rIns="0" tIns="0" bIns="0" anchor="t">
            <a:spAutoFit/>
          </a:bodyPr>
          <a:lstStyle/>
          <a:p>
            <a:pPr algn="l"/>
            <a:r>
              <a:rPr sz="1100" b="0">
                <a:solidFill>
                  <a:srgbClr val="CADCFC"/>
                </a:solidFill>
                <a:latin typeface="Calibri"/>
              </a:rPr>
              <a:t>110 tablas  ·  54 vistas  ·  llaves foráneas entre esquemas  ·  triggers de auditoría</a:t>
            </a:r>
          </a:p>
        </p:txBody>
      </p:sp>
      <p:sp>
        <p:nvSpPr>
          <p:cNvPr id="21" name="TextBox 20"/>
          <p:cNvSpPr txBox="1"/>
          <p:nvPr/>
        </p:nvSpPr>
        <p:spPr>
          <a:xfrm>
            <a:off x="365760" y="4791456"/>
            <a:ext cx="7315200" cy="228600"/>
          </a:xfrm>
          <a:prstGeom prst="rect">
            <a:avLst/>
          </a:prstGeom>
          <a:noFill/>
        </p:spPr>
        <p:txBody>
          <a:bodyPr wrap="square" lIns="0" rIns="0" tIns="0" bIns="0" anchor="t">
            <a:spAutoFit/>
          </a:bodyPr>
          <a:lstStyle/>
          <a:p>
            <a:pPr algn="l"/>
            <a:r>
              <a:rPr sz="1100" b="1">
                <a:solidFill>
                  <a:srgbClr val="1C7293"/>
                </a:solidFill>
                <a:latin typeface="Calibri"/>
              </a:rPr>
              <a:t>MODELO DE DATOS: UN ESQUEMA POR OBJETIVO</a:t>
            </a:r>
          </a:p>
        </p:txBody>
      </p:sp>
      <p:sp>
        <p:nvSpPr>
          <p:cNvPr id="22" name="Rounded Rectangle 21"/>
          <p:cNvSpPr/>
          <p:nvPr/>
        </p:nvSpPr>
        <p:spPr>
          <a:xfrm>
            <a:off x="365760" y="5102352"/>
            <a:ext cx="3630168" cy="11338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65760" y="5102352"/>
            <a:ext cx="82296" cy="1133856"/>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212080"/>
            <a:ext cx="3200400" cy="256032"/>
          </a:xfrm>
          <a:prstGeom prst="rect">
            <a:avLst/>
          </a:prstGeom>
          <a:noFill/>
        </p:spPr>
        <p:txBody>
          <a:bodyPr wrap="square" lIns="0" rIns="0" tIns="0" bIns="0" anchor="t">
            <a:spAutoFit/>
          </a:bodyPr>
          <a:lstStyle/>
          <a:p>
            <a:pPr algn="l"/>
            <a:r>
              <a:rPr sz="1300" b="1">
                <a:solidFill>
                  <a:srgbClr val="21295C"/>
                </a:solidFill>
                <a:latin typeface="Consolas"/>
              </a:rPr>
              <a:t>ods_login</a:t>
            </a:r>
          </a:p>
        </p:txBody>
      </p:sp>
      <p:sp>
        <p:nvSpPr>
          <p:cNvPr id="25" name="TextBox 24"/>
          <p:cNvSpPr txBox="1"/>
          <p:nvPr/>
        </p:nvSpPr>
        <p:spPr>
          <a:xfrm>
            <a:off x="640080" y="5504688"/>
            <a:ext cx="3246120" cy="658368"/>
          </a:xfrm>
          <a:prstGeom prst="rect">
            <a:avLst/>
          </a:prstGeom>
          <a:noFill/>
        </p:spPr>
        <p:txBody>
          <a:bodyPr wrap="square" lIns="0" rIns="0" tIns="0" bIns="0" anchor="t">
            <a:spAutoFit/>
          </a:bodyPr>
          <a:lstStyle/>
          <a:p>
            <a:pPr algn="l">
              <a:lnSpc>
                <a:spcPct val="118000"/>
              </a:lnSpc>
            </a:pPr>
            <a:r>
              <a:rPr sz="1050" b="0">
                <a:solidFill>
                  <a:srgbClr val="64748B"/>
                </a:solidFill>
                <a:latin typeface="Calibri"/>
              </a:rPr>
              <a:t>usuarios · roles · sedes  ·  catálogo 17 ODS  ·  239 indicadores  ·  bitácora de accesos</a:t>
            </a:r>
          </a:p>
        </p:txBody>
      </p:sp>
      <p:sp>
        <p:nvSpPr>
          <p:cNvPr id="26" name="Rounded Rectangle 25"/>
          <p:cNvSpPr/>
          <p:nvPr/>
        </p:nvSpPr>
        <p:spPr>
          <a:xfrm>
            <a:off x="4261104" y="5102352"/>
            <a:ext cx="3630168" cy="11338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261104" y="5102352"/>
            <a:ext cx="82296" cy="113385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35424" y="5212080"/>
            <a:ext cx="3200400" cy="256032"/>
          </a:xfrm>
          <a:prstGeom prst="rect">
            <a:avLst/>
          </a:prstGeom>
          <a:noFill/>
        </p:spPr>
        <p:txBody>
          <a:bodyPr wrap="square" lIns="0" rIns="0" tIns="0" bIns="0" anchor="t">
            <a:spAutoFit/>
          </a:bodyPr>
          <a:lstStyle/>
          <a:p>
            <a:pPr algn="l"/>
            <a:r>
              <a:rPr sz="1300" b="1">
                <a:solidFill>
                  <a:srgbClr val="065A82"/>
                </a:solidFill>
                <a:latin typeface="Consolas"/>
              </a:rPr>
              <a:t>ods_master</a:t>
            </a:r>
          </a:p>
        </p:txBody>
      </p:sp>
      <p:sp>
        <p:nvSpPr>
          <p:cNvPr id="29" name="TextBox 28"/>
          <p:cNvSpPr txBox="1"/>
          <p:nvPr/>
        </p:nvSpPr>
        <p:spPr>
          <a:xfrm>
            <a:off x="4535424" y="5504688"/>
            <a:ext cx="3246120" cy="658368"/>
          </a:xfrm>
          <a:prstGeom prst="rect">
            <a:avLst/>
          </a:prstGeom>
          <a:noFill/>
        </p:spPr>
        <p:txBody>
          <a:bodyPr wrap="square" lIns="0" rIns="0" tIns="0" bIns="0" anchor="t">
            <a:spAutoFit/>
          </a:bodyPr>
          <a:lstStyle/>
          <a:p>
            <a:pPr algn="l">
              <a:lnSpc>
                <a:spcPct val="118000"/>
              </a:lnSpc>
            </a:pPr>
            <a:r>
              <a:rPr sz="1050" b="0">
                <a:solidFill>
                  <a:srgbClr val="64748B"/>
                </a:solidFill>
                <a:latin typeface="Calibri"/>
              </a:rPr>
              <a:t>proyectos · proyecto_ods  ·  evidencias · chat  ·  transiciones de estado</a:t>
            </a:r>
          </a:p>
        </p:txBody>
      </p:sp>
      <p:sp>
        <p:nvSpPr>
          <p:cNvPr id="30" name="Rounded Rectangle 29"/>
          <p:cNvSpPr/>
          <p:nvPr/>
        </p:nvSpPr>
        <p:spPr>
          <a:xfrm>
            <a:off x="8156448" y="5102352"/>
            <a:ext cx="3630168" cy="11338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56448" y="5102352"/>
            <a:ext cx="82296" cy="113385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30768" y="5212080"/>
            <a:ext cx="3200400" cy="256032"/>
          </a:xfrm>
          <a:prstGeom prst="rect">
            <a:avLst/>
          </a:prstGeom>
          <a:noFill/>
        </p:spPr>
        <p:txBody>
          <a:bodyPr wrap="square" lIns="0" rIns="0" tIns="0" bIns="0" anchor="t">
            <a:spAutoFit/>
          </a:bodyPr>
          <a:lstStyle/>
          <a:p>
            <a:pPr algn="l"/>
            <a:r>
              <a:rPr sz="1300" b="1">
                <a:solidFill>
                  <a:srgbClr val="1C7293"/>
                </a:solidFill>
                <a:latin typeface="Consolas"/>
              </a:rPr>
              <a:t>ods01 … ods17</a:t>
            </a:r>
          </a:p>
        </p:txBody>
      </p:sp>
      <p:sp>
        <p:nvSpPr>
          <p:cNvPr id="33" name="TextBox 32"/>
          <p:cNvSpPr txBox="1"/>
          <p:nvPr/>
        </p:nvSpPr>
        <p:spPr>
          <a:xfrm>
            <a:off x="8430768" y="5504688"/>
            <a:ext cx="3246120" cy="658368"/>
          </a:xfrm>
          <a:prstGeom prst="rect">
            <a:avLst/>
          </a:prstGeom>
          <a:noFill/>
        </p:spPr>
        <p:txBody>
          <a:bodyPr wrap="square" lIns="0" rIns="0" tIns="0" bIns="0" anchor="t">
            <a:spAutoFit/>
          </a:bodyPr>
          <a:lstStyle/>
          <a:p>
            <a:pPr algn="l">
              <a:lnSpc>
                <a:spcPct val="118000"/>
              </a:lnSpc>
            </a:pPr>
            <a:r>
              <a:rPr sz="1050" b="0">
                <a:solidFill>
                  <a:srgbClr val="64748B"/>
                </a:solidFill>
                <a:latin typeface="Calibri"/>
              </a:rPr>
              <a:t>indicadores del proyecto  ·  parámetros libres  ·  mediciones históricas  ·  auditoría propia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05 · RESULTADOS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Flujo de trabajo: roles y estados del proyecto</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097280"/>
            <a:ext cx="11430000" cy="658368"/>
          </a:xfrm>
          <a:prstGeom prst="roundRect">
            <a:avLst>
              <a:gd name="adj" fmla="val 2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61872"/>
            <a:ext cx="10881360" cy="365760"/>
          </a:xfrm>
          <a:prstGeom prst="rect">
            <a:avLst/>
          </a:prstGeom>
          <a:noFill/>
        </p:spPr>
        <p:txBody>
          <a:bodyPr wrap="square" lIns="0" rIns="0" tIns="0" bIns="0" anchor="t">
            <a:spAutoFit/>
          </a:bodyPr>
          <a:lstStyle/>
          <a:p>
            <a:pPr algn="l"/>
            <a:r>
              <a:rPr sz="1400" b="1">
                <a:solidFill>
                  <a:srgbClr val="21295C"/>
                </a:solidFill>
                <a:latin typeface="Calibri"/>
              </a:rPr>
              <a:t>Regla institucional que define el sistema:  «el que propone no mide, y el que mide no propone».</a:t>
            </a:r>
          </a:p>
        </p:txBody>
      </p:sp>
      <p:sp>
        <p:nvSpPr>
          <p:cNvPr id="9" name="Rounded Rectangle 8"/>
          <p:cNvSpPr/>
          <p:nvPr/>
        </p:nvSpPr>
        <p:spPr>
          <a:xfrm>
            <a:off x="502920" y="2011680"/>
            <a:ext cx="2423160" cy="123444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12848"/>
            <a:ext cx="2423160" cy="292608"/>
          </a:xfrm>
          <a:prstGeom prst="rect">
            <a:avLst/>
          </a:prstGeom>
          <a:noFill/>
        </p:spPr>
        <p:txBody>
          <a:bodyPr wrap="square" lIns="0" rIns="0" tIns="0" bIns="0" anchor="t">
            <a:spAutoFit/>
          </a:bodyPr>
          <a:lstStyle/>
          <a:p>
            <a:pPr algn="ctr"/>
            <a:r>
              <a:rPr sz="1500" b="1">
                <a:solidFill>
                  <a:srgbClr val="FFFFFF"/>
                </a:solidFill>
                <a:latin typeface="Calibri"/>
              </a:rPr>
              <a:t>Planificación</a:t>
            </a:r>
          </a:p>
        </p:txBody>
      </p:sp>
      <p:sp>
        <p:nvSpPr>
          <p:cNvPr id="11" name="TextBox 10"/>
          <p:cNvSpPr txBox="1"/>
          <p:nvPr/>
        </p:nvSpPr>
        <p:spPr>
          <a:xfrm>
            <a:off x="502920" y="2578608"/>
            <a:ext cx="2423160" cy="566928"/>
          </a:xfrm>
          <a:prstGeom prst="rect">
            <a:avLst/>
          </a:prstGeom>
          <a:noFill/>
        </p:spPr>
        <p:txBody>
          <a:bodyPr wrap="square" lIns="0" rIns="0" tIns="0" bIns="0" anchor="t">
            <a:spAutoFit/>
          </a:bodyPr>
          <a:lstStyle/>
          <a:p>
            <a:pPr algn="ctr">
              <a:lnSpc>
                <a:spcPct val="112000"/>
              </a:lnSpc>
            </a:pPr>
            <a:r>
              <a:rPr sz="1100" b="0">
                <a:solidFill>
                  <a:srgbClr val="CADCFC"/>
                </a:solidFill>
                <a:latin typeface="Calibri"/>
              </a:rPr>
              <a:t>El gestor formula</a:t>
            </a:r>
          </a:p>
          <a:p>
            <a:pPr algn="ctr">
              <a:lnSpc>
                <a:spcPct val="112000"/>
              </a:lnSpc>
            </a:pPr>
            <a:r>
              <a:rPr sz="1100" b="0">
                <a:solidFill>
                  <a:srgbClr val="CADCFC"/>
                </a:solidFill>
                <a:latin typeface="Calibri"/>
              </a:rPr>
              <a:t>el proyecto</a:t>
            </a:r>
          </a:p>
        </p:txBody>
      </p:sp>
      <p:sp>
        <p:nvSpPr>
          <p:cNvPr id="12" name="Rectangle 11"/>
          <p:cNvSpPr/>
          <p:nvPr/>
        </p:nvSpPr>
        <p:spPr>
          <a:xfrm>
            <a:off x="2971800" y="2587752"/>
            <a:ext cx="38404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29000" y="2011680"/>
            <a:ext cx="2423160" cy="123444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2212848"/>
            <a:ext cx="2423160" cy="292608"/>
          </a:xfrm>
          <a:prstGeom prst="rect">
            <a:avLst/>
          </a:prstGeom>
          <a:noFill/>
        </p:spPr>
        <p:txBody>
          <a:bodyPr wrap="square" lIns="0" rIns="0" tIns="0" bIns="0" anchor="t">
            <a:spAutoFit/>
          </a:bodyPr>
          <a:lstStyle/>
          <a:p>
            <a:pPr algn="ctr"/>
            <a:r>
              <a:rPr sz="1500" b="1">
                <a:solidFill>
                  <a:srgbClr val="FFFFFF"/>
                </a:solidFill>
                <a:latin typeface="Calibri"/>
              </a:rPr>
              <a:t>Activo</a:t>
            </a:r>
          </a:p>
        </p:txBody>
      </p:sp>
      <p:sp>
        <p:nvSpPr>
          <p:cNvPr id="15" name="TextBox 14"/>
          <p:cNvSpPr txBox="1"/>
          <p:nvPr/>
        </p:nvSpPr>
        <p:spPr>
          <a:xfrm>
            <a:off x="3429000" y="2578608"/>
            <a:ext cx="2423160" cy="566928"/>
          </a:xfrm>
          <a:prstGeom prst="rect">
            <a:avLst/>
          </a:prstGeom>
          <a:noFill/>
        </p:spPr>
        <p:txBody>
          <a:bodyPr wrap="square" lIns="0" rIns="0" tIns="0" bIns="0" anchor="t">
            <a:spAutoFit/>
          </a:bodyPr>
          <a:lstStyle/>
          <a:p>
            <a:pPr algn="ctr">
              <a:lnSpc>
                <a:spcPct val="112000"/>
              </a:lnSpc>
            </a:pPr>
            <a:r>
              <a:rPr sz="1100" b="0">
                <a:solidFill>
                  <a:srgbClr val="CADCFC"/>
                </a:solidFill>
                <a:latin typeface="Calibri"/>
              </a:rPr>
              <a:t>Aprobado; se sube</a:t>
            </a:r>
          </a:p>
          <a:p>
            <a:pPr algn="ctr">
              <a:lnSpc>
                <a:spcPct val="112000"/>
              </a:lnSpc>
            </a:pPr>
            <a:r>
              <a:rPr sz="1100" b="0">
                <a:solidFill>
                  <a:srgbClr val="CADCFC"/>
                </a:solidFill>
                <a:latin typeface="Calibri"/>
              </a:rPr>
              <a:t>la evidencia</a:t>
            </a:r>
          </a:p>
        </p:txBody>
      </p:sp>
      <p:sp>
        <p:nvSpPr>
          <p:cNvPr id="16" name="Rectangle 15"/>
          <p:cNvSpPr/>
          <p:nvPr/>
        </p:nvSpPr>
        <p:spPr>
          <a:xfrm>
            <a:off x="5897880" y="2587752"/>
            <a:ext cx="38404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55080" y="2011680"/>
            <a:ext cx="2423160" cy="1234440"/>
          </a:xfrm>
          <a:prstGeom prst="roundRect">
            <a:avLst>
              <a:gd name="adj" fmla="val 1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212848"/>
            <a:ext cx="2423160" cy="292608"/>
          </a:xfrm>
          <a:prstGeom prst="rect">
            <a:avLst/>
          </a:prstGeom>
          <a:noFill/>
        </p:spPr>
        <p:txBody>
          <a:bodyPr wrap="square" lIns="0" rIns="0" tIns="0" bIns="0" anchor="t">
            <a:spAutoFit/>
          </a:bodyPr>
          <a:lstStyle/>
          <a:p>
            <a:pPr algn="ctr"/>
            <a:r>
              <a:rPr sz="1500" b="1">
                <a:solidFill>
                  <a:srgbClr val="FFFFFF"/>
                </a:solidFill>
                <a:latin typeface="Calibri"/>
              </a:rPr>
              <a:t>En revisión</a:t>
            </a:r>
          </a:p>
        </p:txBody>
      </p:sp>
      <p:sp>
        <p:nvSpPr>
          <p:cNvPr id="19" name="TextBox 18"/>
          <p:cNvSpPr txBox="1"/>
          <p:nvPr/>
        </p:nvSpPr>
        <p:spPr>
          <a:xfrm>
            <a:off x="6355080" y="2578608"/>
            <a:ext cx="2423160" cy="566928"/>
          </a:xfrm>
          <a:prstGeom prst="rect">
            <a:avLst/>
          </a:prstGeom>
          <a:noFill/>
        </p:spPr>
        <p:txBody>
          <a:bodyPr wrap="square" lIns="0" rIns="0" tIns="0" bIns="0" anchor="t">
            <a:spAutoFit/>
          </a:bodyPr>
          <a:lstStyle/>
          <a:p>
            <a:pPr algn="ctr">
              <a:lnSpc>
                <a:spcPct val="112000"/>
              </a:lnSpc>
            </a:pPr>
            <a:r>
              <a:rPr sz="1100" b="0">
                <a:solidFill>
                  <a:srgbClr val="CADCFC"/>
                </a:solidFill>
                <a:latin typeface="Calibri"/>
              </a:rPr>
              <a:t>El evaluador</a:t>
            </a:r>
          </a:p>
          <a:p>
            <a:pPr algn="ctr">
              <a:lnSpc>
                <a:spcPct val="112000"/>
              </a:lnSpc>
            </a:pPr>
            <a:r>
              <a:rPr sz="1100" b="0">
                <a:solidFill>
                  <a:srgbClr val="CADCFC"/>
                </a:solidFill>
                <a:latin typeface="Calibri"/>
              </a:rPr>
              <a:t>recibe y evalúa</a:t>
            </a:r>
          </a:p>
        </p:txBody>
      </p:sp>
      <p:sp>
        <p:nvSpPr>
          <p:cNvPr id="20" name="Rectangle 19"/>
          <p:cNvSpPr/>
          <p:nvPr/>
        </p:nvSpPr>
        <p:spPr>
          <a:xfrm>
            <a:off x="8823960" y="2587752"/>
            <a:ext cx="38404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81160" y="2011680"/>
            <a:ext cx="2423160" cy="123444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2212848"/>
            <a:ext cx="2423160" cy="292608"/>
          </a:xfrm>
          <a:prstGeom prst="rect">
            <a:avLst/>
          </a:prstGeom>
          <a:noFill/>
        </p:spPr>
        <p:txBody>
          <a:bodyPr wrap="square" lIns="0" rIns="0" tIns="0" bIns="0" anchor="t">
            <a:spAutoFit/>
          </a:bodyPr>
          <a:lstStyle/>
          <a:p>
            <a:pPr algn="ctr"/>
            <a:r>
              <a:rPr sz="1500" b="1">
                <a:solidFill>
                  <a:srgbClr val="FFFFFF"/>
                </a:solidFill>
                <a:latin typeface="Calibri"/>
              </a:rPr>
              <a:t>Completado</a:t>
            </a:r>
          </a:p>
        </p:txBody>
      </p:sp>
      <p:sp>
        <p:nvSpPr>
          <p:cNvPr id="23" name="TextBox 22"/>
          <p:cNvSpPr txBox="1"/>
          <p:nvPr/>
        </p:nvSpPr>
        <p:spPr>
          <a:xfrm>
            <a:off x="9281160" y="2578608"/>
            <a:ext cx="2423160" cy="566928"/>
          </a:xfrm>
          <a:prstGeom prst="rect">
            <a:avLst/>
          </a:prstGeom>
          <a:noFill/>
        </p:spPr>
        <p:txBody>
          <a:bodyPr wrap="square" lIns="0" rIns="0" tIns="0" bIns="0" anchor="t">
            <a:spAutoFit/>
          </a:bodyPr>
          <a:lstStyle/>
          <a:p>
            <a:pPr algn="ctr">
              <a:lnSpc>
                <a:spcPct val="112000"/>
              </a:lnSpc>
            </a:pPr>
            <a:r>
              <a:rPr sz="1100" b="0">
                <a:solidFill>
                  <a:srgbClr val="CADCFC"/>
                </a:solidFill>
                <a:latin typeface="Calibri"/>
              </a:rPr>
              <a:t>Evaluación cerrada</a:t>
            </a:r>
          </a:p>
          <a:p>
            <a:pPr algn="ctr">
              <a:lnSpc>
                <a:spcPct val="112000"/>
              </a:lnSpc>
            </a:pPr>
            <a:r>
              <a:rPr sz="1100" b="0">
                <a:solidFill>
                  <a:srgbClr val="CADCFC"/>
                </a:solidFill>
                <a:latin typeface="Calibri"/>
              </a:rPr>
              <a:t>y firmada</a:t>
            </a:r>
          </a:p>
        </p:txBody>
      </p:sp>
      <p:sp>
        <p:nvSpPr>
          <p:cNvPr id="24" name="TextBox 23"/>
          <p:cNvSpPr txBox="1"/>
          <p:nvPr/>
        </p:nvSpPr>
        <p:spPr>
          <a:xfrm>
            <a:off x="365760" y="3520440"/>
            <a:ext cx="7315200" cy="228600"/>
          </a:xfrm>
          <a:prstGeom prst="rect">
            <a:avLst/>
          </a:prstGeom>
          <a:noFill/>
        </p:spPr>
        <p:txBody>
          <a:bodyPr wrap="square" lIns="0" rIns="0" tIns="0" bIns="0" anchor="t">
            <a:spAutoFit/>
          </a:bodyPr>
          <a:lstStyle/>
          <a:p>
            <a:pPr algn="l"/>
            <a:r>
              <a:rPr sz="1100" b="1">
                <a:solidFill>
                  <a:srgbClr val="F59E0B"/>
                </a:solidFill>
                <a:latin typeface="Calibri"/>
              </a:rPr>
              <a:t>MATRIZ DE RESPONSABILIDADES POR ROL</a:t>
            </a:r>
          </a:p>
        </p:txBody>
      </p:sp>
      <p:sp>
        <p:nvSpPr>
          <p:cNvPr id="25" name="Rounded Rectangle 24"/>
          <p:cNvSpPr/>
          <p:nvPr/>
        </p:nvSpPr>
        <p:spPr>
          <a:xfrm>
            <a:off x="365760" y="3858768"/>
            <a:ext cx="11430000" cy="54864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66928" y="3959352"/>
            <a:ext cx="1600200" cy="34747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41648"/>
            <a:ext cx="1600200" cy="219456"/>
          </a:xfrm>
          <a:prstGeom prst="rect">
            <a:avLst/>
          </a:prstGeom>
          <a:noFill/>
        </p:spPr>
        <p:txBody>
          <a:bodyPr wrap="square" lIns="0" rIns="0" tIns="0" bIns="0" anchor="t">
            <a:spAutoFit/>
          </a:bodyPr>
          <a:lstStyle/>
          <a:p>
            <a:pPr algn="ctr"/>
            <a:r>
              <a:rPr sz="1100" b="1">
                <a:solidFill>
                  <a:srgbClr val="FFFFFF"/>
                </a:solidFill>
                <a:latin typeface="Calibri"/>
              </a:rPr>
              <a:t>Gestor</a:t>
            </a:r>
          </a:p>
        </p:txBody>
      </p:sp>
      <p:sp>
        <p:nvSpPr>
          <p:cNvPr id="28" name="TextBox 27"/>
          <p:cNvSpPr txBox="1"/>
          <p:nvPr/>
        </p:nvSpPr>
        <p:spPr>
          <a:xfrm>
            <a:off x="2377440" y="4014215"/>
            <a:ext cx="9235440" cy="274320"/>
          </a:xfrm>
          <a:prstGeom prst="rect">
            <a:avLst/>
          </a:prstGeom>
          <a:noFill/>
        </p:spPr>
        <p:txBody>
          <a:bodyPr wrap="square" lIns="0" rIns="0" tIns="0" bIns="0" anchor="t">
            <a:spAutoFit/>
          </a:bodyPr>
          <a:lstStyle/>
          <a:p>
            <a:pPr algn="l"/>
            <a:r>
              <a:rPr sz="1150" b="0">
                <a:solidFill>
                  <a:srgbClr val="475569"/>
                </a:solidFill>
                <a:latin typeface="Calibri"/>
              </a:rPr>
              <a:t>Crea y edita sus propios proyectos, define indicadores y fórmulas, sube la evidencia y solicita la evaluación. No mide.</a:t>
            </a:r>
          </a:p>
        </p:txBody>
      </p:sp>
      <p:sp>
        <p:nvSpPr>
          <p:cNvPr id="29" name="Rounded Rectangle 28"/>
          <p:cNvSpPr/>
          <p:nvPr/>
        </p:nvSpPr>
        <p:spPr>
          <a:xfrm>
            <a:off x="365760" y="4480559"/>
            <a:ext cx="11430000" cy="54864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66928" y="4581144"/>
            <a:ext cx="1600200" cy="3474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63440"/>
            <a:ext cx="1600200" cy="219456"/>
          </a:xfrm>
          <a:prstGeom prst="rect">
            <a:avLst/>
          </a:prstGeom>
          <a:noFill/>
        </p:spPr>
        <p:txBody>
          <a:bodyPr wrap="square" lIns="0" rIns="0" tIns="0" bIns="0" anchor="t">
            <a:spAutoFit/>
          </a:bodyPr>
          <a:lstStyle/>
          <a:p>
            <a:pPr algn="ctr"/>
            <a:r>
              <a:rPr sz="1100" b="1">
                <a:solidFill>
                  <a:srgbClr val="FFFFFF"/>
                </a:solidFill>
                <a:latin typeface="Calibri"/>
              </a:rPr>
              <a:t>Evaluador</a:t>
            </a:r>
          </a:p>
        </p:txBody>
      </p:sp>
      <p:sp>
        <p:nvSpPr>
          <p:cNvPr id="32" name="TextBox 31"/>
          <p:cNvSpPr txBox="1"/>
          <p:nvPr/>
        </p:nvSpPr>
        <p:spPr>
          <a:xfrm>
            <a:off x="2377440" y="4636007"/>
            <a:ext cx="9235440" cy="274320"/>
          </a:xfrm>
          <a:prstGeom prst="rect">
            <a:avLst/>
          </a:prstGeom>
          <a:noFill/>
        </p:spPr>
        <p:txBody>
          <a:bodyPr wrap="square" lIns="0" rIns="0" tIns="0" bIns="0" anchor="t">
            <a:spAutoFit/>
          </a:bodyPr>
          <a:lstStyle/>
          <a:p>
            <a:pPr algn="l"/>
            <a:r>
              <a:rPr sz="1150" b="0">
                <a:solidFill>
                  <a:srgbClr val="475569"/>
                </a:solidFill>
                <a:latin typeface="Calibri"/>
              </a:rPr>
              <a:t>Recibe el proyecto en su cola, ingresa los valores de los parámetros, calcula el resultado y cierra la evaluación. No propone.</a:t>
            </a:r>
          </a:p>
        </p:txBody>
      </p:sp>
      <p:sp>
        <p:nvSpPr>
          <p:cNvPr id="33" name="Rounded Rectangle 32"/>
          <p:cNvSpPr/>
          <p:nvPr/>
        </p:nvSpPr>
        <p:spPr>
          <a:xfrm>
            <a:off x="365760" y="5102352"/>
            <a:ext cx="11430000" cy="54864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66928" y="5202936"/>
            <a:ext cx="1600200" cy="347472"/>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285232"/>
            <a:ext cx="1600200" cy="219456"/>
          </a:xfrm>
          <a:prstGeom prst="rect">
            <a:avLst/>
          </a:prstGeom>
          <a:noFill/>
        </p:spPr>
        <p:txBody>
          <a:bodyPr wrap="square" lIns="0" rIns="0" tIns="0" bIns="0" anchor="t">
            <a:spAutoFit/>
          </a:bodyPr>
          <a:lstStyle/>
          <a:p>
            <a:pPr algn="ctr"/>
            <a:r>
              <a:rPr sz="1100" b="1">
                <a:solidFill>
                  <a:srgbClr val="FFFFFF"/>
                </a:solidFill>
                <a:latin typeface="Calibri"/>
              </a:rPr>
              <a:t>Administrador</a:t>
            </a:r>
          </a:p>
        </p:txBody>
      </p:sp>
      <p:sp>
        <p:nvSpPr>
          <p:cNvPr id="36" name="TextBox 35"/>
          <p:cNvSpPr txBox="1"/>
          <p:nvPr/>
        </p:nvSpPr>
        <p:spPr>
          <a:xfrm>
            <a:off x="2377440" y="5257800"/>
            <a:ext cx="9235440" cy="274320"/>
          </a:xfrm>
          <a:prstGeom prst="rect">
            <a:avLst/>
          </a:prstGeom>
          <a:noFill/>
        </p:spPr>
        <p:txBody>
          <a:bodyPr wrap="square" lIns="0" rIns="0" tIns="0" bIns="0" anchor="t">
            <a:spAutoFit/>
          </a:bodyPr>
          <a:lstStyle/>
          <a:p>
            <a:pPr algn="l"/>
            <a:r>
              <a:rPr sz="1150" b="0">
                <a:solidFill>
                  <a:srgbClr val="475569"/>
                </a:solidFill>
                <a:latin typeface="Calibri"/>
              </a:rPr>
              <a:t>Gestiona usuarios y catálogos institucionales, revisa la bitácora de accesos y aprueba transiciones de estado.</a:t>
            </a:r>
          </a:p>
        </p:txBody>
      </p:sp>
      <p:sp>
        <p:nvSpPr>
          <p:cNvPr id="37" name="Rounded Rectangle 36"/>
          <p:cNvSpPr/>
          <p:nvPr/>
        </p:nvSpPr>
        <p:spPr>
          <a:xfrm>
            <a:off x="365760" y="5724144"/>
            <a:ext cx="11430000" cy="54864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66928" y="5824728"/>
            <a:ext cx="1600200" cy="347472"/>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5907024"/>
            <a:ext cx="1600200" cy="219456"/>
          </a:xfrm>
          <a:prstGeom prst="rect">
            <a:avLst/>
          </a:prstGeom>
          <a:noFill/>
        </p:spPr>
        <p:txBody>
          <a:bodyPr wrap="square" lIns="0" rIns="0" tIns="0" bIns="0" anchor="t">
            <a:spAutoFit/>
          </a:bodyPr>
          <a:lstStyle/>
          <a:p>
            <a:pPr algn="ctr"/>
            <a:r>
              <a:rPr sz="1100" b="1">
                <a:solidFill>
                  <a:srgbClr val="FFFFFF"/>
                </a:solidFill>
                <a:latin typeface="Calibri"/>
              </a:rPr>
              <a:t>Consultor</a:t>
            </a:r>
          </a:p>
        </p:txBody>
      </p:sp>
      <p:sp>
        <p:nvSpPr>
          <p:cNvPr id="40" name="TextBox 39"/>
          <p:cNvSpPr txBox="1"/>
          <p:nvPr/>
        </p:nvSpPr>
        <p:spPr>
          <a:xfrm>
            <a:off x="2377440" y="5879592"/>
            <a:ext cx="9235440" cy="274320"/>
          </a:xfrm>
          <a:prstGeom prst="rect">
            <a:avLst/>
          </a:prstGeom>
          <a:noFill/>
        </p:spPr>
        <p:txBody>
          <a:bodyPr wrap="square" lIns="0" rIns="0" tIns="0" bIns="0" anchor="t">
            <a:spAutoFit/>
          </a:bodyPr>
          <a:lstStyle/>
          <a:p>
            <a:pPr algn="l"/>
            <a:r>
              <a:rPr sz="1150" b="0">
                <a:solidFill>
                  <a:srgbClr val="475569"/>
                </a:solidFill>
                <a:latin typeface="Calibri"/>
              </a:rPr>
              <a:t>Acceso de solo lectura a proyectos, resultados y reportes consolidados de todas las sedes.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05 · RESULTADOS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El sistema en funcionamiento — formulación del proyecto</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pic>
        <p:nvPicPr>
          <p:cNvPr id="7" name="Picture 6" descr="login.png"/>
          <p:cNvPicPr>
            <a:picLocks noChangeAspect="1"/>
          </p:cNvPicPr>
          <p:nvPr/>
        </p:nvPicPr>
        <p:blipFill>
          <a:blip r:embed="rId2"/>
          <a:stretch>
            <a:fillRect/>
          </a:stretch>
        </p:blipFill>
        <p:spPr>
          <a:xfrm>
            <a:off x="365760" y="1188720"/>
            <a:ext cx="3703320" cy="2743200"/>
          </a:xfrm>
          <a:prstGeom prst="rect">
            <a:avLst/>
          </a:prstGeom>
          <a:ln w="9525">
            <a:solidFill>
              <a:srgbClr val="D9DEE7"/>
            </a:solidFill>
          </a:ln>
        </p:spPr>
      </p:pic>
      <p:pic>
        <p:nvPicPr>
          <p:cNvPr id="8" name="Picture 7" descr="ods_grid.png"/>
          <p:cNvPicPr>
            <a:picLocks noChangeAspect="1"/>
          </p:cNvPicPr>
          <p:nvPr/>
        </p:nvPicPr>
        <p:blipFill>
          <a:blip r:embed="rId3"/>
          <a:stretch>
            <a:fillRect/>
          </a:stretch>
        </p:blipFill>
        <p:spPr>
          <a:xfrm>
            <a:off x="4261104" y="1188720"/>
            <a:ext cx="3703320" cy="2743408"/>
          </a:xfrm>
          <a:prstGeom prst="rect">
            <a:avLst/>
          </a:prstGeom>
          <a:ln w="9525">
            <a:solidFill>
              <a:srgbClr val="D9DEE7"/>
            </a:solidFill>
          </a:ln>
        </p:spPr>
      </p:pic>
      <p:pic>
        <p:nvPicPr>
          <p:cNvPr id="9" name="Picture 8" descr="formula.png"/>
          <p:cNvPicPr>
            <a:picLocks noChangeAspect="1"/>
          </p:cNvPicPr>
          <p:nvPr/>
        </p:nvPicPr>
        <p:blipFill>
          <a:blip r:embed="rId4"/>
          <a:stretch>
            <a:fillRect/>
          </a:stretch>
        </p:blipFill>
        <p:spPr>
          <a:xfrm>
            <a:off x="8156448" y="1188720"/>
            <a:ext cx="3703320" cy="2740566"/>
          </a:xfrm>
          <a:prstGeom prst="rect">
            <a:avLst/>
          </a:prstGeom>
          <a:ln w="9525">
            <a:solidFill>
              <a:srgbClr val="D9DEE7"/>
            </a:solidFill>
          </a:ln>
        </p:spPr>
      </p:pic>
      <p:sp>
        <p:nvSpPr>
          <p:cNvPr id="10" name="TextBox 9"/>
          <p:cNvSpPr txBox="1"/>
          <p:nvPr/>
        </p:nvSpPr>
        <p:spPr>
          <a:xfrm>
            <a:off x="365760" y="4160520"/>
            <a:ext cx="3703320" cy="274320"/>
          </a:xfrm>
          <a:prstGeom prst="rect">
            <a:avLst/>
          </a:prstGeom>
          <a:noFill/>
        </p:spPr>
        <p:txBody>
          <a:bodyPr wrap="square" lIns="0" rIns="0" tIns="0" bIns="0" anchor="t">
            <a:spAutoFit/>
          </a:bodyPr>
          <a:lstStyle/>
          <a:p>
            <a:pPr algn="l"/>
            <a:r>
              <a:rPr sz="1350" b="1">
                <a:solidFill>
                  <a:srgbClr val="0F172A"/>
                </a:solidFill>
                <a:latin typeface="Calibri"/>
              </a:rPr>
              <a:t>Autenticación</a:t>
            </a:r>
          </a:p>
        </p:txBody>
      </p:sp>
      <p:sp>
        <p:nvSpPr>
          <p:cNvPr id="11" name="TextBox 10"/>
          <p:cNvSpPr txBox="1"/>
          <p:nvPr/>
        </p:nvSpPr>
        <p:spPr>
          <a:xfrm>
            <a:off x="365760" y="4498848"/>
            <a:ext cx="3703320" cy="91440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Ingreso con identidad institucional; el token JWT determina qué puede hacer cada rol.</a:t>
            </a:r>
          </a:p>
        </p:txBody>
      </p:sp>
      <p:sp>
        <p:nvSpPr>
          <p:cNvPr id="12" name="TextBox 11"/>
          <p:cNvSpPr txBox="1"/>
          <p:nvPr/>
        </p:nvSpPr>
        <p:spPr>
          <a:xfrm>
            <a:off x="4261104" y="4160520"/>
            <a:ext cx="3703320" cy="274320"/>
          </a:xfrm>
          <a:prstGeom prst="rect">
            <a:avLst/>
          </a:prstGeom>
          <a:noFill/>
        </p:spPr>
        <p:txBody>
          <a:bodyPr wrap="square" lIns="0" rIns="0" tIns="0" bIns="0" anchor="t">
            <a:spAutoFit/>
          </a:bodyPr>
          <a:lstStyle/>
          <a:p>
            <a:pPr algn="l"/>
            <a:r>
              <a:rPr sz="1350" b="1">
                <a:solidFill>
                  <a:srgbClr val="0F172A"/>
                </a:solidFill>
                <a:latin typeface="Calibri"/>
              </a:rPr>
              <a:t>Selección de ODS</a:t>
            </a:r>
          </a:p>
        </p:txBody>
      </p:sp>
      <p:sp>
        <p:nvSpPr>
          <p:cNvPr id="13" name="TextBox 12"/>
          <p:cNvSpPr txBox="1"/>
          <p:nvPr/>
        </p:nvSpPr>
        <p:spPr>
          <a:xfrm>
            <a:off x="4261104" y="4498848"/>
            <a:ext cx="3703320" cy="91440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El gestor vincula su proyecto a uno o varios de los 17 Objetivos de Desarrollo Sostenible.</a:t>
            </a:r>
          </a:p>
        </p:txBody>
      </p:sp>
      <p:sp>
        <p:nvSpPr>
          <p:cNvPr id="14" name="TextBox 13"/>
          <p:cNvSpPr txBox="1"/>
          <p:nvPr/>
        </p:nvSpPr>
        <p:spPr>
          <a:xfrm>
            <a:off x="8156448" y="4160520"/>
            <a:ext cx="3703320" cy="274320"/>
          </a:xfrm>
          <a:prstGeom prst="rect">
            <a:avLst/>
          </a:prstGeom>
          <a:noFill/>
        </p:spPr>
        <p:txBody>
          <a:bodyPr wrap="square" lIns="0" rIns="0" tIns="0" bIns="0" anchor="t">
            <a:spAutoFit/>
          </a:bodyPr>
          <a:lstStyle/>
          <a:p>
            <a:pPr algn="l"/>
            <a:r>
              <a:rPr sz="1350" b="1">
                <a:solidFill>
                  <a:srgbClr val="0F172A"/>
                </a:solidFill>
                <a:latin typeface="Calibri"/>
              </a:rPr>
              <a:t>Fórmula configurable</a:t>
            </a:r>
          </a:p>
        </p:txBody>
      </p:sp>
      <p:sp>
        <p:nvSpPr>
          <p:cNvPr id="15" name="TextBox 14"/>
          <p:cNvSpPr txBox="1"/>
          <p:nvPr/>
        </p:nvSpPr>
        <p:spPr>
          <a:xfrm>
            <a:off x="8156448" y="4498848"/>
            <a:ext cx="3703320" cy="91440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Define sus propias variables, escribe la fórmula con los operadores y fija la meta.</a:t>
            </a:r>
          </a:p>
        </p:txBody>
      </p:sp>
      <p:sp>
        <p:nvSpPr>
          <p:cNvPr id="16" name="Rounded Rectangle 15"/>
          <p:cNvSpPr/>
          <p:nvPr/>
        </p:nvSpPr>
        <p:spPr>
          <a:xfrm>
            <a:off x="365760" y="5486400"/>
            <a:ext cx="11430000" cy="822960"/>
          </a:xfrm>
          <a:prstGeom prst="roundRect">
            <a:avLst>
              <a:gd name="adj" fmla="val 11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660136"/>
            <a:ext cx="10881360" cy="502920"/>
          </a:xfrm>
          <a:prstGeom prst="rect">
            <a:avLst/>
          </a:prstGeom>
          <a:noFill/>
        </p:spPr>
        <p:txBody>
          <a:bodyPr wrap="square" lIns="0" rIns="0" tIns="0" bIns="0" anchor="t">
            <a:spAutoFit/>
          </a:bodyPr>
          <a:lstStyle/>
          <a:p>
            <a:pPr algn="l">
              <a:lnSpc>
                <a:spcPct val="118000"/>
              </a:lnSpc>
            </a:pPr>
            <a:r>
              <a:rPr sz="1200" b="0">
                <a:solidFill>
                  <a:srgbClr val="21295C"/>
                </a:solidFill>
                <a:latin typeface="Calibri"/>
              </a:rPr>
              <a:t>Cada proyecto se vincula a uno o varios ODS y a sus indicadores oficiales. Para cada indicador el gestor declara variables con el nombre que necesita, escribe la fórmula y establece la meta: el sistema no impone un cálculo fijo.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05 · RESULTADOS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El sistema en funcionamiento — evaluación y resultados</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pic>
        <p:nvPicPr>
          <p:cNvPr id="7" name="Picture 6" descr="cola.png"/>
          <p:cNvPicPr>
            <a:picLocks noChangeAspect="1"/>
          </p:cNvPicPr>
          <p:nvPr/>
        </p:nvPicPr>
        <p:blipFill>
          <a:blip r:embed="rId2"/>
          <a:stretch>
            <a:fillRect/>
          </a:stretch>
        </p:blipFill>
        <p:spPr>
          <a:xfrm>
            <a:off x="365760" y="1188720"/>
            <a:ext cx="3703320" cy="2743200"/>
          </a:xfrm>
          <a:prstGeom prst="rect">
            <a:avLst/>
          </a:prstGeom>
          <a:ln w="9525">
            <a:solidFill>
              <a:srgbClr val="D9DEE7"/>
            </a:solidFill>
          </a:ln>
        </p:spPr>
      </p:pic>
      <p:pic>
        <p:nvPicPr>
          <p:cNvPr id="8" name="Picture 7" descr="evaluacion.png"/>
          <p:cNvPicPr>
            <a:picLocks noChangeAspect="1"/>
          </p:cNvPicPr>
          <p:nvPr/>
        </p:nvPicPr>
        <p:blipFill>
          <a:blip r:embed="rId3"/>
          <a:stretch>
            <a:fillRect/>
          </a:stretch>
        </p:blipFill>
        <p:spPr>
          <a:xfrm>
            <a:off x="4261104" y="1188720"/>
            <a:ext cx="3703320" cy="2743200"/>
          </a:xfrm>
          <a:prstGeom prst="rect">
            <a:avLst/>
          </a:prstGeom>
          <a:ln w="9525">
            <a:solidFill>
              <a:srgbClr val="D9DEE7"/>
            </a:solidFill>
          </a:ln>
        </p:spPr>
      </p:pic>
      <p:pic>
        <p:nvPicPr>
          <p:cNvPr id="9" name="Picture 8" descr="resultados.png"/>
          <p:cNvPicPr>
            <a:picLocks noChangeAspect="1"/>
          </p:cNvPicPr>
          <p:nvPr/>
        </p:nvPicPr>
        <p:blipFill>
          <a:blip r:embed="rId4"/>
          <a:stretch>
            <a:fillRect/>
          </a:stretch>
        </p:blipFill>
        <p:spPr>
          <a:xfrm>
            <a:off x="8156448" y="1188720"/>
            <a:ext cx="3703320" cy="2743816"/>
          </a:xfrm>
          <a:prstGeom prst="rect">
            <a:avLst/>
          </a:prstGeom>
          <a:ln w="9525">
            <a:solidFill>
              <a:srgbClr val="D9DEE7"/>
            </a:solidFill>
          </a:ln>
        </p:spPr>
      </p:pic>
      <p:sp>
        <p:nvSpPr>
          <p:cNvPr id="10" name="TextBox 9"/>
          <p:cNvSpPr txBox="1"/>
          <p:nvPr/>
        </p:nvSpPr>
        <p:spPr>
          <a:xfrm>
            <a:off x="365760" y="4160520"/>
            <a:ext cx="3703320" cy="274320"/>
          </a:xfrm>
          <a:prstGeom prst="rect">
            <a:avLst/>
          </a:prstGeom>
          <a:noFill/>
        </p:spPr>
        <p:txBody>
          <a:bodyPr wrap="square" lIns="0" rIns="0" tIns="0" bIns="0" anchor="t">
            <a:spAutoFit/>
          </a:bodyPr>
          <a:lstStyle/>
          <a:p>
            <a:pPr algn="l"/>
            <a:r>
              <a:rPr sz="1350" b="1">
                <a:solidFill>
                  <a:srgbClr val="0F172A"/>
                </a:solidFill>
                <a:latin typeface="Calibri"/>
              </a:rPr>
              <a:t>Cola de evaluación</a:t>
            </a:r>
          </a:p>
        </p:txBody>
      </p:sp>
      <p:sp>
        <p:nvSpPr>
          <p:cNvPr id="11" name="TextBox 10"/>
          <p:cNvSpPr txBox="1"/>
          <p:nvPr/>
        </p:nvSpPr>
        <p:spPr>
          <a:xfrm>
            <a:off x="365760" y="4498848"/>
            <a:ext cx="3703320" cy="91440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El evaluador ve los proyectos separados por estado, con métricas en tiempo real.</a:t>
            </a:r>
          </a:p>
        </p:txBody>
      </p:sp>
      <p:sp>
        <p:nvSpPr>
          <p:cNvPr id="12" name="TextBox 11"/>
          <p:cNvSpPr txBox="1"/>
          <p:nvPr/>
        </p:nvSpPr>
        <p:spPr>
          <a:xfrm>
            <a:off x="4261104" y="4160520"/>
            <a:ext cx="3703320" cy="274320"/>
          </a:xfrm>
          <a:prstGeom prst="rect">
            <a:avLst/>
          </a:prstGeom>
          <a:noFill/>
        </p:spPr>
        <p:txBody>
          <a:bodyPr wrap="square" lIns="0" rIns="0" tIns="0" bIns="0" anchor="t">
            <a:spAutoFit/>
          </a:bodyPr>
          <a:lstStyle/>
          <a:p>
            <a:pPr algn="l"/>
            <a:r>
              <a:rPr sz="1350" b="1">
                <a:solidFill>
                  <a:srgbClr val="0F172A"/>
                </a:solidFill>
                <a:latin typeface="Calibri"/>
              </a:rPr>
              <a:t>Cálculo y evaluación</a:t>
            </a:r>
          </a:p>
        </p:txBody>
      </p:sp>
      <p:sp>
        <p:nvSpPr>
          <p:cNvPr id="13" name="TextBox 12"/>
          <p:cNvSpPr txBox="1"/>
          <p:nvPr/>
        </p:nvSpPr>
        <p:spPr>
          <a:xfrm>
            <a:off x="4261104" y="4498848"/>
            <a:ext cx="3703320" cy="91440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Ingresa los valores; el servidor evalúa la fórmula con exp4j y persiste la medición.</a:t>
            </a:r>
          </a:p>
        </p:txBody>
      </p:sp>
      <p:sp>
        <p:nvSpPr>
          <p:cNvPr id="14" name="TextBox 13"/>
          <p:cNvSpPr txBox="1"/>
          <p:nvPr/>
        </p:nvSpPr>
        <p:spPr>
          <a:xfrm>
            <a:off x="8156448" y="4160520"/>
            <a:ext cx="3703320" cy="274320"/>
          </a:xfrm>
          <a:prstGeom prst="rect">
            <a:avLst/>
          </a:prstGeom>
          <a:noFill/>
        </p:spPr>
        <p:txBody>
          <a:bodyPr wrap="square" lIns="0" rIns="0" tIns="0" bIns="0" anchor="t">
            <a:spAutoFit/>
          </a:bodyPr>
          <a:lstStyle/>
          <a:p>
            <a:pPr algn="l"/>
            <a:r>
              <a:rPr sz="1350" b="1">
                <a:solidFill>
                  <a:srgbClr val="0F172A"/>
                </a:solidFill>
                <a:latin typeface="Calibri"/>
              </a:rPr>
              <a:t>Resultado firmado</a:t>
            </a:r>
          </a:p>
        </p:txBody>
      </p:sp>
      <p:sp>
        <p:nvSpPr>
          <p:cNvPr id="15" name="TextBox 14"/>
          <p:cNvSpPr txBox="1"/>
          <p:nvPr/>
        </p:nvSpPr>
        <p:spPr>
          <a:xfrm>
            <a:off x="8156448" y="4498848"/>
            <a:ext cx="3703320" cy="914400"/>
          </a:xfrm>
          <a:prstGeom prst="rect">
            <a:avLst/>
          </a:prstGeom>
          <a:noFill/>
        </p:spPr>
        <p:txBody>
          <a:bodyPr wrap="square" lIns="0" rIns="0" tIns="0" bIns="0" anchor="t">
            <a:spAutoFit/>
          </a:bodyPr>
          <a:lstStyle/>
          <a:p>
            <a:pPr algn="l">
              <a:lnSpc>
                <a:spcPct val="118000"/>
              </a:lnSpc>
            </a:pPr>
            <a:r>
              <a:rPr sz="1150" b="0">
                <a:solidFill>
                  <a:srgbClr val="64748B"/>
                </a:solidFill>
                <a:latin typeface="Calibri"/>
              </a:rPr>
              <a:t>El proyecto queda cerrado, con el porcentaje de logro y la observación del evaluador.</a:t>
            </a:r>
          </a:p>
        </p:txBody>
      </p:sp>
      <p:sp>
        <p:nvSpPr>
          <p:cNvPr id="16" name="Rounded Rectangle 15"/>
          <p:cNvSpPr/>
          <p:nvPr/>
        </p:nvSpPr>
        <p:spPr>
          <a:xfrm>
            <a:off x="365760" y="5486400"/>
            <a:ext cx="11430000" cy="822960"/>
          </a:xfrm>
          <a:prstGeom prst="roundRect">
            <a:avLst>
              <a:gd name="adj" fmla="val 11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660136"/>
            <a:ext cx="10881360" cy="502920"/>
          </a:xfrm>
          <a:prstGeom prst="rect">
            <a:avLst/>
          </a:prstGeom>
          <a:noFill/>
        </p:spPr>
        <p:txBody>
          <a:bodyPr wrap="square" lIns="0" rIns="0" tIns="0" bIns="0" anchor="t">
            <a:spAutoFit/>
          </a:bodyPr>
          <a:lstStyle/>
          <a:p>
            <a:pPr algn="l">
              <a:lnSpc>
                <a:spcPct val="118000"/>
              </a:lnSpc>
            </a:pPr>
            <a:r>
              <a:rPr sz="1200" b="0">
                <a:solidFill>
                  <a:srgbClr val="21295C"/>
                </a:solidFill>
                <a:latin typeface="Calibri"/>
              </a:rPr>
              <a:t>Toda medición queda registrada con la fecha, la persona que la ingresó y el valor de cada variable, en la tabla de mediciones históricas del ODS correspondiente. El resultado no se puede alterar después del cierre de la evaluación.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05 · RESULTADOS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El proceso mejorado: el reporte institucional SODSI</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43000"/>
            <a:ext cx="5669280" cy="1783080"/>
          </a:xfrm>
          <a:prstGeom prst="roundRect">
            <a:avLst>
              <a:gd name="adj" fmla="val 90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25880"/>
            <a:ext cx="4572000" cy="228600"/>
          </a:xfrm>
          <a:prstGeom prst="rect">
            <a:avLst/>
          </a:prstGeom>
          <a:noFill/>
        </p:spPr>
        <p:txBody>
          <a:bodyPr wrap="square" lIns="0" rIns="0" tIns="0" bIns="0" anchor="t">
            <a:spAutoFit/>
          </a:bodyPr>
          <a:lstStyle/>
          <a:p>
            <a:pPr algn="l"/>
            <a:r>
              <a:rPr sz="1100" b="1">
                <a:solidFill>
                  <a:srgbClr val="C53030"/>
                </a:solidFill>
                <a:latin typeface="Calibri"/>
              </a:rPr>
              <a:t>ANTES</a:t>
            </a:r>
          </a:p>
        </p:txBody>
      </p:sp>
      <p:sp>
        <p:nvSpPr>
          <p:cNvPr id="9" name="TextBox 8"/>
          <p:cNvSpPr txBox="1"/>
          <p:nvPr/>
        </p:nvSpPr>
        <p:spPr>
          <a:xfrm>
            <a:off x="640080" y="1645920"/>
            <a:ext cx="5120640" cy="1188720"/>
          </a:xfrm>
          <a:prstGeom prst="rect">
            <a:avLst/>
          </a:prstGeom>
          <a:noFill/>
        </p:spPr>
        <p:txBody>
          <a:bodyPr wrap="square" lIns="0" rIns="0" tIns="0" bIns="0" anchor="t">
            <a:spAutoFit/>
          </a:bodyPr>
          <a:lstStyle/>
          <a:p>
            <a:pPr algn="l">
              <a:lnSpc>
                <a:spcPct val="120000"/>
              </a:lnSpc>
            </a:pPr>
            <a:r>
              <a:rPr sz="1200" b="0">
                <a:solidFill>
                  <a:srgbClr val="475569"/>
                </a:solidFill>
                <a:latin typeface="Calibri"/>
              </a:rPr>
              <a:t>La matriz de acciones se llenaba a mano en un archivo de Excel. La información se pedía por correo a cada sede, se copiaba y se pegaba, y cada persona podía escribir el nombre de un objetivo, una meta o un beneficiario de forma distinta. Es un proceso lento y difícil de verificar.</a:t>
            </a:r>
          </a:p>
        </p:txBody>
      </p:sp>
      <p:sp>
        <p:nvSpPr>
          <p:cNvPr id="10" name="Rounded Rectangle 9"/>
          <p:cNvSpPr/>
          <p:nvPr/>
        </p:nvSpPr>
        <p:spPr>
          <a:xfrm>
            <a:off x="6309360" y="1143000"/>
            <a:ext cx="5486400" cy="1783080"/>
          </a:xfrm>
          <a:prstGeom prst="roundRect">
            <a:avLst>
              <a:gd name="adj" fmla="val 9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325880"/>
            <a:ext cx="4572000" cy="228600"/>
          </a:xfrm>
          <a:prstGeom prst="rect">
            <a:avLst/>
          </a:prstGeom>
          <a:noFill/>
        </p:spPr>
        <p:txBody>
          <a:bodyPr wrap="square" lIns="0" rIns="0" tIns="0" bIns="0" anchor="t">
            <a:spAutoFit/>
          </a:bodyPr>
          <a:lstStyle/>
          <a:p>
            <a:pPr algn="l"/>
            <a:r>
              <a:rPr sz="1100" b="1">
                <a:solidFill>
                  <a:srgbClr val="10B981"/>
                </a:solidFill>
                <a:latin typeface="Calibri"/>
              </a:rPr>
              <a:t>DESPUÉS</a:t>
            </a:r>
          </a:p>
        </p:txBody>
      </p:sp>
      <p:sp>
        <p:nvSpPr>
          <p:cNvPr id="12" name="TextBox 11"/>
          <p:cNvSpPr txBox="1"/>
          <p:nvPr/>
        </p:nvSpPr>
        <p:spPr>
          <a:xfrm>
            <a:off x="6537960" y="1645920"/>
            <a:ext cx="5029200" cy="1188720"/>
          </a:xfrm>
          <a:prstGeom prst="rect">
            <a:avLst/>
          </a:prstGeom>
          <a:noFill/>
        </p:spPr>
        <p:txBody>
          <a:bodyPr wrap="square" lIns="0" rIns="0" tIns="0" bIns="0" anchor="t">
            <a:spAutoFit/>
          </a:bodyPr>
          <a:lstStyle/>
          <a:p>
            <a:pPr algn="l">
              <a:lnSpc>
                <a:spcPct val="120000"/>
              </a:lnSpc>
            </a:pPr>
            <a:r>
              <a:rPr sz="1200" b="0">
                <a:solidFill>
                  <a:srgbClr val="475569"/>
                </a:solidFill>
                <a:latin typeface="Calibri"/>
              </a:rPr>
              <a:t>El reporte se genera desde el sistema: se escoge la sede y el año de evaluación, y la plataforma produce el archivo con las 21 columnas exactas del formato institucional, tomando los datos ya validados de los proyectos evaluados.</a:t>
            </a:r>
          </a:p>
        </p:txBody>
      </p:sp>
      <p:sp>
        <p:nvSpPr>
          <p:cNvPr id="13" name="TextBox 12"/>
          <p:cNvSpPr txBox="1"/>
          <p:nvPr/>
        </p:nvSpPr>
        <p:spPr>
          <a:xfrm>
            <a:off x="365760" y="3127248"/>
            <a:ext cx="8229600" cy="228600"/>
          </a:xfrm>
          <a:prstGeom prst="rect">
            <a:avLst/>
          </a:prstGeom>
          <a:noFill/>
        </p:spPr>
        <p:txBody>
          <a:bodyPr wrap="square" lIns="0" rIns="0" tIns="0" bIns="0" anchor="t">
            <a:spAutoFit/>
          </a:bodyPr>
          <a:lstStyle/>
          <a:p>
            <a:pPr algn="l"/>
            <a:r>
              <a:rPr sz="1100" b="1">
                <a:solidFill>
                  <a:srgbClr val="1C7293"/>
                </a:solidFill>
                <a:latin typeface="Calibri"/>
              </a:rPr>
              <a:t>LAS 21 COLUMNAS DEL FORMATO INSTITUCIONAL, GENERADAS AUTOMÁTICAMENTE</a:t>
            </a:r>
          </a:p>
        </p:txBody>
      </p:sp>
      <p:sp>
        <p:nvSpPr>
          <p:cNvPr id="14" name="Rounded Rectangle 13"/>
          <p:cNvSpPr/>
          <p:nvPr/>
        </p:nvSpPr>
        <p:spPr>
          <a:xfrm>
            <a:off x="365760" y="3456432"/>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534156"/>
            <a:ext cx="1554480" cy="219456"/>
          </a:xfrm>
          <a:prstGeom prst="rect">
            <a:avLst/>
          </a:prstGeom>
          <a:noFill/>
        </p:spPr>
        <p:txBody>
          <a:bodyPr wrap="square" lIns="0" rIns="0" tIns="0" bIns="0" anchor="t">
            <a:spAutoFit/>
          </a:bodyPr>
          <a:lstStyle/>
          <a:p>
            <a:pPr algn="ctr"/>
            <a:r>
              <a:rPr sz="950" b="1">
                <a:solidFill>
                  <a:srgbClr val="21295C"/>
                </a:solidFill>
                <a:latin typeface="Calibri"/>
              </a:rPr>
              <a:t>Año</a:t>
            </a:r>
          </a:p>
        </p:txBody>
      </p:sp>
      <p:sp>
        <p:nvSpPr>
          <p:cNvPr id="16" name="Rounded Rectangle 15"/>
          <p:cNvSpPr/>
          <p:nvPr/>
        </p:nvSpPr>
        <p:spPr>
          <a:xfrm>
            <a:off x="2011680" y="3456432"/>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0" y="3534156"/>
            <a:ext cx="1554480" cy="219456"/>
          </a:xfrm>
          <a:prstGeom prst="rect">
            <a:avLst/>
          </a:prstGeom>
          <a:noFill/>
        </p:spPr>
        <p:txBody>
          <a:bodyPr wrap="square" lIns="0" rIns="0" tIns="0" bIns="0" anchor="t">
            <a:spAutoFit/>
          </a:bodyPr>
          <a:lstStyle/>
          <a:p>
            <a:pPr algn="ctr"/>
            <a:r>
              <a:rPr sz="950" b="1">
                <a:solidFill>
                  <a:srgbClr val="21295C"/>
                </a:solidFill>
                <a:latin typeface="Calibri"/>
              </a:rPr>
              <a:t>Institución</a:t>
            </a:r>
          </a:p>
        </p:txBody>
      </p:sp>
      <p:sp>
        <p:nvSpPr>
          <p:cNvPr id="18" name="Rounded Rectangle 17"/>
          <p:cNvSpPr/>
          <p:nvPr/>
        </p:nvSpPr>
        <p:spPr>
          <a:xfrm>
            <a:off x="3657600" y="3456432"/>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3534156"/>
            <a:ext cx="1554480" cy="219456"/>
          </a:xfrm>
          <a:prstGeom prst="rect">
            <a:avLst/>
          </a:prstGeom>
          <a:noFill/>
        </p:spPr>
        <p:txBody>
          <a:bodyPr wrap="square" lIns="0" rIns="0" tIns="0" bIns="0" anchor="t">
            <a:spAutoFit/>
          </a:bodyPr>
          <a:lstStyle/>
          <a:p>
            <a:pPr algn="ctr"/>
            <a:r>
              <a:rPr sz="950" b="1">
                <a:solidFill>
                  <a:srgbClr val="21295C"/>
                </a:solidFill>
                <a:latin typeface="Calibri"/>
              </a:rPr>
              <a:t>Usuario</a:t>
            </a:r>
          </a:p>
        </p:txBody>
      </p:sp>
      <p:sp>
        <p:nvSpPr>
          <p:cNvPr id="20" name="Rounded Rectangle 19"/>
          <p:cNvSpPr/>
          <p:nvPr/>
        </p:nvSpPr>
        <p:spPr>
          <a:xfrm>
            <a:off x="5303520" y="3456432"/>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0" y="3534156"/>
            <a:ext cx="1554480" cy="219456"/>
          </a:xfrm>
          <a:prstGeom prst="rect">
            <a:avLst/>
          </a:prstGeom>
          <a:noFill/>
        </p:spPr>
        <p:txBody>
          <a:bodyPr wrap="square" lIns="0" rIns="0" tIns="0" bIns="0" anchor="t">
            <a:spAutoFit/>
          </a:bodyPr>
          <a:lstStyle/>
          <a:p>
            <a:pPr algn="ctr"/>
            <a:r>
              <a:rPr sz="950" b="1">
                <a:solidFill>
                  <a:srgbClr val="21295C"/>
                </a:solidFill>
                <a:latin typeface="Calibri"/>
              </a:rPr>
              <a:t>Unidad encargada</a:t>
            </a:r>
          </a:p>
        </p:txBody>
      </p:sp>
      <p:sp>
        <p:nvSpPr>
          <p:cNvPr id="22" name="Rounded Rectangle 21"/>
          <p:cNvSpPr/>
          <p:nvPr/>
        </p:nvSpPr>
        <p:spPr>
          <a:xfrm>
            <a:off x="6949440" y="3456432"/>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3534156"/>
            <a:ext cx="1554480" cy="219456"/>
          </a:xfrm>
          <a:prstGeom prst="rect">
            <a:avLst/>
          </a:prstGeom>
          <a:noFill/>
        </p:spPr>
        <p:txBody>
          <a:bodyPr wrap="square" lIns="0" rIns="0" tIns="0" bIns="0" anchor="t">
            <a:spAutoFit/>
          </a:bodyPr>
          <a:lstStyle/>
          <a:p>
            <a:pPr algn="ctr"/>
            <a:r>
              <a:rPr sz="950" b="1">
                <a:solidFill>
                  <a:srgbClr val="21295C"/>
                </a:solidFill>
                <a:latin typeface="Calibri"/>
              </a:rPr>
              <a:t>Acción</a:t>
            </a:r>
          </a:p>
        </p:txBody>
      </p:sp>
      <p:sp>
        <p:nvSpPr>
          <p:cNvPr id="24" name="Rounded Rectangle 23"/>
          <p:cNvSpPr/>
          <p:nvPr/>
        </p:nvSpPr>
        <p:spPr>
          <a:xfrm>
            <a:off x="8595360" y="3456432"/>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534156"/>
            <a:ext cx="1554480" cy="219456"/>
          </a:xfrm>
          <a:prstGeom prst="rect">
            <a:avLst/>
          </a:prstGeom>
          <a:noFill/>
        </p:spPr>
        <p:txBody>
          <a:bodyPr wrap="square" lIns="0" rIns="0" tIns="0" bIns="0" anchor="t">
            <a:spAutoFit/>
          </a:bodyPr>
          <a:lstStyle/>
          <a:p>
            <a:pPr algn="ctr"/>
            <a:r>
              <a:rPr sz="950" b="1">
                <a:solidFill>
                  <a:srgbClr val="21295C"/>
                </a:solidFill>
                <a:latin typeface="Calibri"/>
              </a:rPr>
              <a:t>Objetivo</a:t>
            </a:r>
          </a:p>
        </p:txBody>
      </p:sp>
      <p:sp>
        <p:nvSpPr>
          <p:cNvPr id="26" name="Rounded Rectangle 25"/>
          <p:cNvSpPr/>
          <p:nvPr/>
        </p:nvSpPr>
        <p:spPr>
          <a:xfrm>
            <a:off x="10241280" y="3456432"/>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0" y="3534156"/>
            <a:ext cx="1554480" cy="219456"/>
          </a:xfrm>
          <a:prstGeom prst="rect">
            <a:avLst/>
          </a:prstGeom>
          <a:noFill/>
        </p:spPr>
        <p:txBody>
          <a:bodyPr wrap="square" lIns="0" rIns="0" tIns="0" bIns="0" anchor="t">
            <a:spAutoFit/>
          </a:bodyPr>
          <a:lstStyle/>
          <a:p>
            <a:pPr algn="ctr"/>
            <a:r>
              <a:rPr sz="950" b="1">
                <a:solidFill>
                  <a:srgbClr val="21295C"/>
                </a:solidFill>
                <a:latin typeface="Calibri"/>
              </a:rPr>
              <a:t>Meta</a:t>
            </a:r>
          </a:p>
        </p:txBody>
      </p:sp>
      <p:sp>
        <p:nvSpPr>
          <p:cNvPr id="28" name="Rounded Rectangle 27"/>
          <p:cNvSpPr/>
          <p:nvPr/>
        </p:nvSpPr>
        <p:spPr>
          <a:xfrm>
            <a:off x="365760" y="3858768"/>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936491"/>
            <a:ext cx="1554480" cy="219456"/>
          </a:xfrm>
          <a:prstGeom prst="rect">
            <a:avLst/>
          </a:prstGeom>
          <a:noFill/>
        </p:spPr>
        <p:txBody>
          <a:bodyPr wrap="square" lIns="0" rIns="0" tIns="0" bIns="0" anchor="t">
            <a:spAutoFit/>
          </a:bodyPr>
          <a:lstStyle/>
          <a:p>
            <a:pPr algn="ctr"/>
            <a:r>
              <a:rPr sz="950" b="1">
                <a:solidFill>
                  <a:srgbClr val="21295C"/>
                </a:solidFill>
                <a:latin typeface="Calibri"/>
              </a:rPr>
              <a:t>Eje de planes</a:t>
            </a:r>
          </a:p>
        </p:txBody>
      </p:sp>
      <p:sp>
        <p:nvSpPr>
          <p:cNvPr id="30" name="Rounded Rectangle 29"/>
          <p:cNvSpPr/>
          <p:nvPr/>
        </p:nvSpPr>
        <p:spPr>
          <a:xfrm>
            <a:off x="2011680" y="3858768"/>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11680" y="3936491"/>
            <a:ext cx="1554480" cy="219456"/>
          </a:xfrm>
          <a:prstGeom prst="rect">
            <a:avLst/>
          </a:prstGeom>
          <a:noFill/>
        </p:spPr>
        <p:txBody>
          <a:bodyPr wrap="square" lIns="0" rIns="0" tIns="0" bIns="0" anchor="t">
            <a:spAutoFit/>
          </a:bodyPr>
          <a:lstStyle/>
          <a:p>
            <a:pPr algn="ctr"/>
            <a:r>
              <a:rPr sz="950" b="1">
                <a:solidFill>
                  <a:srgbClr val="21295C"/>
                </a:solidFill>
                <a:latin typeface="Calibri"/>
              </a:rPr>
              <a:t>Fuente de información</a:t>
            </a:r>
          </a:p>
        </p:txBody>
      </p:sp>
      <p:sp>
        <p:nvSpPr>
          <p:cNvPr id="32" name="Rounded Rectangle 31"/>
          <p:cNvSpPr/>
          <p:nvPr/>
        </p:nvSpPr>
        <p:spPr>
          <a:xfrm>
            <a:off x="3657600" y="3858768"/>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0" y="3936491"/>
            <a:ext cx="1554480" cy="219456"/>
          </a:xfrm>
          <a:prstGeom prst="rect">
            <a:avLst/>
          </a:prstGeom>
          <a:noFill/>
        </p:spPr>
        <p:txBody>
          <a:bodyPr wrap="square" lIns="0" rIns="0" tIns="0" bIns="0" anchor="t">
            <a:spAutoFit/>
          </a:bodyPr>
          <a:lstStyle/>
          <a:p>
            <a:pPr algn="ctr"/>
            <a:r>
              <a:rPr sz="950" b="1">
                <a:solidFill>
                  <a:srgbClr val="21295C"/>
                </a:solidFill>
                <a:latin typeface="Calibri"/>
              </a:rPr>
              <a:t>Contacto</a:t>
            </a:r>
          </a:p>
        </p:txBody>
      </p:sp>
      <p:sp>
        <p:nvSpPr>
          <p:cNvPr id="34" name="Rounded Rectangle 33"/>
          <p:cNvSpPr/>
          <p:nvPr/>
        </p:nvSpPr>
        <p:spPr>
          <a:xfrm>
            <a:off x="5303520" y="3858768"/>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0" y="3936491"/>
            <a:ext cx="1554480" cy="219456"/>
          </a:xfrm>
          <a:prstGeom prst="rect">
            <a:avLst/>
          </a:prstGeom>
          <a:noFill/>
        </p:spPr>
        <p:txBody>
          <a:bodyPr wrap="square" lIns="0" rIns="0" tIns="0" bIns="0" anchor="t">
            <a:spAutoFit/>
          </a:bodyPr>
          <a:lstStyle/>
          <a:p>
            <a:pPr algn="ctr"/>
            <a:r>
              <a:rPr sz="950" b="1">
                <a:solidFill>
                  <a:srgbClr val="21295C"/>
                </a:solidFill>
                <a:latin typeface="Calibri"/>
              </a:rPr>
              <a:t>Sede</a:t>
            </a:r>
          </a:p>
        </p:txBody>
      </p:sp>
      <p:sp>
        <p:nvSpPr>
          <p:cNvPr id="36" name="Rounded Rectangle 35"/>
          <p:cNvSpPr/>
          <p:nvPr/>
        </p:nvSpPr>
        <p:spPr>
          <a:xfrm>
            <a:off x="6949440" y="3858768"/>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0" y="3936491"/>
            <a:ext cx="1554480" cy="219456"/>
          </a:xfrm>
          <a:prstGeom prst="rect">
            <a:avLst/>
          </a:prstGeom>
          <a:noFill/>
        </p:spPr>
        <p:txBody>
          <a:bodyPr wrap="square" lIns="0" rIns="0" tIns="0" bIns="0" anchor="t">
            <a:spAutoFit/>
          </a:bodyPr>
          <a:lstStyle/>
          <a:p>
            <a:pPr algn="ctr"/>
            <a:r>
              <a:rPr sz="950" b="1">
                <a:solidFill>
                  <a:srgbClr val="21295C"/>
                </a:solidFill>
                <a:latin typeface="Calibri"/>
              </a:rPr>
              <a:t>Dependencia</a:t>
            </a:r>
          </a:p>
        </p:txBody>
      </p:sp>
      <p:sp>
        <p:nvSpPr>
          <p:cNvPr id="38" name="Rounded Rectangle 37"/>
          <p:cNvSpPr/>
          <p:nvPr/>
        </p:nvSpPr>
        <p:spPr>
          <a:xfrm>
            <a:off x="8595360" y="3858768"/>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95360" y="3936491"/>
            <a:ext cx="1554480" cy="219456"/>
          </a:xfrm>
          <a:prstGeom prst="rect">
            <a:avLst/>
          </a:prstGeom>
          <a:noFill/>
        </p:spPr>
        <p:txBody>
          <a:bodyPr wrap="square" lIns="0" rIns="0" tIns="0" bIns="0" anchor="t">
            <a:spAutoFit/>
          </a:bodyPr>
          <a:lstStyle/>
          <a:p>
            <a:pPr algn="ctr"/>
            <a:r>
              <a:rPr sz="950" b="1">
                <a:solidFill>
                  <a:srgbClr val="21295C"/>
                </a:solidFill>
                <a:latin typeface="Calibri"/>
              </a:rPr>
              <a:t>Rol de dependencia</a:t>
            </a:r>
          </a:p>
        </p:txBody>
      </p:sp>
      <p:sp>
        <p:nvSpPr>
          <p:cNvPr id="40" name="Rounded Rectangle 39"/>
          <p:cNvSpPr/>
          <p:nvPr/>
        </p:nvSpPr>
        <p:spPr>
          <a:xfrm>
            <a:off x="10241280" y="3858768"/>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41280" y="3936491"/>
            <a:ext cx="1554480" cy="219456"/>
          </a:xfrm>
          <a:prstGeom prst="rect">
            <a:avLst/>
          </a:prstGeom>
          <a:noFill/>
        </p:spPr>
        <p:txBody>
          <a:bodyPr wrap="square" lIns="0" rIns="0" tIns="0" bIns="0" anchor="t">
            <a:spAutoFit/>
          </a:bodyPr>
          <a:lstStyle/>
          <a:p>
            <a:pPr algn="ctr"/>
            <a:r>
              <a:rPr sz="950" b="1">
                <a:solidFill>
                  <a:srgbClr val="21295C"/>
                </a:solidFill>
                <a:latin typeface="Calibri"/>
              </a:rPr>
              <a:t>Aliado externo</a:t>
            </a:r>
          </a:p>
        </p:txBody>
      </p:sp>
      <p:sp>
        <p:nvSpPr>
          <p:cNvPr id="42" name="Rounded Rectangle 41"/>
          <p:cNvSpPr/>
          <p:nvPr/>
        </p:nvSpPr>
        <p:spPr>
          <a:xfrm>
            <a:off x="365760" y="4261104"/>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4338828"/>
            <a:ext cx="1554480" cy="219456"/>
          </a:xfrm>
          <a:prstGeom prst="rect">
            <a:avLst/>
          </a:prstGeom>
          <a:noFill/>
        </p:spPr>
        <p:txBody>
          <a:bodyPr wrap="square" lIns="0" rIns="0" tIns="0" bIns="0" anchor="t">
            <a:spAutoFit/>
          </a:bodyPr>
          <a:lstStyle/>
          <a:p>
            <a:pPr algn="ctr"/>
            <a:r>
              <a:rPr sz="950" b="1">
                <a:solidFill>
                  <a:srgbClr val="21295C"/>
                </a:solidFill>
                <a:latin typeface="Calibri"/>
              </a:rPr>
              <a:t>Sector beneficiario</a:t>
            </a:r>
          </a:p>
        </p:txBody>
      </p:sp>
      <p:sp>
        <p:nvSpPr>
          <p:cNvPr id="44" name="Rounded Rectangle 43"/>
          <p:cNvSpPr/>
          <p:nvPr/>
        </p:nvSpPr>
        <p:spPr>
          <a:xfrm>
            <a:off x="2011680" y="4261104"/>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011680" y="4338828"/>
            <a:ext cx="1554480" cy="219456"/>
          </a:xfrm>
          <a:prstGeom prst="rect">
            <a:avLst/>
          </a:prstGeom>
          <a:noFill/>
        </p:spPr>
        <p:txBody>
          <a:bodyPr wrap="square" lIns="0" rIns="0" tIns="0" bIns="0" anchor="t">
            <a:spAutoFit/>
          </a:bodyPr>
          <a:lstStyle/>
          <a:p>
            <a:pPr algn="ctr"/>
            <a:r>
              <a:rPr sz="950" b="1">
                <a:solidFill>
                  <a:srgbClr val="21295C"/>
                </a:solidFill>
                <a:latin typeface="Calibri"/>
              </a:rPr>
              <a:t>Región Mideplan</a:t>
            </a:r>
          </a:p>
        </p:txBody>
      </p:sp>
      <p:sp>
        <p:nvSpPr>
          <p:cNvPr id="46" name="Rounded Rectangle 45"/>
          <p:cNvSpPr/>
          <p:nvPr/>
        </p:nvSpPr>
        <p:spPr>
          <a:xfrm>
            <a:off x="3657600" y="4261104"/>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0" y="4338828"/>
            <a:ext cx="1554480" cy="219456"/>
          </a:xfrm>
          <a:prstGeom prst="rect">
            <a:avLst/>
          </a:prstGeom>
          <a:noFill/>
        </p:spPr>
        <p:txBody>
          <a:bodyPr wrap="square" lIns="0" rIns="0" tIns="0" bIns="0" anchor="t">
            <a:spAutoFit/>
          </a:bodyPr>
          <a:lstStyle/>
          <a:p>
            <a:pPr algn="ctr"/>
            <a:r>
              <a:rPr sz="950" b="1">
                <a:solidFill>
                  <a:srgbClr val="21295C"/>
                </a:solidFill>
                <a:latin typeface="Calibri"/>
              </a:rPr>
              <a:t>Perspectiva de género</a:t>
            </a:r>
          </a:p>
        </p:txBody>
      </p:sp>
      <p:sp>
        <p:nvSpPr>
          <p:cNvPr id="48" name="Rounded Rectangle 47"/>
          <p:cNvSpPr/>
          <p:nvPr/>
        </p:nvSpPr>
        <p:spPr>
          <a:xfrm>
            <a:off x="5303520" y="4261104"/>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303520" y="4338828"/>
            <a:ext cx="1554480" cy="219456"/>
          </a:xfrm>
          <a:prstGeom prst="rect">
            <a:avLst/>
          </a:prstGeom>
          <a:noFill/>
        </p:spPr>
        <p:txBody>
          <a:bodyPr wrap="square" lIns="0" rIns="0" tIns="0" bIns="0" anchor="t">
            <a:spAutoFit/>
          </a:bodyPr>
          <a:lstStyle/>
          <a:p>
            <a:pPr algn="ctr"/>
            <a:r>
              <a:rPr sz="950" b="1">
                <a:solidFill>
                  <a:srgbClr val="21295C"/>
                </a:solidFill>
                <a:latin typeface="Calibri"/>
              </a:rPr>
              <a:t>Provincia</a:t>
            </a:r>
          </a:p>
        </p:txBody>
      </p:sp>
      <p:sp>
        <p:nvSpPr>
          <p:cNvPr id="50" name="Rounded Rectangle 49"/>
          <p:cNvSpPr/>
          <p:nvPr/>
        </p:nvSpPr>
        <p:spPr>
          <a:xfrm>
            <a:off x="6949440" y="4261104"/>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49440" y="4338828"/>
            <a:ext cx="1554480" cy="219456"/>
          </a:xfrm>
          <a:prstGeom prst="rect">
            <a:avLst/>
          </a:prstGeom>
          <a:noFill/>
        </p:spPr>
        <p:txBody>
          <a:bodyPr wrap="square" lIns="0" rIns="0" tIns="0" bIns="0" anchor="t">
            <a:spAutoFit/>
          </a:bodyPr>
          <a:lstStyle/>
          <a:p>
            <a:pPr algn="ctr"/>
            <a:r>
              <a:rPr sz="950" b="1">
                <a:solidFill>
                  <a:srgbClr val="21295C"/>
                </a:solidFill>
                <a:latin typeface="Calibri"/>
              </a:rPr>
              <a:t>Cantón</a:t>
            </a:r>
          </a:p>
        </p:txBody>
      </p:sp>
      <p:sp>
        <p:nvSpPr>
          <p:cNvPr id="52" name="Rounded Rectangle 51"/>
          <p:cNvSpPr/>
          <p:nvPr/>
        </p:nvSpPr>
        <p:spPr>
          <a:xfrm>
            <a:off x="8595360" y="4261104"/>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95360" y="4338828"/>
            <a:ext cx="1554480" cy="219456"/>
          </a:xfrm>
          <a:prstGeom prst="rect">
            <a:avLst/>
          </a:prstGeom>
          <a:noFill/>
        </p:spPr>
        <p:txBody>
          <a:bodyPr wrap="square" lIns="0" rIns="0" tIns="0" bIns="0" anchor="t">
            <a:spAutoFit/>
          </a:bodyPr>
          <a:lstStyle/>
          <a:p>
            <a:pPr algn="ctr"/>
            <a:r>
              <a:rPr sz="950" b="1">
                <a:solidFill>
                  <a:srgbClr val="21295C"/>
                </a:solidFill>
                <a:latin typeface="Calibri"/>
              </a:rPr>
              <a:t>Distrito</a:t>
            </a:r>
          </a:p>
        </p:txBody>
      </p:sp>
      <p:sp>
        <p:nvSpPr>
          <p:cNvPr id="54" name="Rounded Rectangle 53"/>
          <p:cNvSpPr/>
          <p:nvPr/>
        </p:nvSpPr>
        <p:spPr>
          <a:xfrm>
            <a:off x="10241280" y="4261104"/>
            <a:ext cx="1554480" cy="338328"/>
          </a:xfrm>
          <a:prstGeom prst="roundRect">
            <a:avLst>
              <a:gd name="adj" fmla="val 3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241280" y="4338828"/>
            <a:ext cx="1554480" cy="219456"/>
          </a:xfrm>
          <a:prstGeom prst="rect">
            <a:avLst/>
          </a:prstGeom>
          <a:noFill/>
        </p:spPr>
        <p:txBody>
          <a:bodyPr wrap="square" lIns="0" rIns="0" tIns="0" bIns="0" anchor="t">
            <a:spAutoFit/>
          </a:bodyPr>
          <a:lstStyle/>
          <a:p>
            <a:pPr algn="ctr"/>
            <a:r>
              <a:rPr sz="950" b="1">
                <a:solidFill>
                  <a:srgbClr val="21295C"/>
                </a:solidFill>
                <a:latin typeface="Calibri"/>
              </a:rPr>
              <a:t>Enlace</a:t>
            </a:r>
          </a:p>
        </p:txBody>
      </p:sp>
      <p:pic>
        <p:nvPicPr>
          <p:cNvPr id="56" name="Picture 55" descr="export_sodsi.png"/>
          <p:cNvPicPr>
            <a:picLocks noChangeAspect="1"/>
          </p:cNvPicPr>
          <p:nvPr/>
        </p:nvPicPr>
        <p:blipFill>
          <a:blip r:embed="rId2"/>
          <a:stretch>
            <a:fillRect/>
          </a:stretch>
        </p:blipFill>
        <p:spPr>
          <a:xfrm>
            <a:off x="365760" y="4956048"/>
            <a:ext cx="5669280" cy="1126429"/>
          </a:xfrm>
          <a:prstGeom prst="rect">
            <a:avLst/>
          </a:prstGeom>
          <a:ln w="9525">
            <a:solidFill>
              <a:srgbClr val="D9DEE7"/>
            </a:solidFill>
          </a:ln>
        </p:spPr>
      </p:pic>
      <p:sp>
        <p:nvSpPr>
          <p:cNvPr id="57" name="Rounded Rectangle 56"/>
          <p:cNvSpPr/>
          <p:nvPr/>
        </p:nvSpPr>
        <p:spPr>
          <a:xfrm>
            <a:off x="6309360" y="4956048"/>
            <a:ext cx="5486400" cy="1133856"/>
          </a:xfrm>
          <a:prstGeom prst="roundRect">
            <a:avLst>
              <a:gd name="adj" fmla="val 1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37960" y="5138928"/>
            <a:ext cx="5029200" cy="822960"/>
          </a:xfrm>
          <a:prstGeom prst="rect">
            <a:avLst/>
          </a:prstGeom>
          <a:noFill/>
        </p:spPr>
        <p:txBody>
          <a:bodyPr wrap="square" lIns="0" rIns="0" tIns="0" bIns="0" anchor="t">
            <a:spAutoFit/>
          </a:bodyPr>
          <a:lstStyle/>
          <a:p>
            <a:pPr algn="l">
              <a:lnSpc>
                <a:spcPct val="118000"/>
              </a:lnSpc>
            </a:pPr>
            <a:r>
              <a:rPr sz="1150" b="0">
                <a:solidFill>
                  <a:srgbClr val="CADCFC"/>
                </a:solidFill>
                <a:latin typeface="Calibri"/>
              </a:rPr>
              <a:t>Verificado en ejecución: se descargó el reporte de la Sede Central para el año 2024 y el archivo salió con el proyecto evaluado y sus 21 campos completos, en una única hoja llamada «Acciones».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05 · RESULTADOS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Resultados en números</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70432"/>
            <a:ext cx="2148840" cy="1572768"/>
          </a:xfrm>
          <a:prstGeom prst="roundRect">
            <a:avLst>
              <a:gd name="adj" fmla="val 9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371600"/>
            <a:ext cx="2148840" cy="548640"/>
          </a:xfrm>
          <a:prstGeom prst="rect">
            <a:avLst/>
          </a:prstGeom>
          <a:noFill/>
        </p:spPr>
        <p:txBody>
          <a:bodyPr wrap="square" lIns="0" rIns="0" tIns="0" bIns="0" anchor="t">
            <a:spAutoFit/>
          </a:bodyPr>
          <a:lstStyle/>
          <a:p>
            <a:pPr algn="ctr"/>
            <a:r>
              <a:rPr sz="3000" b="1">
                <a:solidFill>
                  <a:srgbClr val="FFFFFF"/>
                </a:solidFill>
                <a:latin typeface="Calibri"/>
              </a:rPr>
              <a:t>19</a:t>
            </a:r>
          </a:p>
        </p:txBody>
      </p:sp>
      <p:sp>
        <p:nvSpPr>
          <p:cNvPr id="9" name="TextBox 8"/>
          <p:cNvSpPr txBox="1"/>
          <p:nvPr/>
        </p:nvSpPr>
        <p:spPr>
          <a:xfrm>
            <a:off x="365760" y="2176272"/>
            <a:ext cx="2148840" cy="457200"/>
          </a:xfrm>
          <a:prstGeom prst="rect">
            <a:avLst/>
          </a:prstGeom>
          <a:noFill/>
        </p:spPr>
        <p:txBody>
          <a:bodyPr wrap="square" lIns="0" rIns="0" tIns="0" bIns="0" anchor="t">
            <a:spAutoFit/>
          </a:bodyPr>
          <a:lstStyle/>
          <a:p>
            <a:pPr algn="ctr"/>
            <a:r>
              <a:rPr sz="1050" b="0">
                <a:solidFill>
                  <a:srgbClr val="CADCFC"/>
                </a:solidFill>
                <a:latin typeface="Calibri"/>
              </a:rPr>
              <a:t>Esquemas de base</a:t>
            </a:r>
          </a:p>
          <a:p>
            <a:pPr algn="ctr"/>
            <a:r>
              <a:rPr sz="1050" b="0">
                <a:solidFill>
                  <a:srgbClr val="CADCFC"/>
                </a:solidFill>
                <a:latin typeface="Calibri"/>
              </a:rPr>
              <a:t>de datos</a:t>
            </a:r>
          </a:p>
        </p:txBody>
      </p:sp>
      <p:sp>
        <p:nvSpPr>
          <p:cNvPr id="10" name="Rounded Rectangle 9"/>
          <p:cNvSpPr/>
          <p:nvPr/>
        </p:nvSpPr>
        <p:spPr>
          <a:xfrm>
            <a:off x="2697479" y="1170432"/>
            <a:ext cx="2148840" cy="1572768"/>
          </a:xfrm>
          <a:prstGeom prst="roundRect">
            <a:avLst>
              <a:gd name="adj" fmla="val 9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79" y="1371600"/>
            <a:ext cx="2148840" cy="548640"/>
          </a:xfrm>
          <a:prstGeom prst="rect">
            <a:avLst/>
          </a:prstGeom>
          <a:noFill/>
        </p:spPr>
        <p:txBody>
          <a:bodyPr wrap="square" lIns="0" rIns="0" tIns="0" bIns="0" anchor="t">
            <a:spAutoFit/>
          </a:bodyPr>
          <a:lstStyle/>
          <a:p>
            <a:pPr algn="ctr"/>
            <a:r>
              <a:rPr sz="3000" b="1">
                <a:solidFill>
                  <a:srgbClr val="FFFFFF"/>
                </a:solidFill>
                <a:latin typeface="Calibri"/>
              </a:rPr>
              <a:t>110</a:t>
            </a:r>
          </a:p>
        </p:txBody>
      </p:sp>
      <p:sp>
        <p:nvSpPr>
          <p:cNvPr id="12" name="TextBox 11"/>
          <p:cNvSpPr txBox="1"/>
          <p:nvPr/>
        </p:nvSpPr>
        <p:spPr>
          <a:xfrm>
            <a:off x="2697479" y="2176272"/>
            <a:ext cx="2148840" cy="457200"/>
          </a:xfrm>
          <a:prstGeom prst="rect">
            <a:avLst/>
          </a:prstGeom>
          <a:noFill/>
        </p:spPr>
        <p:txBody>
          <a:bodyPr wrap="square" lIns="0" rIns="0" tIns="0" bIns="0" anchor="t">
            <a:spAutoFit/>
          </a:bodyPr>
          <a:lstStyle/>
          <a:p>
            <a:pPr algn="ctr"/>
            <a:r>
              <a:rPr sz="1050" b="0">
                <a:solidFill>
                  <a:srgbClr val="CADCFC"/>
                </a:solidFill>
                <a:latin typeface="Calibri"/>
              </a:rPr>
              <a:t>Tablas</a:t>
            </a:r>
          </a:p>
          <a:p>
            <a:pPr algn="ctr"/>
            <a:r>
              <a:rPr sz="1050" b="0">
                <a:solidFill>
                  <a:srgbClr val="CADCFC"/>
                </a:solidFill>
                <a:latin typeface="Calibri"/>
              </a:rPr>
              <a:t>creadas</a:t>
            </a:r>
          </a:p>
        </p:txBody>
      </p:sp>
      <p:sp>
        <p:nvSpPr>
          <p:cNvPr id="13" name="Rounded Rectangle 12"/>
          <p:cNvSpPr/>
          <p:nvPr/>
        </p:nvSpPr>
        <p:spPr>
          <a:xfrm>
            <a:off x="5029200" y="1170432"/>
            <a:ext cx="2148840" cy="1572768"/>
          </a:xfrm>
          <a:prstGeom prst="roundRect">
            <a:avLst>
              <a:gd name="adj" fmla="val 9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1371600"/>
            <a:ext cx="2148840" cy="548640"/>
          </a:xfrm>
          <a:prstGeom prst="rect">
            <a:avLst/>
          </a:prstGeom>
          <a:noFill/>
        </p:spPr>
        <p:txBody>
          <a:bodyPr wrap="square" lIns="0" rIns="0" tIns="0" bIns="0" anchor="t">
            <a:spAutoFit/>
          </a:bodyPr>
          <a:lstStyle/>
          <a:p>
            <a:pPr algn="ctr"/>
            <a:r>
              <a:rPr sz="3000" b="1">
                <a:solidFill>
                  <a:srgbClr val="FFFFFF"/>
                </a:solidFill>
                <a:latin typeface="Calibri"/>
              </a:rPr>
              <a:t>54</a:t>
            </a:r>
          </a:p>
        </p:txBody>
      </p:sp>
      <p:sp>
        <p:nvSpPr>
          <p:cNvPr id="15" name="TextBox 14"/>
          <p:cNvSpPr txBox="1"/>
          <p:nvPr/>
        </p:nvSpPr>
        <p:spPr>
          <a:xfrm>
            <a:off x="5029200" y="2176272"/>
            <a:ext cx="2148840" cy="457200"/>
          </a:xfrm>
          <a:prstGeom prst="rect">
            <a:avLst/>
          </a:prstGeom>
          <a:noFill/>
        </p:spPr>
        <p:txBody>
          <a:bodyPr wrap="square" lIns="0" rIns="0" tIns="0" bIns="0" anchor="t">
            <a:spAutoFit/>
          </a:bodyPr>
          <a:lstStyle/>
          <a:p>
            <a:pPr algn="ctr"/>
            <a:r>
              <a:rPr sz="1050" b="0">
                <a:solidFill>
                  <a:srgbClr val="CADCFC"/>
                </a:solidFill>
                <a:latin typeface="Calibri"/>
              </a:rPr>
              <a:t>Vistas de</a:t>
            </a:r>
          </a:p>
          <a:p>
            <a:pPr algn="ctr"/>
            <a:r>
              <a:rPr sz="1050" b="0">
                <a:solidFill>
                  <a:srgbClr val="CADCFC"/>
                </a:solidFill>
                <a:latin typeface="Calibri"/>
              </a:rPr>
              <a:t>consulta</a:t>
            </a:r>
          </a:p>
        </p:txBody>
      </p:sp>
      <p:sp>
        <p:nvSpPr>
          <p:cNvPr id="16" name="Rounded Rectangle 15"/>
          <p:cNvSpPr/>
          <p:nvPr/>
        </p:nvSpPr>
        <p:spPr>
          <a:xfrm>
            <a:off x="7360919" y="1170432"/>
            <a:ext cx="2148840" cy="1572768"/>
          </a:xfrm>
          <a:prstGeom prst="roundRect">
            <a:avLst>
              <a:gd name="adj" fmla="val 9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19" y="1371600"/>
            <a:ext cx="2148840" cy="548640"/>
          </a:xfrm>
          <a:prstGeom prst="rect">
            <a:avLst/>
          </a:prstGeom>
          <a:noFill/>
        </p:spPr>
        <p:txBody>
          <a:bodyPr wrap="square" lIns="0" rIns="0" tIns="0" bIns="0" anchor="t">
            <a:spAutoFit/>
          </a:bodyPr>
          <a:lstStyle/>
          <a:p>
            <a:pPr algn="ctr"/>
            <a:r>
              <a:rPr sz="3000" b="1">
                <a:solidFill>
                  <a:srgbClr val="FFFFFF"/>
                </a:solidFill>
                <a:latin typeface="Calibri"/>
              </a:rPr>
              <a:t>239</a:t>
            </a:r>
          </a:p>
        </p:txBody>
      </p:sp>
      <p:sp>
        <p:nvSpPr>
          <p:cNvPr id="18" name="TextBox 17"/>
          <p:cNvSpPr txBox="1"/>
          <p:nvPr/>
        </p:nvSpPr>
        <p:spPr>
          <a:xfrm>
            <a:off x="7360919" y="2176272"/>
            <a:ext cx="2148840" cy="457200"/>
          </a:xfrm>
          <a:prstGeom prst="rect">
            <a:avLst/>
          </a:prstGeom>
          <a:noFill/>
        </p:spPr>
        <p:txBody>
          <a:bodyPr wrap="square" lIns="0" rIns="0" tIns="0" bIns="0" anchor="t">
            <a:spAutoFit/>
          </a:bodyPr>
          <a:lstStyle/>
          <a:p>
            <a:pPr algn="ctr"/>
            <a:r>
              <a:rPr sz="1050" b="0">
                <a:solidFill>
                  <a:srgbClr val="CADCFC"/>
                </a:solidFill>
                <a:latin typeface="Calibri"/>
              </a:rPr>
              <a:t>Indicadores oficiales</a:t>
            </a:r>
          </a:p>
          <a:p>
            <a:pPr algn="ctr"/>
            <a:r>
              <a:rPr sz="1050" b="0">
                <a:solidFill>
                  <a:srgbClr val="CADCFC"/>
                </a:solidFill>
                <a:latin typeface="Calibri"/>
              </a:rPr>
              <a:t>de la ONU</a:t>
            </a:r>
          </a:p>
        </p:txBody>
      </p:sp>
      <p:sp>
        <p:nvSpPr>
          <p:cNvPr id="19" name="Rounded Rectangle 18"/>
          <p:cNvSpPr/>
          <p:nvPr/>
        </p:nvSpPr>
        <p:spPr>
          <a:xfrm>
            <a:off x="9692640" y="1170432"/>
            <a:ext cx="2148840" cy="1572768"/>
          </a:xfrm>
          <a:prstGeom prst="roundRect">
            <a:avLst>
              <a:gd name="adj" fmla="val 9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1371600"/>
            <a:ext cx="2148840" cy="548640"/>
          </a:xfrm>
          <a:prstGeom prst="rect">
            <a:avLst/>
          </a:prstGeom>
          <a:noFill/>
        </p:spPr>
        <p:txBody>
          <a:bodyPr wrap="square" lIns="0" rIns="0" tIns="0" bIns="0" anchor="t">
            <a:spAutoFit/>
          </a:bodyPr>
          <a:lstStyle/>
          <a:p>
            <a:pPr algn="ctr"/>
            <a:r>
              <a:rPr sz="3000" b="1">
                <a:solidFill>
                  <a:srgbClr val="FFFFFF"/>
                </a:solidFill>
                <a:latin typeface="Calibri"/>
              </a:rPr>
              <a:t>17</a:t>
            </a:r>
          </a:p>
        </p:txBody>
      </p:sp>
      <p:sp>
        <p:nvSpPr>
          <p:cNvPr id="21" name="TextBox 20"/>
          <p:cNvSpPr txBox="1"/>
          <p:nvPr/>
        </p:nvSpPr>
        <p:spPr>
          <a:xfrm>
            <a:off x="9692640" y="2176272"/>
            <a:ext cx="2148840" cy="457200"/>
          </a:xfrm>
          <a:prstGeom prst="rect">
            <a:avLst/>
          </a:prstGeom>
          <a:noFill/>
        </p:spPr>
        <p:txBody>
          <a:bodyPr wrap="square" lIns="0" rIns="0" tIns="0" bIns="0" anchor="t">
            <a:spAutoFit/>
          </a:bodyPr>
          <a:lstStyle/>
          <a:p>
            <a:pPr algn="ctr"/>
            <a:r>
              <a:rPr sz="1050" b="0">
                <a:solidFill>
                  <a:srgbClr val="CADCFC"/>
                </a:solidFill>
                <a:latin typeface="Calibri"/>
              </a:rPr>
              <a:t>Objetivos de</a:t>
            </a:r>
          </a:p>
          <a:p>
            <a:pPr algn="ctr"/>
            <a:r>
              <a:rPr sz="1050" b="0">
                <a:solidFill>
                  <a:srgbClr val="CADCFC"/>
                </a:solidFill>
                <a:latin typeface="Calibri"/>
              </a:rPr>
              <a:t>Desarrollo Sostenible</a:t>
            </a:r>
          </a:p>
        </p:txBody>
      </p:sp>
      <p:sp>
        <p:nvSpPr>
          <p:cNvPr id="22" name="Rounded Rectangle 21"/>
          <p:cNvSpPr/>
          <p:nvPr/>
        </p:nvSpPr>
        <p:spPr>
          <a:xfrm>
            <a:off x="365760" y="2926080"/>
            <a:ext cx="2148840" cy="1572768"/>
          </a:xfrm>
          <a:prstGeom prst="roundRect">
            <a:avLst>
              <a:gd name="adj" fmla="val 9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3127248"/>
            <a:ext cx="2148840" cy="548640"/>
          </a:xfrm>
          <a:prstGeom prst="rect">
            <a:avLst/>
          </a:prstGeom>
          <a:noFill/>
        </p:spPr>
        <p:txBody>
          <a:bodyPr wrap="square" lIns="0" rIns="0" tIns="0" bIns="0" anchor="t">
            <a:spAutoFit/>
          </a:bodyPr>
          <a:lstStyle/>
          <a:p>
            <a:pPr algn="ctr"/>
            <a:r>
              <a:rPr sz="3000" b="1">
                <a:solidFill>
                  <a:srgbClr val="FFFFFF"/>
                </a:solidFill>
                <a:latin typeface="Calibri"/>
              </a:rPr>
              <a:t>201</a:t>
            </a:r>
          </a:p>
        </p:txBody>
      </p:sp>
      <p:sp>
        <p:nvSpPr>
          <p:cNvPr id="24" name="TextBox 23"/>
          <p:cNvSpPr txBox="1"/>
          <p:nvPr/>
        </p:nvSpPr>
        <p:spPr>
          <a:xfrm>
            <a:off x="365760" y="3931920"/>
            <a:ext cx="2148840" cy="457200"/>
          </a:xfrm>
          <a:prstGeom prst="rect">
            <a:avLst/>
          </a:prstGeom>
          <a:noFill/>
        </p:spPr>
        <p:txBody>
          <a:bodyPr wrap="square" lIns="0" rIns="0" tIns="0" bIns="0" anchor="t">
            <a:spAutoFit/>
          </a:bodyPr>
          <a:lstStyle/>
          <a:p>
            <a:pPr algn="ctr"/>
            <a:r>
              <a:rPr sz="1050" b="0">
                <a:solidFill>
                  <a:srgbClr val="CADCFC"/>
                </a:solidFill>
                <a:latin typeface="Calibri"/>
              </a:rPr>
              <a:t>Endpoints</a:t>
            </a:r>
          </a:p>
          <a:p>
            <a:pPr algn="ctr"/>
            <a:r>
              <a:rPr sz="1050" b="0">
                <a:solidFill>
                  <a:srgbClr val="CADCFC"/>
                </a:solidFill>
                <a:latin typeface="Calibri"/>
              </a:rPr>
              <a:t>REST</a:t>
            </a:r>
          </a:p>
        </p:txBody>
      </p:sp>
      <p:sp>
        <p:nvSpPr>
          <p:cNvPr id="25" name="Rounded Rectangle 24"/>
          <p:cNvSpPr/>
          <p:nvPr/>
        </p:nvSpPr>
        <p:spPr>
          <a:xfrm>
            <a:off x="2697479" y="2926080"/>
            <a:ext cx="2148840" cy="1572768"/>
          </a:xfrm>
          <a:prstGeom prst="roundRect">
            <a:avLst>
              <a:gd name="adj" fmla="val 9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97479" y="3127248"/>
            <a:ext cx="2148840" cy="548640"/>
          </a:xfrm>
          <a:prstGeom prst="rect">
            <a:avLst/>
          </a:prstGeom>
          <a:noFill/>
        </p:spPr>
        <p:txBody>
          <a:bodyPr wrap="square" lIns="0" rIns="0" tIns="0" bIns="0" anchor="t">
            <a:spAutoFit/>
          </a:bodyPr>
          <a:lstStyle/>
          <a:p>
            <a:pPr algn="ctr"/>
            <a:r>
              <a:rPr sz="3000" b="1">
                <a:solidFill>
                  <a:srgbClr val="FFFFFF"/>
                </a:solidFill>
                <a:latin typeface="Calibri"/>
              </a:rPr>
              <a:t>27</a:t>
            </a:r>
          </a:p>
        </p:txBody>
      </p:sp>
      <p:sp>
        <p:nvSpPr>
          <p:cNvPr id="27" name="TextBox 26"/>
          <p:cNvSpPr txBox="1"/>
          <p:nvPr/>
        </p:nvSpPr>
        <p:spPr>
          <a:xfrm>
            <a:off x="2697479" y="3931920"/>
            <a:ext cx="2148840" cy="457200"/>
          </a:xfrm>
          <a:prstGeom prst="rect">
            <a:avLst/>
          </a:prstGeom>
          <a:noFill/>
        </p:spPr>
        <p:txBody>
          <a:bodyPr wrap="square" lIns="0" rIns="0" tIns="0" bIns="0" anchor="t">
            <a:spAutoFit/>
          </a:bodyPr>
          <a:lstStyle/>
          <a:p>
            <a:pPr algn="ctr"/>
            <a:r>
              <a:rPr sz="1050" b="0">
                <a:solidFill>
                  <a:srgbClr val="CADCFC"/>
                </a:solidFill>
                <a:latin typeface="Calibri"/>
              </a:rPr>
              <a:t>Controladores</a:t>
            </a:r>
          </a:p>
          <a:p>
            <a:pPr algn="ctr"/>
            <a:r>
              <a:rPr sz="1050" b="0">
                <a:solidFill>
                  <a:srgbClr val="CADCFC"/>
                </a:solidFill>
                <a:latin typeface="Calibri"/>
              </a:rPr>
              <a:t>de la API</a:t>
            </a:r>
          </a:p>
        </p:txBody>
      </p:sp>
      <p:sp>
        <p:nvSpPr>
          <p:cNvPr id="28" name="Rounded Rectangle 27"/>
          <p:cNvSpPr/>
          <p:nvPr/>
        </p:nvSpPr>
        <p:spPr>
          <a:xfrm>
            <a:off x="5029200" y="2926080"/>
            <a:ext cx="2148840" cy="1572768"/>
          </a:xfrm>
          <a:prstGeom prst="roundRect">
            <a:avLst>
              <a:gd name="adj" fmla="val 9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0" y="3127248"/>
            <a:ext cx="2148840" cy="548640"/>
          </a:xfrm>
          <a:prstGeom prst="rect">
            <a:avLst/>
          </a:prstGeom>
          <a:noFill/>
        </p:spPr>
        <p:txBody>
          <a:bodyPr wrap="square" lIns="0" rIns="0" tIns="0" bIns="0" anchor="t">
            <a:spAutoFit/>
          </a:bodyPr>
          <a:lstStyle/>
          <a:p>
            <a:pPr algn="ctr"/>
            <a:r>
              <a:rPr sz="3000" b="1">
                <a:solidFill>
                  <a:srgbClr val="FFFFFF"/>
                </a:solidFill>
                <a:latin typeface="Calibri"/>
              </a:rPr>
              <a:t>36</a:t>
            </a:r>
          </a:p>
        </p:txBody>
      </p:sp>
      <p:sp>
        <p:nvSpPr>
          <p:cNvPr id="30" name="TextBox 29"/>
          <p:cNvSpPr txBox="1"/>
          <p:nvPr/>
        </p:nvSpPr>
        <p:spPr>
          <a:xfrm>
            <a:off x="5029200" y="3931920"/>
            <a:ext cx="2148840" cy="457200"/>
          </a:xfrm>
          <a:prstGeom prst="rect">
            <a:avLst/>
          </a:prstGeom>
          <a:noFill/>
        </p:spPr>
        <p:txBody>
          <a:bodyPr wrap="square" lIns="0" rIns="0" tIns="0" bIns="0" anchor="t">
            <a:spAutoFit/>
          </a:bodyPr>
          <a:lstStyle/>
          <a:p>
            <a:pPr algn="ctr"/>
            <a:r>
              <a:rPr sz="1050" b="0">
                <a:solidFill>
                  <a:srgbClr val="CADCFC"/>
                </a:solidFill>
                <a:latin typeface="Calibri"/>
              </a:rPr>
              <a:t>Archivos .http</a:t>
            </a:r>
          </a:p>
          <a:p>
            <a:pPr algn="ctr"/>
            <a:r>
              <a:rPr sz="1050" b="0">
                <a:solidFill>
                  <a:srgbClr val="CADCFC"/>
                </a:solidFill>
                <a:latin typeface="Calibri"/>
              </a:rPr>
              <a:t>de prueba</a:t>
            </a:r>
          </a:p>
        </p:txBody>
      </p:sp>
      <p:sp>
        <p:nvSpPr>
          <p:cNvPr id="31" name="Rounded Rectangle 30"/>
          <p:cNvSpPr/>
          <p:nvPr/>
        </p:nvSpPr>
        <p:spPr>
          <a:xfrm>
            <a:off x="7360919" y="2926080"/>
            <a:ext cx="2148840" cy="1572768"/>
          </a:xfrm>
          <a:prstGeom prst="roundRect">
            <a:avLst>
              <a:gd name="adj" fmla="val 9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60919" y="3127248"/>
            <a:ext cx="2148840" cy="548640"/>
          </a:xfrm>
          <a:prstGeom prst="rect">
            <a:avLst/>
          </a:prstGeom>
          <a:noFill/>
        </p:spPr>
        <p:txBody>
          <a:bodyPr wrap="square" lIns="0" rIns="0" tIns="0" bIns="0" anchor="t">
            <a:spAutoFit/>
          </a:bodyPr>
          <a:lstStyle/>
          <a:p>
            <a:pPr algn="ctr"/>
            <a:r>
              <a:rPr sz="3000" b="1">
                <a:solidFill>
                  <a:srgbClr val="FFFFFF"/>
                </a:solidFill>
                <a:latin typeface="Calibri"/>
              </a:rPr>
              <a:t>4</a:t>
            </a:r>
          </a:p>
        </p:txBody>
      </p:sp>
      <p:sp>
        <p:nvSpPr>
          <p:cNvPr id="33" name="TextBox 32"/>
          <p:cNvSpPr txBox="1"/>
          <p:nvPr/>
        </p:nvSpPr>
        <p:spPr>
          <a:xfrm>
            <a:off x="7360919" y="3931920"/>
            <a:ext cx="2148840" cy="457200"/>
          </a:xfrm>
          <a:prstGeom prst="rect">
            <a:avLst/>
          </a:prstGeom>
          <a:noFill/>
        </p:spPr>
        <p:txBody>
          <a:bodyPr wrap="square" lIns="0" rIns="0" tIns="0" bIns="0" anchor="t">
            <a:spAutoFit/>
          </a:bodyPr>
          <a:lstStyle/>
          <a:p>
            <a:pPr algn="ctr"/>
            <a:r>
              <a:rPr sz="1050" b="0">
                <a:solidFill>
                  <a:srgbClr val="CADCFC"/>
                </a:solidFill>
                <a:latin typeface="Calibri"/>
              </a:rPr>
              <a:t>Roles con matriz</a:t>
            </a:r>
          </a:p>
          <a:p>
            <a:pPr algn="ctr"/>
            <a:r>
              <a:rPr sz="1050" b="0">
                <a:solidFill>
                  <a:srgbClr val="CADCFC"/>
                </a:solidFill>
                <a:latin typeface="Calibri"/>
              </a:rPr>
              <a:t>de permisos</a:t>
            </a:r>
          </a:p>
        </p:txBody>
      </p:sp>
      <p:sp>
        <p:nvSpPr>
          <p:cNvPr id="34" name="Rounded Rectangle 33"/>
          <p:cNvSpPr/>
          <p:nvPr/>
        </p:nvSpPr>
        <p:spPr>
          <a:xfrm>
            <a:off x="9692640" y="2926080"/>
            <a:ext cx="2148840" cy="1572768"/>
          </a:xfrm>
          <a:prstGeom prst="roundRect">
            <a:avLst>
              <a:gd name="adj" fmla="val 9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0" y="3127248"/>
            <a:ext cx="2148840" cy="548640"/>
          </a:xfrm>
          <a:prstGeom prst="rect">
            <a:avLst/>
          </a:prstGeom>
          <a:noFill/>
        </p:spPr>
        <p:txBody>
          <a:bodyPr wrap="square" lIns="0" rIns="0" tIns="0" bIns="0" anchor="t">
            <a:spAutoFit/>
          </a:bodyPr>
          <a:lstStyle/>
          <a:p>
            <a:pPr algn="ctr"/>
            <a:r>
              <a:rPr sz="3000" b="1">
                <a:solidFill>
                  <a:srgbClr val="FFFFFF"/>
                </a:solidFill>
                <a:latin typeface="Calibri"/>
              </a:rPr>
              <a:t>7</a:t>
            </a:r>
          </a:p>
        </p:txBody>
      </p:sp>
      <p:sp>
        <p:nvSpPr>
          <p:cNvPr id="36" name="TextBox 35"/>
          <p:cNvSpPr txBox="1"/>
          <p:nvPr/>
        </p:nvSpPr>
        <p:spPr>
          <a:xfrm>
            <a:off x="9692640" y="3931920"/>
            <a:ext cx="2148840" cy="457200"/>
          </a:xfrm>
          <a:prstGeom prst="rect">
            <a:avLst/>
          </a:prstGeom>
          <a:noFill/>
        </p:spPr>
        <p:txBody>
          <a:bodyPr wrap="square" lIns="0" rIns="0" tIns="0" bIns="0" anchor="t">
            <a:spAutoFit/>
          </a:bodyPr>
          <a:lstStyle/>
          <a:p>
            <a:pPr algn="ctr"/>
            <a:r>
              <a:rPr sz="1050" b="0">
                <a:solidFill>
                  <a:srgbClr val="CADCFC"/>
                </a:solidFill>
                <a:latin typeface="Calibri"/>
              </a:rPr>
              <a:t>Sedes y centros</a:t>
            </a:r>
          </a:p>
          <a:p>
            <a:pPr algn="ctr"/>
            <a:r>
              <a:rPr sz="1050" b="0">
                <a:solidFill>
                  <a:srgbClr val="CADCFC"/>
                </a:solidFill>
                <a:latin typeface="Calibri"/>
              </a:rPr>
              <a:t>modelados</a:t>
            </a:r>
          </a:p>
        </p:txBody>
      </p:sp>
      <p:sp>
        <p:nvSpPr>
          <p:cNvPr id="37" name="TextBox 36"/>
          <p:cNvSpPr txBox="1"/>
          <p:nvPr/>
        </p:nvSpPr>
        <p:spPr>
          <a:xfrm>
            <a:off x="365760" y="4892040"/>
            <a:ext cx="7315200" cy="228600"/>
          </a:xfrm>
          <a:prstGeom prst="rect">
            <a:avLst/>
          </a:prstGeom>
          <a:noFill/>
        </p:spPr>
        <p:txBody>
          <a:bodyPr wrap="square" lIns="0" rIns="0" tIns="0" bIns="0" anchor="t">
            <a:spAutoFit/>
          </a:bodyPr>
          <a:lstStyle/>
          <a:p>
            <a:pPr algn="l"/>
            <a:r>
              <a:rPr sz="1100" b="1">
                <a:solidFill>
                  <a:srgbClr val="F59E0B"/>
                </a:solidFill>
                <a:latin typeface="Calibri"/>
              </a:rPr>
              <a:t>VOLUMEN Y ALCANCE DEL TRABAJO ENTREGADO</a:t>
            </a:r>
          </a:p>
        </p:txBody>
      </p:sp>
      <p:sp>
        <p:nvSpPr>
          <p:cNvPr id="38" name="Rounded Rectangle 37"/>
          <p:cNvSpPr/>
          <p:nvPr/>
        </p:nvSpPr>
        <p:spPr>
          <a:xfrm>
            <a:off x="365760" y="5212080"/>
            <a:ext cx="5669280" cy="493776"/>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5330952"/>
            <a:ext cx="1234440" cy="274320"/>
          </a:xfrm>
          <a:prstGeom prst="rect">
            <a:avLst/>
          </a:prstGeom>
          <a:noFill/>
        </p:spPr>
        <p:txBody>
          <a:bodyPr wrap="square" lIns="0" rIns="0" tIns="0" bIns="0" anchor="t">
            <a:spAutoFit/>
          </a:bodyPr>
          <a:lstStyle/>
          <a:p>
            <a:pPr algn="r"/>
            <a:r>
              <a:rPr sz="1400" b="1">
                <a:solidFill>
                  <a:srgbClr val="1C7293"/>
                </a:solidFill>
                <a:latin typeface="Calibri"/>
              </a:rPr>
              <a:t>~31 400</a:t>
            </a:r>
          </a:p>
        </p:txBody>
      </p:sp>
      <p:sp>
        <p:nvSpPr>
          <p:cNvPr id="40" name="TextBox 39"/>
          <p:cNvSpPr txBox="1"/>
          <p:nvPr/>
        </p:nvSpPr>
        <p:spPr>
          <a:xfrm>
            <a:off x="1938528" y="5358384"/>
            <a:ext cx="3931920" cy="237744"/>
          </a:xfrm>
          <a:prstGeom prst="rect">
            <a:avLst/>
          </a:prstGeom>
          <a:noFill/>
        </p:spPr>
        <p:txBody>
          <a:bodyPr wrap="square" lIns="0" rIns="0" tIns="0" bIns="0" anchor="t">
            <a:spAutoFit/>
          </a:bodyPr>
          <a:lstStyle/>
          <a:p>
            <a:pPr algn="l"/>
            <a:r>
              <a:rPr sz="1050" b="0">
                <a:solidFill>
                  <a:srgbClr val="475569"/>
                </a:solidFill>
                <a:latin typeface="Calibri"/>
              </a:rPr>
              <a:t>líneas de código Java escritas (sin contar el código generado por jOOQ)</a:t>
            </a:r>
          </a:p>
        </p:txBody>
      </p:sp>
      <p:sp>
        <p:nvSpPr>
          <p:cNvPr id="41" name="Rounded Rectangle 40"/>
          <p:cNvSpPr/>
          <p:nvPr/>
        </p:nvSpPr>
        <p:spPr>
          <a:xfrm>
            <a:off x="6309360" y="5212080"/>
            <a:ext cx="5669280" cy="493776"/>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10528" y="5330952"/>
            <a:ext cx="1234440" cy="274320"/>
          </a:xfrm>
          <a:prstGeom prst="rect">
            <a:avLst/>
          </a:prstGeom>
          <a:noFill/>
        </p:spPr>
        <p:txBody>
          <a:bodyPr wrap="square" lIns="0" rIns="0" tIns="0" bIns="0" anchor="t">
            <a:spAutoFit/>
          </a:bodyPr>
          <a:lstStyle/>
          <a:p>
            <a:pPr algn="r"/>
            <a:r>
              <a:rPr sz="1400" b="1">
                <a:solidFill>
                  <a:srgbClr val="1C7293"/>
                </a:solidFill>
                <a:latin typeface="Calibri"/>
              </a:rPr>
              <a:t>~22 700</a:t>
            </a:r>
          </a:p>
        </p:txBody>
      </p:sp>
      <p:sp>
        <p:nvSpPr>
          <p:cNvPr id="43" name="TextBox 42"/>
          <p:cNvSpPr txBox="1"/>
          <p:nvPr/>
        </p:nvSpPr>
        <p:spPr>
          <a:xfrm>
            <a:off x="7882128" y="5358384"/>
            <a:ext cx="3931920" cy="237744"/>
          </a:xfrm>
          <a:prstGeom prst="rect">
            <a:avLst/>
          </a:prstGeom>
          <a:noFill/>
        </p:spPr>
        <p:txBody>
          <a:bodyPr wrap="square" lIns="0" rIns="0" tIns="0" bIns="0" anchor="t">
            <a:spAutoFit/>
          </a:bodyPr>
          <a:lstStyle/>
          <a:p>
            <a:pPr algn="l"/>
            <a:r>
              <a:rPr sz="1050" b="0">
                <a:solidFill>
                  <a:srgbClr val="475569"/>
                </a:solidFill>
                <a:latin typeface="Calibri"/>
              </a:rPr>
              <a:t>líneas de código del cliente web en React, JavaScript y CSS</a:t>
            </a:r>
          </a:p>
        </p:txBody>
      </p:sp>
      <p:sp>
        <p:nvSpPr>
          <p:cNvPr id="44" name="Rounded Rectangle 43"/>
          <p:cNvSpPr/>
          <p:nvPr/>
        </p:nvSpPr>
        <p:spPr>
          <a:xfrm>
            <a:off x="365760" y="5779008"/>
            <a:ext cx="5669280" cy="493776"/>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5897880"/>
            <a:ext cx="1234440" cy="274320"/>
          </a:xfrm>
          <a:prstGeom prst="rect">
            <a:avLst/>
          </a:prstGeom>
          <a:noFill/>
        </p:spPr>
        <p:txBody>
          <a:bodyPr wrap="square" lIns="0" rIns="0" tIns="0" bIns="0" anchor="t">
            <a:spAutoFit/>
          </a:bodyPr>
          <a:lstStyle/>
          <a:p>
            <a:pPr algn="r"/>
            <a:r>
              <a:rPr sz="1400" b="1">
                <a:solidFill>
                  <a:srgbClr val="1C7293"/>
                </a:solidFill>
                <a:latin typeface="Calibri"/>
              </a:rPr>
              <a:t>~6 500</a:t>
            </a:r>
          </a:p>
        </p:txBody>
      </p:sp>
      <p:sp>
        <p:nvSpPr>
          <p:cNvPr id="46" name="TextBox 45"/>
          <p:cNvSpPr txBox="1"/>
          <p:nvPr/>
        </p:nvSpPr>
        <p:spPr>
          <a:xfrm>
            <a:off x="1938528" y="5925312"/>
            <a:ext cx="3931920" cy="237744"/>
          </a:xfrm>
          <a:prstGeom prst="rect">
            <a:avLst/>
          </a:prstGeom>
          <a:noFill/>
        </p:spPr>
        <p:txBody>
          <a:bodyPr wrap="square" lIns="0" rIns="0" tIns="0" bIns="0" anchor="t">
            <a:spAutoFit/>
          </a:bodyPr>
          <a:lstStyle/>
          <a:p>
            <a:pPr algn="l"/>
            <a:r>
              <a:rPr sz="1050" b="0">
                <a:solidFill>
                  <a:srgbClr val="475569"/>
                </a:solidFill>
                <a:latin typeface="Calibri"/>
              </a:rPr>
              <a:t>líneas de scripts SQL de instalación, catálogos y datos de prueba</a:t>
            </a:r>
          </a:p>
        </p:txBody>
      </p:sp>
      <p:sp>
        <p:nvSpPr>
          <p:cNvPr id="47" name="Rounded Rectangle 46"/>
          <p:cNvSpPr/>
          <p:nvPr/>
        </p:nvSpPr>
        <p:spPr>
          <a:xfrm>
            <a:off x="6309360" y="5779008"/>
            <a:ext cx="5669280" cy="493776"/>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10528" y="5897880"/>
            <a:ext cx="1234440" cy="274320"/>
          </a:xfrm>
          <a:prstGeom prst="rect">
            <a:avLst/>
          </a:prstGeom>
          <a:noFill/>
        </p:spPr>
        <p:txBody>
          <a:bodyPr wrap="square" lIns="0" rIns="0" tIns="0" bIns="0" anchor="t">
            <a:spAutoFit/>
          </a:bodyPr>
          <a:lstStyle/>
          <a:p>
            <a:pPr algn="r"/>
            <a:r>
              <a:rPr sz="1400" b="1">
                <a:solidFill>
                  <a:srgbClr val="1C7293"/>
                </a:solidFill>
                <a:latin typeface="Calibri"/>
              </a:rPr>
              <a:t>280</a:t>
            </a:r>
          </a:p>
        </p:txBody>
      </p:sp>
      <p:sp>
        <p:nvSpPr>
          <p:cNvPr id="49" name="TextBox 48"/>
          <p:cNvSpPr txBox="1"/>
          <p:nvPr/>
        </p:nvSpPr>
        <p:spPr>
          <a:xfrm>
            <a:off x="7882128" y="5925312"/>
            <a:ext cx="3931920" cy="237744"/>
          </a:xfrm>
          <a:prstGeom prst="rect">
            <a:avLst/>
          </a:prstGeom>
          <a:noFill/>
        </p:spPr>
        <p:txBody>
          <a:bodyPr wrap="square" lIns="0" rIns="0" tIns="0" bIns="0" anchor="t">
            <a:spAutoFit/>
          </a:bodyPr>
          <a:lstStyle/>
          <a:p>
            <a:pPr algn="l"/>
            <a:r>
              <a:rPr sz="1050" b="0">
                <a:solidFill>
                  <a:srgbClr val="475569"/>
                </a:solidFill>
                <a:latin typeface="Calibri"/>
              </a:rPr>
              <a:t>horas de práctica registradas en 14 bitácoras semanales firmadas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06 · CRONOGRAMA</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Cronograma propuesto contra cronograma ejecutado</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TextBox 6"/>
          <p:cNvSpPr txBox="1"/>
          <p:nvPr/>
        </p:nvSpPr>
        <p:spPr>
          <a:xfrm>
            <a:off x="365760" y="1024128"/>
            <a:ext cx="11430000" cy="329184"/>
          </a:xfrm>
          <a:prstGeom prst="rect">
            <a:avLst/>
          </a:prstGeom>
          <a:noFill/>
        </p:spPr>
        <p:txBody>
          <a:bodyPr wrap="square" lIns="0" rIns="0" tIns="0" bIns="0" anchor="t">
            <a:spAutoFit/>
          </a:bodyPr>
          <a:lstStyle/>
          <a:p>
            <a:pPr algn="ctr"/>
            <a:r>
              <a:rPr sz="1700" b="1">
                <a:solidFill>
                  <a:srgbClr val="1C7293"/>
                </a:solidFill>
                <a:latin typeface="Calibri"/>
              </a:rPr>
              <a:t>100 % de cumplimiento en las 14 semanas · 20 horas semanales · 280 horas totales</a:t>
            </a:r>
          </a:p>
        </p:txBody>
      </p:sp>
      <p:sp>
        <p:nvSpPr>
          <p:cNvPr id="8" name="Rounded Rectangle 7"/>
          <p:cNvSpPr/>
          <p:nvPr/>
        </p:nvSpPr>
        <p:spPr>
          <a:xfrm>
            <a:off x="457200" y="1572768"/>
            <a:ext cx="11247120" cy="384048"/>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55064"/>
            <a:ext cx="2377440" cy="256032"/>
          </a:xfrm>
          <a:prstGeom prst="rect">
            <a:avLst/>
          </a:prstGeom>
          <a:noFill/>
        </p:spPr>
        <p:txBody>
          <a:bodyPr wrap="square" lIns="0" rIns="0" tIns="0" bIns="0" anchor="t">
            <a:spAutoFit/>
          </a:bodyPr>
          <a:lstStyle/>
          <a:p>
            <a:pPr algn="l"/>
            <a:r>
              <a:rPr sz="1150" b="1">
                <a:solidFill>
                  <a:srgbClr val="FFFFFF"/>
                </a:solidFill>
                <a:latin typeface="Calibri"/>
              </a:rPr>
              <a:t>FASE</a:t>
            </a:r>
          </a:p>
        </p:txBody>
      </p:sp>
      <p:sp>
        <p:nvSpPr>
          <p:cNvPr id="10" name="TextBox 9"/>
          <p:cNvSpPr txBox="1"/>
          <p:nvPr/>
        </p:nvSpPr>
        <p:spPr>
          <a:xfrm>
            <a:off x="3063240" y="1655064"/>
            <a:ext cx="4160520" cy="256032"/>
          </a:xfrm>
          <a:prstGeom prst="rect">
            <a:avLst/>
          </a:prstGeom>
          <a:noFill/>
        </p:spPr>
        <p:txBody>
          <a:bodyPr wrap="square" lIns="0" rIns="0" tIns="0" bIns="0" anchor="t">
            <a:spAutoFit/>
          </a:bodyPr>
          <a:lstStyle/>
          <a:p>
            <a:pPr algn="l"/>
            <a:r>
              <a:rPr sz="1150" b="1">
                <a:solidFill>
                  <a:srgbClr val="FFFFFF"/>
                </a:solidFill>
                <a:latin typeface="Calibri"/>
              </a:rPr>
              <a:t>PROPUESTO</a:t>
            </a:r>
          </a:p>
        </p:txBody>
      </p:sp>
      <p:sp>
        <p:nvSpPr>
          <p:cNvPr id="11" name="TextBox 10"/>
          <p:cNvSpPr txBox="1"/>
          <p:nvPr/>
        </p:nvSpPr>
        <p:spPr>
          <a:xfrm>
            <a:off x="7315200" y="1655064"/>
            <a:ext cx="4434840" cy="256032"/>
          </a:xfrm>
          <a:prstGeom prst="rect">
            <a:avLst/>
          </a:prstGeom>
          <a:noFill/>
        </p:spPr>
        <p:txBody>
          <a:bodyPr wrap="square" lIns="0" rIns="0" tIns="0" bIns="0" anchor="t">
            <a:spAutoFit/>
          </a:bodyPr>
          <a:lstStyle/>
          <a:p>
            <a:pPr algn="l"/>
            <a:r>
              <a:rPr sz="1150" b="1">
                <a:solidFill>
                  <a:srgbClr val="FFFFFF"/>
                </a:solidFill>
                <a:latin typeface="Calibri"/>
              </a:rPr>
              <a:t>EJECUTADO</a:t>
            </a:r>
          </a:p>
        </p:txBody>
      </p:sp>
      <p:sp>
        <p:nvSpPr>
          <p:cNvPr id="12" name="Rounded Rectangle 11"/>
          <p:cNvSpPr/>
          <p:nvPr/>
        </p:nvSpPr>
        <p:spPr>
          <a:xfrm>
            <a:off x="457200" y="2048256"/>
            <a:ext cx="11247120" cy="8869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2048256"/>
            <a:ext cx="82296" cy="88696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231136"/>
            <a:ext cx="2286000" cy="548640"/>
          </a:xfrm>
          <a:prstGeom prst="rect">
            <a:avLst/>
          </a:prstGeom>
          <a:noFill/>
        </p:spPr>
        <p:txBody>
          <a:bodyPr wrap="square" lIns="0" rIns="0" tIns="0" bIns="0" anchor="t">
            <a:spAutoFit/>
          </a:bodyPr>
          <a:lstStyle/>
          <a:p>
            <a:pPr algn="l">
              <a:lnSpc>
                <a:spcPct val="112000"/>
              </a:lnSpc>
            </a:pPr>
            <a:r>
              <a:rPr sz="1150" b="1">
                <a:solidFill>
                  <a:srgbClr val="0F172A"/>
                </a:solidFill>
                <a:latin typeface="Calibri"/>
              </a:rPr>
              <a:t>Semanas 1–3</a:t>
            </a:r>
          </a:p>
          <a:p>
            <a:pPr algn="l">
              <a:lnSpc>
                <a:spcPct val="112000"/>
              </a:lnSpc>
            </a:pPr>
            <a:r>
              <a:rPr sz="1150" b="1">
                <a:solidFill>
                  <a:srgbClr val="0F172A"/>
                </a:solidFill>
                <a:latin typeface="Calibri"/>
              </a:rPr>
              <a:t>Base de datos</a:t>
            </a:r>
          </a:p>
        </p:txBody>
      </p:sp>
      <p:sp>
        <p:nvSpPr>
          <p:cNvPr id="15" name="TextBox 14"/>
          <p:cNvSpPr txBox="1"/>
          <p:nvPr/>
        </p:nvSpPr>
        <p:spPr>
          <a:xfrm>
            <a:off x="3063240" y="2249424"/>
            <a:ext cx="4069080" cy="530352"/>
          </a:xfrm>
          <a:prstGeom prst="rect">
            <a:avLst/>
          </a:prstGeom>
          <a:noFill/>
        </p:spPr>
        <p:txBody>
          <a:bodyPr wrap="square" lIns="0" rIns="0" tIns="0" bIns="0" anchor="t">
            <a:spAutoFit/>
          </a:bodyPr>
          <a:lstStyle/>
          <a:p>
            <a:pPr algn="l">
              <a:lnSpc>
                <a:spcPct val="116000"/>
              </a:lnSpc>
            </a:pPr>
            <a:r>
              <a:rPr sz="1100" b="0">
                <a:solidFill>
                  <a:srgbClr val="64748B"/>
                </a:solidFill>
                <a:latin typeface="Calibri"/>
              </a:rPr>
              <a:t>Diseñar los 19 esquemas, el catálogo de ODS y los indicadores oficiales.</a:t>
            </a:r>
          </a:p>
        </p:txBody>
      </p:sp>
      <p:sp>
        <p:nvSpPr>
          <p:cNvPr id="16" name="TextBox 15"/>
          <p:cNvSpPr txBox="1"/>
          <p:nvPr/>
        </p:nvSpPr>
        <p:spPr>
          <a:xfrm>
            <a:off x="7315200" y="2249424"/>
            <a:ext cx="4206240" cy="566928"/>
          </a:xfrm>
          <a:prstGeom prst="rect">
            <a:avLst/>
          </a:prstGeom>
          <a:noFill/>
        </p:spPr>
        <p:txBody>
          <a:bodyPr wrap="square" lIns="0" rIns="0" tIns="0" bIns="0" anchor="t">
            <a:spAutoFit/>
          </a:bodyPr>
          <a:lstStyle/>
          <a:p>
            <a:pPr algn="l">
              <a:lnSpc>
                <a:spcPct val="116000"/>
              </a:lnSpc>
            </a:pPr>
            <a:r>
              <a:rPr sz="1100" b="0">
                <a:solidFill>
                  <a:srgbClr val="475569"/>
                </a:solidFill>
                <a:latin typeface="Calibri"/>
              </a:rPr>
              <a:t>Cumplido. 19 esquemas, 110 tablas y los 239 indicadores sembrados y verificados.</a:t>
            </a:r>
          </a:p>
        </p:txBody>
      </p:sp>
      <p:sp>
        <p:nvSpPr>
          <p:cNvPr id="17" name="Rounded Rectangle 16"/>
          <p:cNvSpPr/>
          <p:nvPr/>
        </p:nvSpPr>
        <p:spPr>
          <a:xfrm>
            <a:off x="457200" y="3026664"/>
            <a:ext cx="11247120" cy="8869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3026664"/>
            <a:ext cx="82296" cy="88696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209544"/>
            <a:ext cx="2286000" cy="548640"/>
          </a:xfrm>
          <a:prstGeom prst="rect">
            <a:avLst/>
          </a:prstGeom>
          <a:noFill/>
        </p:spPr>
        <p:txBody>
          <a:bodyPr wrap="square" lIns="0" rIns="0" tIns="0" bIns="0" anchor="t">
            <a:spAutoFit/>
          </a:bodyPr>
          <a:lstStyle/>
          <a:p>
            <a:pPr algn="l">
              <a:lnSpc>
                <a:spcPct val="112000"/>
              </a:lnSpc>
            </a:pPr>
            <a:r>
              <a:rPr sz="1150" b="1">
                <a:solidFill>
                  <a:srgbClr val="0F172A"/>
                </a:solidFill>
                <a:latin typeface="Calibri"/>
              </a:rPr>
              <a:t>Semanas 4–8</a:t>
            </a:r>
          </a:p>
          <a:p>
            <a:pPr algn="l">
              <a:lnSpc>
                <a:spcPct val="112000"/>
              </a:lnSpc>
            </a:pPr>
            <a:r>
              <a:rPr sz="1150" b="1">
                <a:solidFill>
                  <a:srgbClr val="0F172A"/>
                </a:solidFill>
                <a:latin typeface="Calibri"/>
              </a:rPr>
              <a:t>Backend</a:t>
            </a:r>
          </a:p>
        </p:txBody>
      </p:sp>
      <p:sp>
        <p:nvSpPr>
          <p:cNvPr id="20" name="TextBox 19"/>
          <p:cNvSpPr txBox="1"/>
          <p:nvPr/>
        </p:nvSpPr>
        <p:spPr>
          <a:xfrm>
            <a:off x="3063240" y="3227832"/>
            <a:ext cx="4069080" cy="530352"/>
          </a:xfrm>
          <a:prstGeom prst="rect">
            <a:avLst/>
          </a:prstGeom>
          <a:noFill/>
        </p:spPr>
        <p:txBody>
          <a:bodyPr wrap="square" lIns="0" rIns="0" tIns="0" bIns="0" anchor="t">
            <a:spAutoFit/>
          </a:bodyPr>
          <a:lstStyle/>
          <a:p>
            <a:pPr algn="l">
              <a:lnSpc>
                <a:spcPct val="116000"/>
              </a:lnSpc>
            </a:pPr>
            <a:r>
              <a:rPr sz="1100" b="0">
                <a:solidFill>
                  <a:srgbClr val="64748B"/>
                </a:solidFill>
                <a:latin typeface="Calibri"/>
              </a:rPr>
              <a:t>Generar el acceso a datos con jOOQ y construir repositorios, servicios y controladores REST.</a:t>
            </a:r>
          </a:p>
        </p:txBody>
      </p:sp>
      <p:sp>
        <p:nvSpPr>
          <p:cNvPr id="21" name="TextBox 20"/>
          <p:cNvSpPr txBox="1"/>
          <p:nvPr/>
        </p:nvSpPr>
        <p:spPr>
          <a:xfrm>
            <a:off x="7315200" y="3227832"/>
            <a:ext cx="4206240" cy="566928"/>
          </a:xfrm>
          <a:prstGeom prst="rect">
            <a:avLst/>
          </a:prstGeom>
          <a:noFill/>
        </p:spPr>
        <p:txBody>
          <a:bodyPr wrap="square" lIns="0" rIns="0" tIns="0" bIns="0" anchor="t">
            <a:spAutoFit/>
          </a:bodyPr>
          <a:lstStyle/>
          <a:p>
            <a:pPr algn="l">
              <a:lnSpc>
                <a:spcPct val="116000"/>
              </a:lnSpc>
            </a:pPr>
            <a:r>
              <a:rPr sz="1100" b="0">
                <a:solidFill>
                  <a:srgbClr val="475569"/>
                </a:solidFill>
                <a:latin typeface="Calibri"/>
              </a:rPr>
              <a:t>Cumplido. 18 repositorios, 18 servicios y los controladores REST probados con archivos .http.</a:t>
            </a:r>
          </a:p>
        </p:txBody>
      </p:sp>
      <p:sp>
        <p:nvSpPr>
          <p:cNvPr id="22" name="Rounded Rectangle 21"/>
          <p:cNvSpPr/>
          <p:nvPr/>
        </p:nvSpPr>
        <p:spPr>
          <a:xfrm>
            <a:off x="457200" y="4005072"/>
            <a:ext cx="11247120" cy="8869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57200" y="4005072"/>
            <a:ext cx="82296" cy="88696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187952"/>
            <a:ext cx="2286000" cy="548640"/>
          </a:xfrm>
          <a:prstGeom prst="rect">
            <a:avLst/>
          </a:prstGeom>
          <a:noFill/>
        </p:spPr>
        <p:txBody>
          <a:bodyPr wrap="square" lIns="0" rIns="0" tIns="0" bIns="0" anchor="t">
            <a:spAutoFit/>
          </a:bodyPr>
          <a:lstStyle/>
          <a:p>
            <a:pPr algn="l">
              <a:lnSpc>
                <a:spcPct val="112000"/>
              </a:lnSpc>
            </a:pPr>
            <a:r>
              <a:rPr sz="1150" b="1">
                <a:solidFill>
                  <a:srgbClr val="0F172A"/>
                </a:solidFill>
                <a:latin typeface="Calibri"/>
              </a:rPr>
              <a:t>Semanas 9–12</a:t>
            </a:r>
          </a:p>
          <a:p>
            <a:pPr algn="l">
              <a:lnSpc>
                <a:spcPct val="112000"/>
              </a:lnSpc>
            </a:pPr>
            <a:r>
              <a:rPr sz="1150" b="1">
                <a:solidFill>
                  <a:srgbClr val="0F172A"/>
                </a:solidFill>
                <a:latin typeface="Calibri"/>
              </a:rPr>
              <a:t>Frontend</a:t>
            </a:r>
          </a:p>
        </p:txBody>
      </p:sp>
      <p:sp>
        <p:nvSpPr>
          <p:cNvPr id="25" name="TextBox 24"/>
          <p:cNvSpPr txBox="1"/>
          <p:nvPr/>
        </p:nvSpPr>
        <p:spPr>
          <a:xfrm>
            <a:off x="3063240" y="4206240"/>
            <a:ext cx="4069080" cy="530352"/>
          </a:xfrm>
          <a:prstGeom prst="rect">
            <a:avLst/>
          </a:prstGeom>
          <a:noFill/>
        </p:spPr>
        <p:txBody>
          <a:bodyPr wrap="square" lIns="0" rIns="0" tIns="0" bIns="0" anchor="t">
            <a:spAutoFit/>
          </a:bodyPr>
          <a:lstStyle/>
          <a:p>
            <a:pPr algn="l">
              <a:lnSpc>
                <a:spcPct val="116000"/>
              </a:lnSpc>
            </a:pPr>
            <a:r>
              <a:rPr sz="1100" b="0">
                <a:solidFill>
                  <a:srgbClr val="64748B"/>
                </a:solidFill>
                <a:latin typeface="Calibri"/>
              </a:rPr>
              <a:t>Construir el cliente web: login, panel, creación de proyectos e indicadores.</a:t>
            </a:r>
          </a:p>
        </p:txBody>
      </p:sp>
      <p:sp>
        <p:nvSpPr>
          <p:cNvPr id="26" name="TextBox 25"/>
          <p:cNvSpPr txBox="1"/>
          <p:nvPr/>
        </p:nvSpPr>
        <p:spPr>
          <a:xfrm>
            <a:off x="7315200" y="4206240"/>
            <a:ext cx="4206240" cy="566928"/>
          </a:xfrm>
          <a:prstGeom prst="rect">
            <a:avLst/>
          </a:prstGeom>
          <a:noFill/>
        </p:spPr>
        <p:txBody>
          <a:bodyPr wrap="square" lIns="0" rIns="0" tIns="0" bIns="0" anchor="t">
            <a:spAutoFit/>
          </a:bodyPr>
          <a:lstStyle/>
          <a:p>
            <a:pPr algn="l">
              <a:lnSpc>
                <a:spcPct val="116000"/>
              </a:lnSpc>
            </a:pPr>
            <a:r>
              <a:rPr sz="1100" b="0">
                <a:solidFill>
                  <a:srgbClr val="475569"/>
                </a:solidFill>
                <a:latin typeface="Calibri"/>
              </a:rPr>
              <a:t>Cumplido. React con identidad UTN, servicios y hooks por ODS, y guardado transaccional del proyecto.</a:t>
            </a:r>
          </a:p>
        </p:txBody>
      </p:sp>
      <p:sp>
        <p:nvSpPr>
          <p:cNvPr id="27" name="Rounded Rectangle 26"/>
          <p:cNvSpPr/>
          <p:nvPr/>
        </p:nvSpPr>
        <p:spPr>
          <a:xfrm>
            <a:off x="457200" y="4983480"/>
            <a:ext cx="11247120" cy="8869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7200" y="4983480"/>
            <a:ext cx="82296" cy="88696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166360"/>
            <a:ext cx="2286000" cy="548640"/>
          </a:xfrm>
          <a:prstGeom prst="rect">
            <a:avLst/>
          </a:prstGeom>
          <a:noFill/>
        </p:spPr>
        <p:txBody>
          <a:bodyPr wrap="square" lIns="0" rIns="0" tIns="0" bIns="0" anchor="t">
            <a:spAutoFit/>
          </a:bodyPr>
          <a:lstStyle/>
          <a:p>
            <a:pPr algn="l">
              <a:lnSpc>
                <a:spcPct val="112000"/>
              </a:lnSpc>
            </a:pPr>
            <a:r>
              <a:rPr sz="1150" b="1">
                <a:solidFill>
                  <a:srgbClr val="0F172A"/>
                </a:solidFill>
                <a:latin typeface="Calibri"/>
              </a:rPr>
              <a:t>Semanas 13–14</a:t>
            </a:r>
          </a:p>
          <a:p>
            <a:pPr algn="l">
              <a:lnSpc>
                <a:spcPct val="112000"/>
              </a:lnSpc>
            </a:pPr>
            <a:r>
              <a:rPr sz="1150" b="1">
                <a:solidFill>
                  <a:srgbClr val="0F172A"/>
                </a:solidFill>
                <a:latin typeface="Calibri"/>
              </a:rPr>
              <a:t>Evaluación y cierre</a:t>
            </a:r>
          </a:p>
        </p:txBody>
      </p:sp>
      <p:sp>
        <p:nvSpPr>
          <p:cNvPr id="30" name="TextBox 29"/>
          <p:cNvSpPr txBox="1"/>
          <p:nvPr/>
        </p:nvSpPr>
        <p:spPr>
          <a:xfrm>
            <a:off x="3063240" y="5184648"/>
            <a:ext cx="4069080" cy="530352"/>
          </a:xfrm>
          <a:prstGeom prst="rect">
            <a:avLst/>
          </a:prstGeom>
          <a:noFill/>
        </p:spPr>
        <p:txBody>
          <a:bodyPr wrap="square" lIns="0" rIns="0" tIns="0" bIns="0" anchor="t">
            <a:spAutoFit/>
          </a:bodyPr>
          <a:lstStyle/>
          <a:p>
            <a:pPr algn="l">
              <a:lnSpc>
                <a:spcPct val="116000"/>
              </a:lnSpc>
            </a:pPr>
            <a:r>
              <a:rPr sz="1100" b="0">
                <a:solidFill>
                  <a:srgbClr val="64748B"/>
                </a:solidFill>
                <a:latin typeface="Calibri"/>
              </a:rPr>
              <a:t>Habilitar la evaluación de indicadores y cerrar el flujo de trabajo completo.</a:t>
            </a:r>
          </a:p>
        </p:txBody>
      </p:sp>
      <p:sp>
        <p:nvSpPr>
          <p:cNvPr id="31" name="TextBox 30"/>
          <p:cNvSpPr txBox="1"/>
          <p:nvPr/>
        </p:nvSpPr>
        <p:spPr>
          <a:xfrm>
            <a:off x="7315200" y="5184648"/>
            <a:ext cx="4206240" cy="566928"/>
          </a:xfrm>
          <a:prstGeom prst="rect">
            <a:avLst/>
          </a:prstGeom>
          <a:noFill/>
        </p:spPr>
        <p:txBody>
          <a:bodyPr wrap="square" lIns="0" rIns="0" tIns="0" bIns="0" anchor="t">
            <a:spAutoFit/>
          </a:bodyPr>
          <a:lstStyle/>
          <a:p>
            <a:pPr algn="l">
              <a:lnSpc>
                <a:spcPct val="116000"/>
              </a:lnSpc>
            </a:pPr>
            <a:r>
              <a:rPr sz="1100" b="0">
                <a:solidFill>
                  <a:srgbClr val="475569"/>
                </a:solidFill>
                <a:latin typeface="Calibri"/>
              </a:rPr>
              <a:t>Cumplido y ampliado: además se incorporaron evidencias, chat de planificación, administración de usuarios, bitácora de accesos y el reporte institucional SODSI en Excel.</a:t>
            </a:r>
          </a:p>
        </p:txBody>
      </p:sp>
      <p:sp>
        <p:nvSpPr>
          <p:cNvPr id="32" name="Rounded Rectangle 31"/>
          <p:cNvSpPr/>
          <p:nvPr/>
        </p:nvSpPr>
        <p:spPr>
          <a:xfrm>
            <a:off x="457200" y="6016752"/>
            <a:ext cx="11247120" cy="384048"/>
          </a:xfrm>
          <a:prstGeom prst="roundRect">
            <a:avLst>
              <a:gd name="adj" fmla="val 3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6108192"/>
            <a:ext cx="10789920" cy="256032"/>
          </a:xfrm>
          <a:prstGeom prst="rect">
            <a:avLst/>
          </a:prstGeom>
          <a:noFill/>
        </p:spPr>
        <p:txBody>
          <a:bodyPr wrap="square" lIns="0" rIns="0" tIns="0" bIns="0" anchor="t">
            <a:spAutoFit/>
          </a:bodyPr>
          <a:lstStyle/>
          <a:p>
            <a:pPr algn="l"/>
            <a:r>
              <a:rPr sz="1100" b="0">
                <a:solidFill>
                  <a:srgbClr val="475569"/>
                </a:solidFill>
                <a:latin typeface="Calibri"/>
              </a:rPr>
              <a:t>Análisis: el horario propuesto y el ejecutado coinciden. Las desviaciones no fueron de tiempo sino de alcance: el sistema creció más de lo previsto.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07 · CONCLUSIONES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Conclusiones</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70432"/>
            <a:ext cx="11430000" cy="1536192"/>
          </a:xfrm>
          <a:prstGeom prst="roundRect">
            <a:avLst>
              <a:gd name="adj" fmla="val 7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1170432"/>
            <a:ext cx="91440" cy="1536192"/>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371600"/>
            <a:ext cx="713232" cy="329184"/>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44752"/>
            <a:ext cx="713232" cy="219456"/>
          </a:xfrm>
          <a:prstGeom prst="rect">
            <a:avLst/>
          </a:prstGeom>
          <a:noFill/>
        </p:spPr>
        <p:txBody>
          <a:bodyPr wrap="square" lIns="0" rIns="0" tIns="0" bIns="0" anchor="t">
            <a:spAutoFit/>
          </a:bodyPr>
          <a:lstStyle/>
          <a:p>
            <a:pPr algn="ctr"/>
            <a:r>
              <a:rPr sz="1100" b="1">
                <a:solidFill>
                  <a:srgbClr val="FFFFFF"/>
                </a:solidFill>
                <a:latin typeface="Calibri"/>
              </a:rPr>
              <a:t>5.1</a:t>
            </a:r>
          </a:p>
        </p:txBody>
      </p:sp>
      <p:sp>
        <p:nvSpPr>
          <p:cNvPr id="11" name="TextBox 10"/>
          <p:cNvSpPr txBox="1"/>
          <p:nvPr/>
        </p:nvSpPr>
        <p:spPr>
          <a:xfrm>
            <a:off x="1554480" y="1371600"/>
            <a:ext cx="4572000" cy="310896"/>
          </a:xfrm>
          <a:prstGeom prst="rect">
            <a:avLst/>
          </a:prstGeom>
          <a:noFill/>
        </p:spPr>
        <p:txBody>
          <a:bodyPr wrap="square" lIns="0" rIns="0" tIns="0" bIns="0" anchor="t">
            <a:spAutoFit/>
          </a:bodyPr>
          <a:lstStyle/>
          <a:p>
            <a:pPr algn="l"/>
            <a:r>
              <a:rPr sz="1500" b="1">
                <a:solidFill>
                  <a:srgbClr val="0F172A"/>
                </a:solidFill>
                <a:latin typeface="Calibri"/>
              </a:rPr>
              <a:t>Sobre la organización</a:t>
            </a:r>
          </a:p>
        </p:txBody>
      </p:sp>
      <p:sp>
        <p:nvSpPr>
          <p:cNvPr id="12" name="TextBox 11"/>
          <p:cNvSpPr txBox="1"/>
          <p:nvPr/>
        </p:nvSpPr>
        <p:spPr>
          <a:xfrm>
            <a:off x="1554480" y="1773936"/>
            <a:ext cx="9966960" cy="822960"/>
          </a:xfrm>
          <a:prstGeom prst="rect">
            <a:avLst/>
          </a:prstGeom>
          <a:noFill/>
        </p:spPr>
        <p:txBody>
          <a:bodyPr wrap="square" lIns="0" rIns="0" tIns="0" bIns="0" anchor="t">
            <a:spAutoFit/>
          </a:bodyPr>
          <a:lstStyle/>
          <a:p>
            <a:pPr algn="l">
              <a:lnSpc>
                <a:spcPct val="120000"/>
              </a:lnSpc>
            </a:pPr>
            <a:r>
              <a:rPr sz="1150" b="0">
                <a:solidFill>
                  <a:srgbClr val="475569"/>
                </a:solidFill>
                <a:latin typeface="Calibri"/>
              </a:rPr>
              <a:t>La UTN tiene un compromiso institucional real con la Agenda 2030, pero hasta ahora lo administraba con herramientas ofimáticas. Trabajar dentro de la Dirección de Planificación permitió confirmar que la necesidad no era «un sistema más», sino un instrumento que hiciera verificable y trazable la información que la Universidad ya reporta.</a:t>
            </a:r>
          </a:p>
        </p:txBody>
      </p:sp>
      <p:sp>
        <p:nvSpPr>
          <p:cNvPr id="13" name="Rounded Rectangle 12"/>
          <p:cNvSpPr/>
          <p:nvPr/>
        </p:nvSpPr>
        <p:spPr>
          <a:xfrm>
            <a:off x="365760" y="2843784"/>
            <a:ext cx="11430000" cy="1536192"/>
          </a:xfrm>
          <a:prstGeom prst="roundRect">
            <a:avLst>
              <a:gd name="adj" fmla="val 7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760" y="2843784"/>
            <a:ext cx="91440" cy="153619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044952"/>
            <a:ext cx="713232"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118104"/>
            <a:ext cx="713232" cy="219456"/>
          </a:xfrm>
          <a:prstGeom prst="rect">
            <a:avLst/>
          </a:prstGeom>
          <a:noFill/>
        </p:spPr>
        <p:txBody>
          <a:bodyPr wrap="square" lIns="0" rIns="0" tIns="0" bIns="0" anchor="t">
            <a:spAutoFit/>
          </a:bodyPr>
          <a:lstStyle/>
          <a:p>
            <a:pPr algn="ctr"/>
            <a:r>
              <a:rPr sz="1100" b="1">
                <a:solidFill>
                  <a:srgbClr val="FFFFFF"/>
                </a:solidFill>
                <a:latin typeface="Calibri"/>
              </a:rPr>
              <a:t>5.2</a:t>
            </a:r>
          </a:p>
        </p:txBody>
      </p:sp>
      <p:sp>
        <p:nvSpPr>
          <p:cNvPr id="17" name="TextBox 16"/>
          <p:cNvSpPr txBox="1"/>
          <p:nvPr/>
        </p:nvSpPr>
        <p:spPr>
          <a:xfrm>
            <a:off x="1554480" y="3044952"/>
            <a:ext cx="4572000" cy="310896"/>
          </a:xfrm>
          <a:prstGeom prst="rect">
            <a:avLst/>
          </a:prstGeom>
          <a:noFill/>
        </p:spPr>
        <p:txBody>
          <a:bodyPr wrap="square" lIns="0" rIns="0" tIns="0" bIns="0" anchor="t">
            <a:spAutoFit/>
          </a:bodyPr>
          <a:lstStyle/>
          <a:p>
            <a:pPr algn="l"/>
            <a:r>
              <a:rPr sz="1500" b="1">
                <a:solidFill>
                  <a:srgbClr val="0F172A"/>
                </a:solidFill>
                <a:latin typeface="Calibri"/>
              </a:rPr>
              <a:t>Sobre el área de práctica</a:t>
            </a:r>
          </a:p>
        </p:txBody>
      </p:sp>
      <p:sp>
        <p:nvSpPr>
          <p:cNvPr id="18" name="TextBox 17"/>
          <p:cNvSpPr txBox="1"/>
          <p:nvPr/>
        </p:nvSpPr>
        <p:spPr>
          <a:xfrm>
            <a:off x="1554480" y="3447288"/>
            <a:ext cx="9966960" cy="822960"/>
          </a:xfrm>
          <a:prstGeom prst="rect">
            <a:avLst/>
          </a:prstGeom>
          <a:noFill/>
        </p:spPr>
        <p:txBody>
          <a:bodyPr wrap="square" lIns="0" rIns="0" tIns="0" bIns="0" anchor="t">
            <a:spAutoFit/>
          </a:bodyPr>
          <a:lstStyle/>
          <a:p>
            <a:pPr algn="l">
              <a:lnSpc>
                <a:spcPct val="120000"/>
              </a:lnSpc>
            </a:pPr>
            <a:r>
              <a:rPr sz="1150" b="0">
                <a:solidFill>
                  <a:srgbClr val="475569"/>
                </a:solidFill>
                <a:latin typeface="Calibri"/>
              </a:rPr>
              <a:t>La Unidad de Gestión de Proyectos aporta la regla que le da valor al sistema: quien propone un proyecto no puede ser quien mide su resultado. Esa separación, que nació de una conversación con el supervisor y no de un requerimiento escrito, terminó siendo la decisión de diseño más importante de toda la plataforma.</a:t>
            </a:r>
          </a:p>
        </p:txBody>
      </p:sp>
      <p:sp>
        <p:nvSpPr>
          <p:cNvPr id="19" name="Rounded Rectangle 18"/>
          <p:cNvSpPr/>
          <p:nvPr/>
        </p:nvSpPr>
        <p:spPr>
          <a:xfrm>
            <a:off x="365760" y="4517136"/>
            <a:ext cx="11430000" cy="1536192"/>
          </a:xfrm>
          <a:prstGeom prst="roundRect">
            <a:avLst>
              <a:gd name="adj" fmla="val 7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5760" y="4517136"/>
            <a:ext cx="91440" cy="153619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4718304"/>
            <a:ext cx="713232" cy="32918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4791456"/>
            <a:ext cx="713232" cy="219456"/>
          </a:xfrm>
          <a:prstGeom prst="rect">
            <a:avLst/>
          </a:prstGeom>
          <a:noFill/>
        </p:spPr>
        <p:txBody>
          <a:bodyPr wrap="square" lIns="0" rIns="0" tIns="0" bIns="0" anchor="t">
            <a:spAutoFit/>
          </a:bodyPr>
          <a:lstStyle/>
          <a:p>
            <a:pPr algn="ctr"/>
            <a:r>
              <a:rPr sz="1100" b="1">
                <a:solidFill>
                  <a:srgbClr val="FFFFFF"/>
                </a:solidFill>
                <a:latin typeface="Calibri"/>
              </a:rPr>
              <a:t>5.3</a:t>
            </a:r>
          </a:p>
        </p:txBody>
      </p:sp>
      <p:sp>
        <p:nvSpPr>
          <p:cNvPr id="23" name="TextBox 22"/>
          <p:cNvSpPr txBox="1"/>
          <p:nvPr/>
        </p:nvSpPr>
        <p:spPr>
          <a:xfrm>
            <a:off x="1554480" y="4718304"/>
            <a:ext cx="4572000" cy="310896"/>
          </a:xfrm>
          <a:prstGeom prst="rect">
            <a:avLst/>
          </a:prstGeom>
          <a:noFill/>
        </p:spPr>
        <p:txBody>
          <a:bodyPr wrap="square" lIns="0" rIns="0" tIns="0" bIns="0" anchor="t">
            <a:spAutoFit/>
          </a:bodyPr>
          <a:lstStyle/>
          <a:p>
            <a:pPr algn="l"/>
            <a:r>
              <a:rPr sz="1500" b="1">
                <a:solidFill>
                  <a:srgbClr val="0F172A"/>
                </a:solidFill>
                <a:latin typeface="Calibri"/>
              </a:rPr>
              <a:t>Sobre el proceso realizado</a:t>
            </a:r>
          </a:p>
        </p:txBody>
      </p:sp>
      <p:sp>
        <p:nvSpPr>
          <p:cNvPr id="24" name="TextBox 23"/>
          <p:cNvSpPr txBox="1"/>
          <p:nvPr/>
        </p:nvSpPr>
        <p:spPr>
          <a:xfrm>
            <a:off x="1554480" y="5120640"/>
            <a:ext cx="9966960" cy="822960"/>
          </a:xfrm>
          <a:prstGeom prst="rect">
            <a:avLst/>
          </a:prstGeom>
          <a:noFill/>
        </p:spPr>
        <p:txBody>
          <a:bodyPr wrap="square" lIns="0" rIns="0" tIns="0" bIns="0" anchor="t">
            <a:spAutoFit/>
          </a:bodyPr>
          <a:lstStyle/>
          <a:p>
            <a:pPr algn="l">
              <a:lnSpc>
                <a:spcPct val="120000"/>
              </a:lnSpc>
            </a:pPr>
            <a:r>
              <a:rPr sz="1150" b="0">
                <a:solidFill>
                  <a:srgbClr val="475569"/>
                </a:solidFill>
                <a:latin typeface="Calibri"/>
              </a:rPr>
              <a:t>Se cumplieron los objetivos planteados y el alcance se amplió respecto de lo previsto. El aprendizaje central fue que en un proyecto institucional las decisiones caras son las tempranas —el modelo de datos y los contratos entre capas— y que probar contra datos reales desde el inicio revela problemas que los datos de prueba esconden.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274320"/>
          </a:xfrm>
          <a:prstGeom prst="rect">
            <a:avLst/>
          </a:prstGeom>
          <a:noFill/>
        </p:spPr>
        <p:txBody>
          <a:bodyPr wrap="square" lIns="0" rIns="0" tIns="0" bIns="0" anchor="t">
            <a:spAutoFit/>
          </a:bodyPr>
          <a:lstStyle/>
          <a:p>
            <a:pPr algn="l"/>
            <a:r>
              <a:rPr sz="1000" b="1">
                <a:solidFill>
                  <a:srgbClr val="21295C"/>
                </a:solidFill>
                <a:latin typeface="Calibri"/>
              </a:rPr>
              <a:t>08 · RECOMENDACIONES</a:t>
            </a:r>
          </a:p>
        </p:txBody>
      </p:sp>
      <p:sp>
        <p:nvSpPr>
          <p:cNvPr id="4" name="TextBox 3"/>
          <p:cNvSpPr txBox="1"/>
          <p:nvPr/>
        </p:nvSpPr>
        <p:spPr>
          <a:xfrm>
            <a:off x="365760" y="457200"/>
            <a:ext cx="11430000" cy="384048"/>
          </a:xfrm>
          <a:prstGeom prst="rect">
            <a:avLst/>
          </a:prstGeom>
          <a:noFill/>
        </p:spPr>
        <p:txBody>
          <a:bodyPr wrap="square" lIns="0" rIns="0" tIns="0" bIns="0" anchor="t">
            <a:spAutoFit/>
          </a:bodyPr>
          <a:lstStyle/>
          <a:p>
            <a:pPr algn="l"/>
            <a:r>
              <a:rPr sz="2000" b="1">
                <a:solidFill>
                  <a:srgbClr val="0F172A"/>
                </a:solidFill>
                <a:latin typeface="Cambria"/>
              </a:rPr>
              <a:t>Recomendaciones</a:t>
            </a:r>
          </a:p>
        </p:txBody>
      </p:sp>
      <p:sp>
        <p:nvSpPr>
          <p:cNvPr id="5" name="Rectangle 4"/>
          <p:cNvSpPr/>
          <p:nvPr/>
        </p:nvSpPr>
        <p:spPr>
          <a:xfrm>
            <a:off x="365760" y="896112"/>
            <a:ext cx="109728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10972800" cy="228600"/>
          </a:xfrm>
          <a:prstGeom prst="rect">
            <a:avLst/>
          </a:prstGeom>
          <a:noFill/>
        </p:spPr>
        <p:txBody>
          <a:bodyPr wrap="square" lIns="0" rIns="0" tIns="0" bIns="0" anchor="t">
            <a:spAutoFit/>
          </a:bodyPr>
          <a:lstStyle/>
          <a:p>
            <a:pPr algn="l"/>
            <a:r>
              <a:rPr sz="900" b="0">
                <a:solidFill>
                  <a:srgbClr val="64748B"/>
                </a:solidFill>
                <a:latin typeface="Calibri"/>
              </a:rPr>
              <a:t>Práctica Profesional  ·  Presentación Final de Resultados  ·  Kevin Campos González  ·  UTN</a:t>
            </a:r>
          </a:p>
        </p:txBody>
      </p:sp>
      <p:sp>
        <p:nvSpPr>
          <p:cNvPr id="7" name="Rounded Rectangle 6"/>
          <p:cNvSpPr/>
          <p:nvPr/>
        </p:nvSpPr>
        <p:spPr>
          <a:xfrm>
            <a:off x="365760" y="1170432"/>
            <a:ext cx="11430000" cy="1536192"/>
          </a:xfrm>
          <a:prstGeom prst="roundRect">
            <a:avLst>
              <a:gd name="adj" fmla="val 7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1170432"/>
            <a:ext cx="91440" cy="1536192"/>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371600"/>
            <a:ext cx="713232" cy="329184"/>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44752"/>
            <a:ext cx="713232" cy="219456"/>
          </a:xfrm>
          <a:prstGeom prst="rect">
            <a:avLst/>
          </a:prstGeom>
          <a:noFill/>
        </p:spPr>
        <p:txBody>
          <a:bodyPr wrap="square" lIns="0" rIns="0" tIns="0" bIns="0" anchor="t">
            <a:spAutoFit/>
          </a:bodyPr>
          <a:lstStyle/>
          <a:p>
            <a:pPr algn="ctr"/>
            <a:r>
              <a:rPr sz="1100" b="1">
                <a:solidFill>
                  <a:srgbClr val="FFFFFF"/>
                </a:solidFill>
                <a:latin typeface="Calibri"/>
              </a:rPr>
              <a:t>6.1</a:t>
            </a:r>
          </a:p>
        </p:txBody>
      </p:sp>
      <p:sp>
        <p:nvSpPr>
          <p:cNvPr id="11" name="TextBox 10"/>
          <p:cNvSpPr txBox="1"/>
          <p:nvPr/>
        </p:nvSpPr>
        <p:spPr>
          <a:xfrm>
            <a:off x="1554480" y="1371600"/>
            <a:ext cx="4572000" cy="310896"/>
          </a:xfrm>
          <a:prstGeom prst="rect">
            <a:avLst/>
          </a:prstGeom>
          <a:noFill/>
        </p:spPr>
        <p:txBody>
          <a:bodyPr wrap="square" lIns="0" rIns="0" tIns="0" bIns="0" anchor="t">
            <a:spAutoFit/>
          </a:bodyPr>
          <a:lstStyle/>
          <a:p>
            <a:pPr algn="l"/>
            <a:r>
              <a:rPr sz="1500" b="1">
                <a:solidFill>
                  <a:srgbClr val="0F172A"/>
                </a:solidFill>
                <a:latin typeface="Calibri"/>
              </a:rPr>
              <a:t>Sobre la organización</a:t>
            </a:r>
          </a:p>
        </p:txBody>
      </p:sp>
      <p:sp>
        <p:nvSpPr>
          <p:cNvPr id="12" name="TextBox 11"/>
          <p:cNvSpPr txBox="1"/>
          <p:nvPr/>
        </p:nvSpPr>
        <p:spPr>
          <a:xfrm>
            <a:off x="1554480" y="1773936"/>
            <a:ext cx="9966960" cy="822960"/>
          </a:xfrm>
          <a:prstGeom prst="rect">
            <a:avLst/>
          </a:prstGeom>
          <a:noFill/>
        </p:spPr>
        <p:txBody>
          <a:bodyPr wrap="square" lIns="0" rIns="0" tIns="0" bIns="0" anchor="t">
            <a:spAutoFit/>
          </a:bodyPr>
          <a:lstStyle/>
          <a:p>
            <a:pPr algn="l">
              <a:lnSpc>
                <a:spcPct val="120000"/>
              </a:lnSpc>
            </a:pPr>
            <a:r>
              <a:rPr sz="1150" b="0">
                <a:solidFill>
                  <a:srgbClr val="475569"/>
                </a:solidFill>
                <a:latin typeface="Calibri"/>
              </a:rPr>
              <a:t>Trasladar la plataforma a la dirección institucional de tecnologías de información para su puesta en producción, con servidor, respaldos y un responsable de mantenimiento asignado. El sistema quedó documentado y con su script de instalación para que ese traslado no dependa del practicante.</a:t>
            </a:r>
          </a:p>
        </p:txBody>
      </p:sp>
      <p:sp>
        <p:nvSpPr>
          <p:cNvPr id="13" name="Rounded Rectangle 12"/>
          <p:cNvSpPr/>
          <p:nvPr/>
        </p:nvSpPr>
        <p:spPr>
          <a:xfrm>
            <a:off x="365760" y="2843784"/>
            <a:ext cx="11430000" cy="1536192"/>
          </a:xfrm>
          <a:prstGeom prst="roundRect">
            <a:avLst>
              <a:gd name="adj" fmla="val 7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760" y="2843784"/>
            <a:ext cx="91440" cy="153619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044952"/>
            <a:ext cx="713232"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118104"/>
            <a:ext cx="713232" cy="219456"/>
          </a:xfrm>
          <a:prstGeom prst="rect">
            <a:avLst/>
          </a:prstGeom>
          <a:noFill/>
        </p:spPr>
        <p:txBody>
          <a:bodyPr wrap="square" lIns="0" rIns="0" tIns="0" bIns="0" anchor="t">
            <a:spAutoFit/>
          </a:bodyPr>
          <a:lstStyle/>
          <a:p>
            <a:pPr algn="ctr"/>
            <a:r>
              <a:rPr sz="1100" b="1">
                <a:solidFill>
                  <a:srgbClr val="FFFFFF"/>
                </a:solidFill>
                <a:latin typeface="Calibri"/>
              </a:rPr>
              <a:t>6.2</a:t>
            </a:r>
          </a:p>
        </p:txBody>
      </p:sp>
      <p:sp>
        <p:nvSpPr>
          <p:cNvPr id="17" name="TextBox 16"/>
          <p:cNvSpPr txBox="1"/>
          <p:nvPr/>
        </p:nvSpPr>
        <p:spPr>
          <a:xfrm>
            <a:off x="1554480" y="3044952"/>
            <a:ext cx="4572000" cy="310896"/>
          </a:xfrm>
          <a:prstGeom prst="rect">
            <a:avLst/>
          </a:prstGeom>
          <a:noFill/>
        </p:spPr>
        <p:txBody>
          <a:bodyPr wrap="square" lIns="0" rIns="0" tIns="0" bIns="0" anchor="t">
            <a:spAutoFit/>
          </a:bodyPr>
          <a:lstStyle/>
          <a:p>
            <a:pPr algn="l"/>
            <a:r>
              <a:rPr sz="1500" b="1">
                <a:solidFill>
                  <a:srgbClr val="0F172A"/>
                </a:solidFill>
                <a:latin typeface="Calibri"/>
              </a:rPr>
              <a:t>Sobre el área de práctica</a:t>
            </a:r>
          </a:p>
        </p:txBody>
      </p:sp>
      <p:sp>
        <p:nvSpPr>
          <p:cNvPr id="18" name="TextBox 17"/>
          <p:cNvSpPr txBox="1"/>
          <p:nvPr/>
        </p:nvSpPr>
        <p:spPr>
          <a:xfrm>
            <a:off x="1554480" y="3447288"/>
            <a:ext cx="9966960" cy="822960"/>
          </a:xfrm>
          <a:prstGeom prst="rect">
            <a:avLst/>
          </a:prstGeom>
          <a:noFill/>
        </p:spPr>
        <p:txBody>
          <a:bodyPr wrap="square" lIns="0" rIns="0" tIns="0" bIns="0" anchor="t">
            <a:spAutoFit/>
          </a:bodyPr>
          <a:lstStyle/>
          <a:p>
            <a:pPr algn="l">
              <a:lnSpc>
                <a:spcPct val="120000"/>
              </a:lnSpc>
            </a:pPr>
            <a:r>
              <a:rPr sz="1150" b="0">
                <a:solidFill>
                  <a:srgbClr val="475569"/>
                </a:solidFill>
                <a:latin typeface="Calibri"/>
              </a:rPr>
              <a:t>Levantar y aprobar formalmente el catálogo institucional de unidades, dependencias y sectores beneficiarios. Hoy el sistema los sostiene como catálogos administrables, pero su contenido oficial debe validarlo la Universidad para que el reporte SODSI sea plenamente confiable.</a:t>
            </a:r>
          </a:p>
        </p:txBody>
      </p:sp>
      <p:sp>
        <p:nvSpPr>
          <p:cNvPr id="19" name="Rounded Rectangle 18"/>
          <p:cNvSpPr/>
          <p:nvPr/>
        </p:nvSpPr>
        <p:spPr>
          <a:xfrm>
            <a:off x="365760" y="4517136"/>
            <a:ext cx="11430000" cy="1536192"/>
          </a:xfrm>
          <a:prstGeom prst="roundRect">
            <a:avLst>
              <a:gd name="adj" fmla="val 7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5760" y="4517136"/>
            <a:ext cx="91440" cy="153619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4718304"/>
            <a:ext cx="713232" cy="32918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4791456"/>
            <a:ext cx="713232" cy="219456"/>
          </a:xfrm>
          <a:prstGeom prst="rect">
            <a:avLst/>
          </a:prstGeom>
          <a:noFill/>
        </p:spPr>
        <p:txBody>
          <a:bodyPr wrap="square" lIns="0" rIns="0" tIns="0" bIns="0" anchor="t">
            <a:spAutoFit/>
          </a:bodyPr>
          <a:lstStyle/>
          <a:p>
            <a:pPr algn="ctr"/>
            <a:r>
              <a:rPr sz="1100" b="1">
                <a:solidFill>
                  <a:srgbClr val="FFFFFF"/>
                </a:solidFill>
                <a:latin typeface="Calibri"/>
              </a:rPr>
              <a:t>6.3</a:t>
            </a:r>
          </a:p>
        </p:txBody>
      </p:sp>
      <p:sp>
        <p:nvSpPr>
          <p:cNvPr id="23" name="TextBox 22"/>
          <p:cNvSpPr txBox="1"/>
          <p:nvPr/>
        </p:nvSpPr>
        <p:spPr>
          <a:xfrm>
            <a:off x="1554480" y="4718304"/>
            <a:ext cx="4572000" cy="310896"/>
          </a:xfrm>
          <a:prstGeom prst="rect">
            <a:avLst/>
          </a:prstGeom>
          <a:noFill/>
        </p:spPr>
        <p:txBody>
          <a:bodyPr wrap="square" lIns="0" rIns="0" tIns="0" bIns="0" anchor="t">
            <a:spAutoFit/>
          </a:bodyPr>
          <a:lstStyle/>
          <a:p>
            <a:pPr algn="l"/>
            <a:r>
              <a:rPr sz="1500" b="1">
                <a:solidFill>
                  <a:srgbClr val="0F172A"/>
                </a:solidFill>
                <a:latin typeface="Calibri"/>
              </a:rPr>
              <a:t>Sobre el proceso realizado</a:t>
            </a:r>
          </a:p>
        </p:txBody>
      </p:sp>
      <p:sp>
        <p:nvSpPr>
          <p:cNvPr id="24" name="TextBox 23"/>
          <p:cNvSpPr txBox="1"/>
          <p:nvPr/>
        </p:nvSpPr>
        <p:spPr>
          <a:xfrm>
            <a:off x="1554480" y="5120640"/>
            <a:ext cx="9966960" cy="822960"/>
          </a:xfrm>
          <a:prstGeom prst="rect">
            <a:avLst/>
          </a:prstGeom>
          <a:noFill/>
        </p:spPr>
        <p:txBody>
          <a:bodyPr wrap="square" lIns="0" rIns="0" tIns="0" bIns="0" anchor="t">
            <a:spAutoFit/>
          </a:bodyPr>
          <a:lstStyle/>
          <a:p>
            <a:pPr algn="l">
              <a:lnSpc>
                <a:spcPct val="120000"/>
              </a:lnSpc>
            </a:pPr>
            <a:r>
              <a:rPr sz="1150" b="0">
                <a:solidFill>
                  <a:srgbClr val="475569"/>
                </a:solidFill>
                <a:latin typeface="Calibri"/>
              </a:rPr>
              <a:t>Para futuras prácticas, mantener la bitácora semanal firmada y el trabajo por incrementos pequeños y verificables. Como deuda técnica para una versión 2.0 se recomienda ampliar la cobertura de pruebas automatizadas y capacitar a las personas usuarias antes de la puesta en marcha.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120640"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20640" y="0"/>
            <a:ext cx="4023360"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54096" cy="68580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331720"/>
            <a:ext cx="10058400" cy="777240"/>
          </a:xfrm>
          <a:prstGeom prst="rect">
            <a:avLst/>
          </a:prstGeom>
          <a:noFill/>
        </p:spPr>
        <p:txBody>
          <a:bodyPr wrap="square" lIns="0" rIns="0" tIns="0" bIns="0" anchor="t">
            <a:spAutoFit/>
          </a:bodyPr>
          <a:lstStyle/>
          <a:p>
            <a:pPr algn="l"/>
            <a:r>
              <a:rPr sz="4800" b="1">
                <a:solidFill>
                  <a:srgbClr val="FFFFFF"/>
                </a:solidFill>
                <a:latin typeface="Cambria"/>
              </a:rPr>
              <a:t>GRACIAS</a:t>
            </a:r>
          </a:p>
        </p:txBody>
      </p:sp>
      <p:sp>
        <p:nvSpPr>
          <p:cNvPr id="7" name="TextBox 6"/>
          <p:cNvSpPr txBox="1"/>
          <p:nvPr/>
        </p:nvSpPr>
        <p:spPr>
          <a:xfrm>
            <a:off x="822960" y="3200400"/>
            <a:ext cx="10058400" cy="365760"/>
          </a:xfrm>
          <a:prstGeom prst="rect">
            <a:avLst/>
          </a:prstGeom>
          <a:noFill/>
        </p:spPr>
        <p:txBody>
          <a:bodyPr wrap="square" lIns="0" rIns="0" tIns="0" bIns="0" anchor="t">
            <a:spAutoFit/>
          </a:bodyPr>
          <a:lstStyle/>
          <a:p>
            <a:pPr algn="l"/>
            <a:r>
              <a:rPr sz="1400" b="0">
                <a:solidFill>
                  <a:srgbClr val="CADCFC"/>
                </a:solidFill>
                <a:latin typeface="Calibri"/>
              </a:rPr>
              <a:t>Presentación Final de Resultados  ·  Sistema ODS Agenda 2030  ·  UTN</a:t>
            </a:r>
          </a:p>
        </p:txBody>
      </p:sp>
      <p:sp>
        <p:nvSpPr>
          <p:cNvPr id="8" name="TextBox 7"/>
          <p:cNvSpPr txBox="1"/>
          <p:nvPr/>
        </p:nvSpPr>
        <p:spPr>
          <a:xfrm>
            <a:off x="822960" y="3840480"/>
            <a:ext cx="10058400" cy="320040"/>
          </a:xfrm>
          <a:prstGeom prst="rect">
            <a:avLst/>
          </a:prstGeom>
          <a:noFill/>
        </p:spPr>
        <p:txBody>
          <a:bodyPr wrap="square" lIns="0" rIns="0" tIns="0" bIns="0" anchor="t">
            <a:spAutoFit/>
          </a:bodyPr>
          <a:lstStyle/>
          <a:p>
            <a:pPr algn="l"/>
            <a:r>
              <a:rPr sz="1600" b="1">
                <a:solidFill>
                  <a:srgbClr val="FFFFFF"/>
                </a:solidFill>
                <a:latin typeface="Calibri"/>
              </a:rPr>
              <a:t>Kevin Campos González</a:t>
            </a:r>
          </a:p>
        </p:txBody>
      </p:sp>
      <p:sp>
        <p:nvSpPr>
          <p:cNvPr id="9" name="TextBox 8"/>
          <p:cNvSpPr txBox="1"/>
          <p:nvPr/>
        </p:nvSpPr>
        <p:spPr>
          <a:xfrm>
            <a:off x="822960" y="4206240"/>
            <a:ext cx="10058400" cy="274320"/>
          </a:xfrm>
          <a:prstGeom prst="rect">
            <a:avLst/>
          </a:prstGeom>
          <a:noFill/>
        </p:spPr>
        <p:txBody>
          <a:bodyPr wrap="square" lIns="0" rIns="0" tIns="0" bIns="0" anchor="t">
            <a:spAutoFit/>
          </a:bodyPr>
          <a:lstStyle/>
          <a:p>
            <a:pPr algn="l"/>
            <a:r>
              <a:rPr sz="1200" b="0">
                <a:solidFill>
                  <a:srgbClr val="CADCFC"/>
                </a:solidFill>
                <a:latin typeface="Calibri"/>
              </a:rPr>
              <a:t>Bachillerato en Ingeniería del Software  ·  Universidad Técnica Nacional</a:t>
            </a:r>
          </a:p>
        </p:txBody>
      </p:sp>
      <p:sp>
        <p:nvSpPr>
          <p:cNvPr id="10" name="TextBox 9"/>
          <p:cNvSpPr txBox="1"/>
          <p:nvPr/>
        </p:nvSpPr>
        <p:spPr>
          <a:xfrm>
            <a:off x="822960" y="4617720"/>
            <a:ext cx="10058400" cy="274320"/>
          </a:xfrm>
          <a:prstGeom prst="rect">
            <a:avLst/>
          </a:prstGeom>
          <a:noFill/>
        </p:spPr>
        <p:txBody>
          <a:bodyPr wrap="square" lIns="0" rIns="0" tIns="0" bIns="0" anchor="t">
            <a:spAutoFit/>
          </a:bodyPr>
          <a:lstStyle/>
          <a:p>
            <a:pPr algn="l"/>
            <a:r>
              <a:rPr sz="1200" b="0">
                <a:solidFill>
                  <a:srgbClr val="CADCFC"/>
                </a:solidFill>
                <a:latin typeface="Calibri"/>
              </a:rPr>
              <a:t>Supervisor: MGT Joaquín Artavia Chaves  ·  Dirección de Planificación</a:t>
            </a:r>
          </a:p>
        </p:txBody>
      </p:sp>
      <p:sp>
        <p:nvSpPr>
          <p:cNvPr id="11" name="TextBox 10"/>
          <p:cNvSpPr txBox="1"/>
          <p:nvPr/>
        </p:nvSpPr>
        <p:spPr>
          <a:xfrm>
            <a:off x="822960" y="5166360"/>
            <a:ext cx="10058400" cy="320040"/>
          </a:xfrm>
          <a:prstGeom prst="rect">
            <a:avLst/>
          </a:prstGeom>
          <a:noFill/>
        </p:spPr>
        <p:txBody>
          <a:bodyPr wrap="square" lIns="0" rIns="0" tIns="0" bIns="0" anchor="t">
            <a:spAutoFit/>
          </a:bodyPr>
          <a:lstStyle/>
          <a:p>
            <a:pPr algn="l"/>
            <a:r>
              <a:rPr sz="1400" b="1">
                <a:solidFill>
                  <a:srgbClr val="F59E0B"/>
                </a:solidFill>
                <a:latin typeface="Calibri"/>
              </a:rPr>
              <a:t>26 / 08 / 2026</a:t>
            </a:r>
          </a:p>
        </p:txBody>
      </p:sp>
      <p:pic>
        <p:nvPicPr>
          <p:cNvPr id="12" name="Picture 11" descr="utn_mark.png"/>
          <p:cNvPicPr>
            <a:picLocks noChangeAspect="1"/>
          </p:cNvPicPr>
          <p:nvPr/>
        </p:nvPicPr>
        <p:blipFill>
          <a:blip r:embed="rId2"/>
          <a:stretch>
            <a:fillRect/>
          </a:stretch>
        </p:blipFill>
        <p:spPr>
          <a:xfrm>
            <a:off x="9189720" y="1005840"/>
            <a:ext cx="2194560" cy="11672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